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_SPACING"/>
          <p:cNvSpPr txBox="1"/>
          <p:nvPr/>
        </p:nvSpPr>
        <p:spPr>
          <a:xfrm>
            <a:off x="320040" y="228600"/>
            <a:ext cx="10972800" cy="54864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/>
            <a:r>
              <a:rPr sz="2600" b="1">
                <a:latin typeface="Arial"/>
                <a:ea typeface="Arial"/>
              </a:rPr>
              <a:t>Explicit paragraph spacing and line advances</a:t>
            </a:r>
            <a:endParaRPr sz="2400">
              <a:latin typeface="Arial"/>
              <a:ea typeface="Arial"/>
            </a:endParaRPr>
          </a:p>
        </p:txBody>
      </p:sp>
      <p:sp>
        <p:nvSpPr>
          <p:cNvPr id="3" name="LINE_90_LABEL"/>
          <p:cNvSpPr txBox="1"/>
          <p:nvPr/>
        </p:nvSpPr>
        <p:spPr>
          <a:xfrm>
            <a:off x="365760" y="914400"/>
            <a:ext cx="3657600" cy="54864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/>
            <a:r>
              <a:rPr sz="1500" b="1">
                <a:latin typeface="Arial"/>
                <a:ea typeface="Arial"/>
              </a:rPr>
              <a:t>90% line spacing</a:t>
            </a:r>
            <a:endParaRPr sz="2400">
              <a:latin typeface="Arial"/>
              <a:ea typeface="Arial"/>
            </a:endParaRPr>
          </a:p>
        </p:txBody>
      </p:sp>
      <p:sp>
        <p:nvSpPr>
          <p:cNvPr id="4" name="LINE_90"/>
          <p:cNvSpPr txBox="1"/>
          <p:nvPr/>
        </p:nvSpPr>
        <p:spPr>
          <a:xfrm>
            <a:off x="365760" y="1645920"/>
            <a:ext cx="3657600" cy="43891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>
              <a:lnSpc>
                <a:spcPct val="90000"/>
              </a:lnSpc>
              <a:spcBef>
                <a:spcPts val="600"/>
              </a:spcBef>
              <a:spcAft>
                <a:spcPts val="800"/>
              </a:spcAft>
              <a:defRPr sz="2400">
                <a:latin typeface="Arial"/>
                <a:ea typeface="Arial"/>
              </a:defRPr>
            </a:pPr>
            <a:r>
              <a:rPr sz="2400">
                <a:latin typeface="Arial"/>
                <a:ea typeface="Arial"/>
              </a:rPr>
              <a:t>First 24pt line</a:t>
            </a:r>
            <a:br/>
            <a:r>
              <a:rPr sz="2400">
                <a:latin typeface="Arial"/>
                <a:ea typeface="Arial"/>
              </a:rPr>
              <a:t>Second 24pt line</a:t>
            </a:r>
            <a:br/>
            <a:r>
              <a:rPr sz="2400">
                <a:latin typeface="Arial"/>
                <a:ea typeface="Arial"/>
              </a:rPr>
              <a:t>Third 24pt line</a:t>
            </a:r>
            <a:endParaRPr sz="2400">
              <a:latin typeface="Arial"/>
              <a:ea typeface="Arial"/>
            </a:endParaRPr>
          </a:p>
          <a:p>
            <a:pPr>
              <a:lnSpc>
                <a:spcPct val="90000"/>
              </a:lnSpc>
              <a:spcBef>
                <a:spcPts val="600"/>
              </a:spcBef>
              <a:spcAft>
                <a:spcPts val="800"/>
              </a:spcAft>
              <a:defRPr sz="2400">
                <a:latin typeface="Arial"/>
                <a:ea typeface="Arial"/>
              </a:defRPr>
            </a:pPr>
            <a:r>
              <a:rPr sz="2400">
                <a:latin typeface="Arial"/>
                <a:ea typeface="Arial"/>
              </a:rPr>
              <a:t>Next paragraph</a:t>
            </a:r>
            <a:endParaRPr sz="2400">
              <a:latin typeface="Arial"/>
              <a:ea typeface="Arial"/>
            </a:endParaRPr>
          </a:p>
        </p:txBody>
      </p:sp>
      <p:sp>
        <p:nvSpPr>
          <p:cNvPr id="5" name="LINE_150_LABEL"/>
          <p:cNvSpPr txBox="1"/>
          <p:nvPr/>
        </p:nvSpPr>
        <p:spPr>
          <a:xfrm>
            <a:off x="4206240" y="914400"/>
            <a:ext cx="3657600" cy="54864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/>
            <a:r>
              <a:rPr sz="1500" b="1">
                <a:latin typeface="Arial"/>
                <a:ea typeface="Arial"/>
              </a:rPr>
              <a:t>150% line spacing</a:t>
            </a:r>
            <a:endParaRPr sz="2400">
              <a:latin typeface="Arial"/>
              <a:ea typeface="Arial"/>
            </a:endParaRPr>
          </a:p>
        </p:txBody>
      </p:sp>
      <p:sp>
        <p:nvSpPr>
          <p:cNvPr id="6" name="LINE_150"/>
          <p:cNvSpPr txBox="1"/>
          <p:nvPr/>
        </p:nvSpPr>
        <p:spPr>
          <a:xfrm>
            <a:off x="4206240" y="1645920"/>
            <a:ext cx="3657600" cy="43891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>
              <a:lnSpc>
                <a:spcPct val="150000"/>
              </a:lnSpc>
              <a:spcBef>
                <a:spcPts val="600"/>
              </a:spcBef>
              <a:spcAft>
                <a:spcPts val="800"/>
              </a:spcAft>
              <a:defRPr sz="2400">
                <a:latin typeface="Arial"/>
                <a:ea typeface="Arial"/>
              </a:defRPr>
            </a:pPr>
            <a:r>
              <a:rPr sz="2400">
                <a:latin typeface="Arial"/>
                <a:ea typeface="Arial"/>
              </a:rPr>
              <a:t>First 24pt line</a:t>
            </a:r>
            <a:br/>
            <a:r>
              <a:rPr sz="2400">
                <a:latin typeface="Arial"/>
                <a:ea typeface="Arial"/>
              </a:rPr>
              <a:t>Second 24pt line</a:t>
            </a:r>
            <a:br/>
            <a:r>
              <a:rPr sz="2400">
                <a:latin typeface="Arial"/>
                <a:ea typeface="Arial"/>
              </a:rPr>
              <a:t>Third 24pt line</a:t>
            </a:r>
            <a:endParaRPr sz="2400">
              <a:latin typeface="Arial"/>
              <a:ea typeface="Arial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800"/>
              </a:spcAft>
              <a:defRPr sz="2400">
                <a:latin typeface="Arial"/>
                <a:ea typeface="Arial"/>
              </a:defRPr>
            </a:pPr>
            <a:r>
              <a:rPr sz="2400">
                <a:latin typeface="Arial"/>
                <a:ea typeface="Arial"/>
              </a:rPr>
              <a:t>Next paragraph</a:t>
            </a:r>
            <a:endParaRPr sz="2400">
              <a:latin typeface="Arial"/>
              <a:ea typeface="Arial"/>
            </a:endParaRPr>
          </a:p>
        </p:txBody>
      </p:sp>
      <p:sp>
        <p:nvSpPr>
          <p:cNvPr id="7" name="LINE_FIXED_LABEL"/>
          <p:cNvSpPr txBox="1"/>
          <p:nvPr/>
        </p:nvSpPr>
        <p:spPr>
          <a:xfrm>
            <a:off x="8046720" y="914400"/>
            <a:ext cx="3657600" cy="54864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/>
            <a:r>
              <a:rPr sz="1500" b="1">
                <a:latin typeface="Arial"/>
                <a:ea typeface="Arial"/>
              </a:rPr>
              <a:t>Fixed 12pt (intentional overlap)</a:t>
            </a:r>
            <a:endParaRPr sz="2400">
              <a:latin typeface="Arial"/>
              <a:ea typeface="Arial"/>
            </a:endParaRPr>
          </a:p>
        </p:txBody>
      </p:sp>
      <p:sp>
        <p:nvSpPr>
          <p:cNvPr id="8" name="LINE_FIXED"/>
          <p:cNvSpPr txBox="1"/>
          <p:nvPr/>
        </p:nvSpPr>
        <p:spPr>
          <a:xfrm>
            <a:off x="8046720" y="1645920"/>
            <a:ext cx="3657600" cy="43891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>
              <a:lnSpc>
                <a:spcPts val="1200"/>
              </a:lnSpc>
              <a:spcBef>
                <a:spcPts val="600"/>
              </a:spcBef>
              <a:spcAft>
                <a:spcPts val="800"/>
              </a:spcAft>
              <a:defRPr sz="2400">
                <a:latin typeface="Arial"/>
                <a:ea typeface="Arial"/>
              </a:defRPr>
            </a:pPr>
            <a:r>
              <a:rPr sz="2400">
                <a:latin typeface="Arial"/>
                <a:ea typeface="Arial"/>
              </a:rPr>
              <a:t>First 24pt line</a:t>
            </a:r>
            <a:br/>
            <a:r>
              <a:rPr sz="2400">
                <a:latin typeface="Arial"/>
                <a:ea typeface="Arial"/>
              </a:rPr>
              <a:t>Second 24pt line</a:t>
            </a:r>
            <a:br/>
            <a:r>
              <a:rPr sz="2400">
                <a:latin typeface="Arial"/>
                <a:ea typeface="Arial"/>
              </a:rPr>
              <a:t>Third 24pt line</a:t>
            </a:r>
            <a:endParaRPr sz="2400">
              <a:latin typeface="Arial"/>
              <a:ea typeface="Arial"/>
            </a:endParaRPr>
          </a:p>
          <a:p>
            <a:pPr>
              <a:lnSpc>
                <a:spcPts val="1200"/>
              </a:lnSpc>
              <a:spcBef>
                <a:spcPts val="600"/>
              </a:spcBef>
              <a:spcAft>
                <a:spcPts val="800"/>
              </a:spcAft>
              <a:defRPr sz="2400">
                <a:latin typeface="Arial"/>
                <a:ea typeface="Arial"/>
              </a:defRPr>
            </a:pPr>
            <a:r>
              <a:rPr sz="2400">
                <a:latin typeface="Arial"/>
                <a:ea typeface="Arial"/>
              </a:rPr>
              <a:t>Next paragraph</a:t>
            </a:r>
            <a:endParaRPr sz="2400">
              <a:latin typeface="Arial"/>
              <a:ea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_BASELINE"/>
          <p:cNvSpPr txBox="1"/>
          <p:nvPr/>
        </p:nvSpPr>
        <p:spPr>
          <a:xfrm>
            <a:off x="320040" y="228600"/>
            <a:ext cx="10972800" cy="54864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/>
            <a:r>
              <a:rPr sz="2600" b="1">
                <a:latin typeface="Arial"/>
                <a:ea typeface="Arial"/>
              </a:rPr>
              <a:t>Explicit positive, negative and zero baseline</a:t>
            </a:r>
            <a:endParaRPr sz="2400">
              <a:latin typeface="Arial"/>
              <a:ea typeface="Arial"/>
            </a:endParaRPr>
          </a:p>
        </p:txBody>
      </p:sp>
      <p:sp>
        <p:nvSpPr>
          <p:cNvPr id="3" name="BASELINE_EXPLICIT"/>
          <p:cNvSpPr txBox="1"/>
          <p:nvPr/>
        </p:nvSpPr>
        <p:spPr>
          <a:xfrm>
            <a:off x="640080" y="1508760"/>
            <a:ext cx="10972800" cy="128016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/>
            <a:r>
              <a:rPr sz="2600" baseline="0">
                <a:solidFill>
                  <a:srgbClr val="202020"/>
                </a:solidFill>
                <a:latin typeface="Arial"/>
                <a:ea typeface="Arial"/>
              </a:rPr>
              <a:t>Normal </a:t>
            </a:r>
            <a:r>
              <a:rPr sz="2600" baseline="30000">
                <a:solidFill>
                  <a:srgbClr val="B51D46"/>
                </a:solidFill>
                <a:latin typeface="Arial"/>
                <a:ea typeface="Arial"/>
              </a:rPr>
              <a:t>Raised </a:t>
            </a:r>
            <a:r>
              <a:rPr sz="2600" baseline="-25000">
                <a:solidFill>
                  <a:srgbClr val="1565A8"/>
                </a:solidFill>
                <a:latin typeface="Arial"/>
                <a:ea typeface="Arial"/>
              </a:rPr>
              <a:t>Lowered </a:t>
            </a:r>
            <a:r>
              <a:rPr sz="2600" baseline="0">
                <a:solidFill>
                  <a:srgbClr val="248046"/>
                </a:solidFill>
                <a:latin typeface="Arial"/>
                <a:ea typeface="Arial"/>
              </a:rPr>
              <a:t>Zero</a:t>
            </a:r>
            <a:endParaRPr sz="2400">
              <a:latin typeface="Arial"/>
              <a:ea typeface="Arial"/>
            </a:endParaRPr>
          </a:p>
        </p:txBody>
      </p:sp>
      <p:sp>
        <p:nvSpPr>
          <p:cNvPr id="4" name="BASELINE_FRACTIONAL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/>
            <a:r>
              <a:rPr sz="2600">
                <a:latin typeface="Arial"/>
                <a:ea typeface="Arial"/>
              </a:rPr>
              <a:t>Normal </a:t>
            </a:r>
            <a:r>
              <a:rPr sz="2600" baseline="18000">
                <a:latin typeface="Arial"/>
                <a:ea typeface="Arial"/>
              </a:rPr>
              <a:t>18 percent </a:t>
            </a:r>
            <a:r>
              <a:rPr sz="2600" baseline="-10000">
                <a:latin typeface="Arial"/>
                <a:ea typeface="Arial"/>
              </a:rPr>
              <a:t>minus 10 percent </a:t>
            </a:r>
            <a:r>
              <a:rPr sz="1234" baseline="0">
                <a:latin typeface="Arial"/>
                <a:ea typeface="Arial"/>
              </a:rPr>
              <a:t>12.34pt</a:t>
            </a:r>
            <a:endParaRPr sz="2400">
              <a:latin typeface="Arial"/>
              <a:ea typeface="Arial"/>
            </a:endParaRPr>
          </a:p>
        </p:txBody>
      </p:sp>
      <p:sp>
        <p:nvSpPr>
          <p:cNvPr id="5" name="FOOTNOTE"/>
          <p:cNvSpPr txBox="1"/>
          <p:nvPr/>
        </p:nvSpPr>
        <p:spPr>
          <a:xfrm>
            <a:off x="640080" y="5486400"/>
            <a:ext cx="10972800" cy="7315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/>
            <a:r>
              <a:rPr sz="1700">
                <a:latin typeface="Arial"/>
                <a:ea typeface="Arial"/>
              </a:rPr>
              <a:t>Source numeric values must survive edits and repeated saves.</a:t>
            </a:r>
            <a:endParaRPr sz="2400">
              <a:latin typeface="Arial"/>
              <a:ea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_INHERITANCE"/>
          <p:cNvSpPr txBox="1"/>
          <p:nvPr/>
        </p:nvSpPr>
        <p:spPr>
          <a:xfrm>
            <a:off x="320040" y="228600"/>
            <a:ext cx="10972800" cy="54864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/>
            <a:r>
              <a:rPr sz="2600" b="1">
                <a:latin typeface="Arial"/>
                <a:ea typeface="Arial"/>
              </a:rPr>
              <a:t>List defaults, explicit zero, empty paragraph</a:t>
            </a:r>
            <a:endParaRPr sz="2400">
              <a:latin typeface="Arial"/>
              <a:ea typeface="Arial"/>
            </a:endParaRPr>
          </a:p>
        </p:txBody>
      </p:sp>
      <p:sp>
        <p:nvSpPr>
          <p:cNvPr id="3" name="INHERITED"/>
          <p:cNvSpPr txBox="1"/>
          <p:nvPr/>
        </p:nvSpPr>
        <p:spPr>
          <a:xfrm>
            <a:off x="640080" y="1280160"/>
            <a:ext cx="10972800" cy="5212080"/>
          </a:xfrm>
          <a:prstGeom prst="rect">
            <a:avLst/>
          </a:prstGeom>
          <a:noFill/>
        </p:spPr>
        <p:txBody>
          <a:bodyPr wrap="none" anchor="t" lIns="0" rIns="0" tIns="0" bIns="0"/>
          <a:lstStyle>
            <a:lvl1pPr>
              <a:lnSpc>
                <a:spcPct val="150000"/>
              </a:lnSpc>
              <a:spcBef>
                <a:spcPts val="600"/>
              </a:spcBef>
              <a:spcAft>
                <a:spcPts val="800"/>
              </a:spcAft>
              <a:defRPr sz="2400" baseline="30000">
                <a:latin typeface="Arial"/>
                <a:ea typeface="Arial"/>
              </a:defRPr>
            </a:lvl1pPr>
          </a:lstStyle>
          <a:p>
            <a:pPr/>
            <a:r>
              <a:rPr>
                <a:latin typeface="Arial"/>
                <a:ea typeface="Arial"/>
              </a:rPr>
              <a:t>Inherited raised </a:t>
            </a:r>
            <a:r>
              <a:rPr baseline="0">
                <a:latin typeface="Arial"/>
                <a:ea typeface="Arial"/>
              </a:rPr>
              <a:t>Explicit zero</a:t>
            </a:r>
            <a:endParaRPr sz="2400">
              <a:latin typeface="Arial"/>
              <a:ea typeface="Arial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aseline="0"/>
            </a:pPr>
            <a:r>
              <a:rPr>
                <a:latin typeface="Arial"/>
                <a:ea typeface="Arial"/>
              </a:rPr>
              <a:t>Paragraph clears spacing and baseline</a:t>
            </a:r>
            <a:br/>
            <a:r>
              <a:rPr>
                <a:latin typeface="Arial"/>
                <a:ea typeface="Arial"/>
              </a:rPr>
              <a:t>Manual break stays in this paragraph</a:t>
            </a:r>
            <a:endParaRPr sz="2400">
              <a:latin typeface="Arial"/>
              <a:ea typeface="Arial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aseline="0"/>
            </a:pPr>
            <a:endParaRPr sz="3720" baseline="0">
              <a:latin typeface="Arial"/>
              <a:ea typeface="Arial"/>
            </a:endParaRPr>
          </a:p>
          <a:p>
            <a:pPr/>
            <a:r>
              <a:rPr sz="2400" baseline="0">
                <a:latin typeface="Arial"/>
                <a:ea typeface="Arial"/>
              </a:rPr>
              <a:t>After empty paragraph</a:t>
            </a:r>
            <a:endParaRPr sz="2400">
              <a:latin typeface="Arial"/>
              <a:ea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_BOUNDARIES"/>
          <p:cNvSpPr txBox="1"/>
          <p:nvPr/>
        </p:nvSpPr>
        <p:spPr>
          <a:xfrm>
            <a:off x="320040" y="228600"/>
            <a:ext cx="10972800" cy="54864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/>
            <a:r>
              <a:rPr sz="2400" b="1">
                <a:latin typeface="Arial"/>
                <a:ea typeface="Arial"/>
              </a:rPr>
              <a:t>Mixed-size fixed lines and first/last paragraph spacing</a:t>
            </a:r>
            <a:endParaRPr sz="2400">
              <a:latin typeface="Arial"/>
              <a:ea typeface="Arial"/>
            </a:endParaRPr>
          </a:p>
        </p:txBody>
      </p:sp>
      <p:sp>
        <p:nvSpPr>
          <p:cNvPr id="3" name="MIXED_FIXED_LABEL"/>
          <p:cNvSpPr txBox="1"/>
          <p:nvPr/>
        </p:nvSpPr>
        <p:spPr>
          <a:xfrm>
            <a:off x="457200" y="914400"/>
            <a:ext cx="3657600" cy="457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/>
            <a:r>
              <a:rPr sz="1500">
                <a:latin typeface="Arial"/>
                <a:ea typeface="Arial"/>
              </a:rPr>
              <a:t>12 / 42 / 18pt; fixed 12pt</a:t>
            </a:r>
            <a:endParaRPr sz="2400">
              <a:latin typeface="Arial"/>
              <a:ea typeface="Arial"/>
            </a:endParaRPr>
          </a:p>
        </p:txBody>
      </p:sp>
      <p:sp>
        <p:nvSpPr>
          <p:cNvPr id="4" name="MIXED_FIXED"/>
          <p:cNvSpPr txBox="1"/>
          <p:nvPr/>
        </p:nvSpPr>
        <p:spPr>
          <a:xfrm>
            <a:off x="457200" y="1645920"/>
            <a:ext cx="3657600" cy="36576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>
              <a:lnSpc>
                <a:spcPts val="1200"/>
              </a:lnSpc>
            </a:pPr>
            <a:r>
              <a:rPr sz="1200">
                <a:latin typeface="Arial"/>
                <a:ea typeface="Arial"/>
              </a:rPr>
              <a:t>Small 12</a:t>
            </a:r>
            <a:br/>
            <a:r>
              <a:rPr sz="4200">
                <a:latin typeface="Arial"/>
                <a:ea typeface="Arial"/>
              </a:rPr>
              <a:t>Large 42</a:t>
            </a:r>
            <a:br/>
            <a:r>
              <a:rPr sz="1800">
                <a:latin typeface="Arial"/>
                <a:ea typeface="Arial"/>
              </a:rPr>
              <a:t>Medium 18</a:t>
            </a:r>
            <a:endParaRPr sz="2400">
              <a:latin typeface="Arial"/>
              <a:ea typeface="Arial"/>
            </a:endParaRPr>
          </a:p>
        </p:txBody>
      </p:sp>
      <p:sp>
        <p:nvSpPr>
          <p:cNvPr id="5" name="OUTER_0_LABEL"/>
          <p:cNvSpPr txBox="1"/>
          <p:nvPr/>
        </p:nvSpPr>
        <p:spPr>
          <a:xfrm>
            <a:off x="4572000" y="914400"/>
            <a:ext cx="3657600" cy="457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/>
            <a:r>
              <a:rPr sz="1500">
                <a:latin typeface="Arial"/>
                <a:ea typeface="Arial"/>
              </a:rPr>
              <a:t>spcFirstLastPara = 0</a:t>
            </a:r>
            <a:endParaRPr sz="2400">
              <a:latin typeface="Arial"/>
              <a:ea typeface="Arial"/>
            </a:endParaRPr>
          </a:p>
        </p:txBody>
      </p:sp>
      <p:sp>
        <p:nvSpPr>
          <p:cNvPr id="6" name="OUTER_0"/>
          <p:cNvSpPr txBox="1"/>
          <p:nvPr/>
        </p:nvSpPr>
        <p:spPr>
          <a:xfrm>
            <a:off x="4572000" y="1645920"/>
            <a:ext cx="3657600" cy="3657600"/>
          </a:xfrm>
          <a:prstGeom prst="rect">
            <a:avLst/>
          </a:prstGeom>
          <a:noFill/>
        </p:spPr>
        <p:txBody>
          <a:bodyPr wrap="none" anchor="t" lIns="0" rIns="0" tIns="0" bIns="0" spcFirstLastPara="0"/>
          <a:lstStyle/>
          <a:p>
            <a:pPr>
              <a:lnSpc>
                <a:spcPct val="100000"/>
              </a:lnSpc>
              <a:spcBef>
                <a:spcPts val="1200"/>
              </a:spcBef>
              <a:spcAft>
                <a:spcPts val="1600"/>
              </a:spcAft>
            </a:pPr>
            <a:r>
              <a:rPr sz="2000">
                <a:latin typeface="Arial"/>
                <a:ea typeface="Arial"/>
              </a:rPr>
              <a:t>First paragraph</a:t>
            </a:r>
            <a:endParaRPr sz="2400">
              <a:latin typeface="Arial"/>
              <a:ea typeface="Arial"/>
            </a:endParaRPr>
          </a:p>
          <a:p>
            <a:pPr>
              <a:lnSpc>
                <a:spcPct val="100000"/>
              </a:lnSpc>
              <a:spcBef>
                <a:spcPts val="1200"/>
              </a:spcBef>
              <a:spcAft>
                <a:spcPts val="1600"/>
              </a:spcAft>
            </a:pPr>
            <a:r>
              <a:rPr sz="2000">
                <a:latin typeface="Arial"/>
                <a:ea typeface="Arial"/>
              </a:rPr>
              <a:t>Last paragraph</a:t>
            </a:r>
            <a:endParaRPr sz="2400">
              <a:latin typeface="Arial"/>
              <a:ea typeface="Arial"/>
            </a:endParaRPr>
          </a:p>
        </p:txBody>
      </p:sp>
      <p:sp>
        <p:nvSpPr>
          <p:cNvPr id="7" name="OUTER_1_LABEL"/>
          <p:cNvSpPr txBox="1"/>
          <p:nvPr/>
        </p:nvSpPr>
        <p:spPr>
          <a:xfrm>
            <a:off x="8229600" y="914400"/>
            <a:ext cx="3657600" cy="457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/>
            <a:r>
              <a:rPr sz="1500">
                <a:latin typeface="Arial"/>
                <a:ea typeface="Arial"/>
              </a:rPr>
              <a:t>spcFirstLastPara = 1</a:t>
            </a:r>
            <a:endParaRPr sz="2400">
              <a:latin typeface="Arial"/>
              <a:ea typeface="Arial"/>
            </a:endParaRPr>
          </a:p>
        </p:txBody>
      </p:sp>
      <p:sp>
        <p:nvSpPr>
          <p:cNvPr id="8" name="OUTER_1"/>
          <p:cNvSpPr txBox="1"/>
          <p:nvPr/>
        </p:nvSpPr>
        <p:spPr>
          <a:xfrm>
            <a:off x="8229600" y="1645920"/>
            <a:ext cx="3657600" cy="3657600"/>
          </a:xfrm>
          <a:prstGeom prst="rect">
            <a:avLst/>
          </a:prstGeom>
          <a:noFill/>
        </p:spPr>
        <p:txBody>
          <a:bodyPr wrap="none" anchor="t" lIns="0" rIns="0" tIns="0" bIns="0" spcFirstLastPara="1"/>
          <a:lstStyle/>
          <a:p>
            <a:pPr>
              <a:lnSpc>
                <a:spcPct val="100000"/>
              </a:lnSpc>
              <a:spcBef>
                <a:spcPts val="1200"/>
              </a:spcBef>
              <a:spcAft>
                <a:spcPts val="1600"/>
              </a:spcAft>
            </a:pPr>
            <a:r>
              <a:rPr sz="2000">
                <a:latin typeface="Arial"/>
                <a:ea typeface="Arial"/>
              </a:rPr>
              <a:t>First paragraph</a:t>
            </a:r>
            <a:endParaRPr sz="2400">
              <a:latin typeface="Arial"/>
              <a:ea typeface="Arial"/>
            </a:endParaRPr>
          </a:p>
          <a:p>
            <a:pPr>
              <a:lnSpc>
                <a:spcPct val="100000"/>
              </a:lnSpc>
              <a:spcBef>
                <a:spcPts val="1200"/>
              </a:spcBef>
              <a:spcAft>
                <a:spcPts val="1600"/>
              </a:spcAft>
            </a:pPr>
            <a:r>
              <a:rPr sz="2000">
                <a:latin typeface="Arial"/>
                <a:ea typeface="Arial"/>
              </a:rPr>
              <a:t>Last paragraph</a:t>
            </a:r>
            <a:endParaRPr sz="2400">
              <a:latin typeface="Arial"/>
              <a:ea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Spacing and baseline - independent OOXML fixture</dc:title>
  <dc:subject/>
  <dc:creator>Open Office compatibility tests</dc:creator>
  <cp:keywords/>
  <dc:description>generated using python-pptx</dc:description>
  <cp:lastModifiedBy>Steve Canny</cp:lastModifiedBy>
  <cp:revision>1</cp:revision>
  <dcterms:created xsi:type="dcterms:W3CDTF">2025-02-12T12:00:00Z</dcterms:created>
  <dcterms:modified xsi:type="dcterms:W3CDTF">2025-02-12T12:00:00Z</dcterms:modified>
  <cp:category/>
</cp:coreProperties>
</file>