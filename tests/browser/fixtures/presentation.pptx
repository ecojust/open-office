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C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AAC0D5"/>
                </a:solidFill>
                <a:latin typeface="Noto Sans CJK SC"/>
                <a:ea typeface="Noto Sans CJK SC"/>
              </a:rPr>
              <a:t>OPEN OFFICE  /  演示工作室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417320"/>
            <a:ext cx="658368" cy="64008"/>
          </a:xfrm>
          <a:prstGeom prst="rect">
            <a:avLst/>
          </a:prstGeom>
          <a:solidFill>
            <a:srgbClr val="DB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</a:rPr>
              <a:t>让想法，</a:t>
            </a:r>
          </a:p>
          <a:p>
            <a:pPr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</a:rPr>
              <a:t>成为下一步行动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B7C8D9"/>
                </a:solidFill>
                <a:latin typeface="Noto Sans CJK SC"/>
                <a:ea typeface="Noto Sans CJK SC"/>
              </a:rPr>
              <a:t>秋季项目计划 · 团队提案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B7C8D9"/>
                </a:solidFill>
                <a:latin typeface="Noto Sans CJK SC"/>
                <a:ea typeface="Noto Sans CJK SC"/>
              </a:rPr>
              <a:t>目标清晰，协作有序，交付可见。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6007608"/>
            <a:ext cx="10561320" cy="13716"/>
          </a:xfrm>
          <a:prstGeom prst="rect">
            <a:avLst/>
          </a:prstGeom>
          <a:solidFill>
            <a:srgbClr val="42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17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AAC0D5"/>
                </a:solidFill>
                <a:latin typeface="Noto Sans CJK SC"/>
                <a:ea typeface="Noto Sans CJK SC"/>
              </a:rPr>
              <a:t>2026.10   /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6F8197"/>
                </a:solidFill>
                <a:latin typeface="Noto Sans CJK SC"/>
                <a:ea typeface="Noto Sans CJK SC"/>
              </a:rPr>
              <a:t>从计划到交付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243956"/>
                </a:solidFill>
                <a:latin typeface="Noto Sans CJK SC"/>
                <a:ea typeface="Noto Sans CJK SC"/>
              </a:rPr>
              <a:t>三个阶段，一个共同目标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2514600"/>
            <a:ext cx="3337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2514600"/>
            <a:ext cx="3337560" cy="50292"/>
          </a:xfrm>
          <a:prstGeom prst="rect">
            <a:avLst/>
          </a:prstGeom>
          <a:solidFill>
            <a:srgbClr val="638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529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3956"/>
                </a:solidFill>
                <a:latin typeface="Noto Sans CJK SC"/>
                <a:ea typeface="Noto Sans CJK SC"/>
              </a:rPr>
              <a:t>01  明确方向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62768C"/>
                </a:solidFill>
                <a:latin typeface="Noto Sans CJK SC"/>
                <a:ea typeface="Noto Sans CJK SC"/>
              </a:rPr>
              <a:t>梳理核心需求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62768C"/>
                </a:solidFill>
                <a:latin typeface="Noto Sans CJK SC"/>
                <a:ea typeface="Noto Sans CJK SC"/>
              </a:rPr>
              <a:t>明确范围与负责人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2514600"/>
            <a:ext cx="3337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2272" y="2514600"/>
            <a:ext cx="3337560" cy="50292"/>
          </a:xfrm>
          <a:prstGeom prst="rect">
            <a:avLst/>
          </a:prstGeom>
          <a:solidFill>
            <a:srgbClr val="64A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529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3956"/>
                </a:solidFill>
                <a:latin typeface="Noto Sans CJK SC"/>
                <a:ea typeface="Noto Sans CJK SC"/>
              </a:rPr>
              <a:t>02  持续推进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03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62768C"/>
                </a:solidFill>
                <a:latin typeface="Noto Sans CJK SC"/>
                <a:ea typeface="Noto Sans CJK SC"/>
              </a:rPr>
              <a:t>每周跟进关键进度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62768C"/>
                </a:solidFill>
                <a:latin typeface="Noto Sans CJK SC"/>
                <a:ea typeface="Noto Sans CJK SC"/>
              </a:rPr>
              <a:t>及时记录问题与决策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2514600"/>
            <a:ext cx="3337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2" y="2514600"/>
            <a:ext cx="3337560" cy="50292"/>
          </a:xfrm>
          <a:prstGeom prst="rect">
            <a:avLst/>
          </a:prstGeom>
          <a:solidFill>
            <a:srgbClr val="DBA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8529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3956"/>
                </a:solidFill>
                <a:latin typeface="Noto Sans CJK SC"/>
                <a:ea typeface="Noto Sans CJK SC"/>
              </a:rPr>
              <a:t>03  完成交付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03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62768C"/>
                </a:solidFill>
                <a:latin typeface="Noto Sans CJK SC"/>
                <a:ea typeface="Noto Sans CJK SC"/>
              </a:rPr>
              <a:t>复核内容与数据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62768C"/>
                </a:solidFill>
                <a:latin typeface="Noto Sans CJK SC"/>
                <a:ea typeface="Noto Sans CJK SC"/>
              </a:rPr>
              <a:t>整理成果与验收记录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8090A4"/>
                </a:solidFill>
                <a:latin typeface="Noto Sans CJK SC"/>
                <a:ea typeface="Noto Sans CJK SC"/>
              </a:rPr>
              <a:t>OPEN OFFICE  /  示例演示文稿                                     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