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573F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餐饮服务·开店筹备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73F2C"/>
                </a:solidFill>
                <a:latin typeface="WenQuanYi Micro Hei"/>
                <a:ea typeface="WenQuanYi Micro Hei"/>
              </a:rPr>
              <a:t>为一场好开业做好准备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BD703B"/>
                </a:solidFill>
                <a:latin typeface="WenQuanYi Micro Hei"/>
                <a:ea typeface="WenQuanYi Micro Hei"/>
              </a:rPr>
              <a:t>01  客群定位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BD703B"/>
                </a:solidFill>
                <a:latin typeface="WenQuanYi Micro Hei"/>
                <a:ea typeface="WenQuanYi Micro Hei"/>
              </a:rPr>
              <a:t>02  产品出品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BD703B"/>
                </a:solidFill>
                <a:latin typeface="WenQuanYi Micro Hei"/>
                <a:ea typeface="WenQuanYi Micro Hei"/>
              </a:rPr>
              <a:t>03  门店服务</a:t>
            </a:r>
          </a:p>
        </p:txBody>
      </p:sp>
      <p:sp>
        <p:nvSpPr>
          <p:cNvPr id="10" name="Oval 9"/>
          <p:cNvSpPr/>
          <p:nvPr/>
        </p:nvSpPr>
        <p:spPr>
          <a:xfrm>
            <a:off x="9074658" y="3463575"/>
            <a:ext cx="1529619" cy="1529619"/>
          </a:xfrm>
          <a:prstGeom prst="ellipse">
            <a:avLst/>
          </a:prstGeom>
          <a:solidFill>
            <a:srgbClr val="FFF5E9"/>
          </a:solidFill>
          <a:ln w="28575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05544" y="3694461"/>
            <a:ext cx="1067847" cy="1067847"/>
          </a:xfrm>
          <a:prstGeom prst="ellipse">
            <a:avLst/>
          </a:prstGeom>
          <a:noFill/>
          <a:ln w="19050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728329" y="3405854"/>
            <a:ext cx="0" cy="1875949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584025" y="3261550"/>
            <a:ext cx="0" cy="721519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728329" y="3261550"/>
            <a:ext cx="0" cy="721519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8872632" y="3261550"/>
            <a:ext cx="0" cy="721519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8584025" y="3983069"/>
            <a:ext cx="288607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0921746" y="3319272"/>
            <a:ext cx="0" cy="1962531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10748581" y="3319272"/>
            <a:ext cx="0" cy="923544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10748581" y="4242816"/>
            <a:ext cx="173165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73F2C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73F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73F2C"/>
                </a:solidFill>
                <a:latin typeface="WenQuanYi Micro Hei"/>
                <a:ea typeface="WenQuanYi Micro Hei"/>
              </a:rPr>
              <a:t>餐饮服务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73F2C"/>
                </a:solidFill>
                <a:latin typeface="WenQuanYi Micro Hei"/>
                <a:ea typeface="WenQuanYi Micro Hei"/>
              </a:rPr>
              <a:t>为一场好开业做好准备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19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573F2C"/>
                </a:solidFill>
                <a:latin typeface="WenQuanYi Micro Hei"/>
                <a:ea typeface="WenQuanYi Micro Hei"/>
              </a:rPr>
              <a:t>准备阶段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573F2C"/>
                </a:solidFill>
                <a:latin typeface="WenQuanYi Micro Hei"/>
                <a:ea typeface="WenQuanYi Micro Hei"/>
              </a:rPr>
              <a:t>推进阶段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63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573F2C"/>
                </a:solidFill>
                <a:latin typeface="WenQuanYi Micro Hei"/>
                <a:ea typeface="WenQuanYi Micro Hei"/>
              </a:rPr>
              <a:t>完善阶段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9527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73F2C"/>
                </a:solidFill>
                <a:latin typeface="WenQuanYi Micro Hei"/>
                <a:ea typeface="WenQuanYi Micro Hei"/>
              </a:rPr>
              <a:t>食材验收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849" y="2847975"/>
            <a:ext cx="7372350" cy="619125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849" y="2847975"/>
            <a:ext cx="2647950" cy="619125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5775" y="29908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8671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73F2C"/>
                </a:solidFill>
                <a:latin typeface="WenQuanYi Micro Hei"/>
                <a:ea typeface="WenQuanYi Micro Hei"/>
              </a:rPr>
              <a:t>标准制作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849" y="3762374"/>
            <a:ext cx="7372350" cy="619125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6525" y="3762374"/>
            <a:ext cx="2647950" cy="619125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8450" y="3905249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7815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73F2C"/>
                </a:solidFill>
                <a:latin typeface="WenQuanYi Micro Hei"/>
                <a:ea typeface="WenQuanYi Micro Hei"/>
              </a:rPr>
              <a:t>出餐服务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3849" y="4676775"/>
            <a:ext cx="7372350" cy="619125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39200" y="4676775"/>
            <a:ext cx="2647950" cy="619125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1125" y="48196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5772150"/>
            <a:ext cx="10715625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73F2C"/>
                </a:solidFill>
                <a:latin typeface="WenQuanYi Micro Hei"/>
                <a:ea typeface="WenQuanYi Micro Hei"/>
              </a:rPr>
              <a:t>时间刻度与阶段安排可编辑；请按项目实际周期调整。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5E9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73F2C"/>
                </a:solidFill>
                <a:latin typeface="WenQuanYi Micro Hei"/>
                <a:ea typeface="WenQuanYi Micro Hei"/>
              </a:rPr>
              <a:t>OPEN OFFICE  /  餐饮服务·开店筹备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73F2C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73F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15450" y="1452562"/>
            <a:ext cx="1262062" cy="1262062"/>
          </a:xfrm>
          <a:prstGeom prst="ellipse">
            <a:avLst/>
          </a:prstGeom>
          <a:solidFill>
            <a:srgbClr val="FFF5E9"/>
          </a:solidFill>
          <a:ln w="28575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5950" y="1643062"/>
            <a:ext cx="881062" cy="881062"/>
          </a:xfrm>
          <a:prstGeom prst="ellipse">
            <a:avLst/>
          </a:prstGeom>
          <a:noFill/>
          <a:ln w="19050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029700" y="1404937"/>
            <a:ext cx="0" cy="1547813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8910637" y="1285875"/>
            <a:ext cx="0" cy="595312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9029700" y="1285875"/>
            <a:ext cx="0" cy="595312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9148762" y="1285875"/>
            <a:ext cx="0" cy="595312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8910637" y="1881187"/>
            <a:ext cx="238125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0839450" y="1333500"/>
            <a:ext cx="0" cy="1619250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696575" y="1333500"/>
            <a:ext cx="0" cy="761999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0696575" y="2095499"/>
            <a:ext cx="142875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5E9"/>
                </a:solidFill>
                <a:latin typeface="WenQuanYi Micro Hei"/>
                <a:ea typeface="WenQuanYi Micro Hei"/>
              </a:rPr>
              <a:t>把日常滋味，做成值得回来的理由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FFF5E9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餐饮服务·开店筹备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