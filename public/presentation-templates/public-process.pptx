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72450" y="962024"/>
            <a:ext cx="3333750" cy="4476750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20100" y="1209675"/>
            <a:ext cx="2838450" cy="3981450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8791956" y="2073306"/>
            <a:ext cx="1052131" cy="526066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844087" y="2073306"/>
            <a:ext cx="1052132" cy="526066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8791956" y="2599372"/>
            <a:ext cx="2104263" cy="0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9017412" y="2749677"/>
            <a:ext cx="250507" cy="100203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93376" y="2749677"/>
            <a:ext cx="250507" cy="100203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69341" y="2749677"/>
            <a:ext cx="250507" cy="100203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45305" y="2749677"/>
            <a:ext cx="250507" cy="100203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42057" y="3851909"/>
            <a:ext cx="2004060" cy="175355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716803" y="4177569"/>
            <a:ext cx="2254568" cy="0"/>
          </a:xfrm>
          <a:prstGeom prst="line">
            <a:avLst/>
          </a:prstGeom>
          <a:ln w="19050">
            <a:solidFill>
              <a:srgbClr val="294251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685800" y="1333500"/>
            <a:ext cx="6838949" cy="0"/>
          </a:xfrm>
          <a:prstGeom prst="line">
            <a:avLst/>
          </a:prstGeom>
          <a:ln w="19050">
            <a:solidFill>
              <a:srgbClr val="447D9C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85800" y="1809750"/>
            <a:ext cx="7048500" cy="15935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294251"/>
                </a:solidFill>
                <a:latin typeface="WenQuanYi Micro Hei"/>
                <a:ea typeface="WenQuanYi Micro Hei"/>
              </a:rPr>
              <a:t>公共服务</a:t>
            </a:r>
          </a:p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294251"/>
                </a:solidFill>
                <a:latin typeface="WenQuanYi Micro Hei"/>
                <a:ea typeface="WenQuanYi Micro Hei"/>
              </a:rPr>
              <a:t>办事流程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" y="3705224"/>
            <a:ext cx="70485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4251"/>
                </a:solidFill>
                <a:latin typeface="WenQuanYi Micro Hei"/>
                <a:ea typeface="WenQuanYi Micro Hei"/>
              </a:rPr>
              <a:t>让每一步办理更加清楚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4591050"/>
            <a:ext cx="6838949" cy="0"/>
          </a:xfrm>
          <a:prstGeom prst="line">
            <a:avLst/>
          </a:prstGeom>
          <a:ln w="9525">
            <a:solidFill>
              <a:srgbClr val="447D9C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14375" y="5219700"/>
            <a:ext cx="7048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94251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47D9C"/>
                </a:solidFill>
                <a:latin typeface="WenQuanYi Micro Hei"/>
                <a:ea typeface="WenQuanYi Micro Hei"/>
              </a:rPr>
              <a:t>OPEN OFFICE  /  流程与方法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942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94251"/>
                </a:solidFill>
                <a:latin typeface="WenQuanYi Micro Hei"/>
                <a:ea typeface="WenQuanYi Micro Hei"/>
              </a:rPr>
              <a:t>公共服务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让每一步办理更加清楚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95575"/>
            <a:ext cx="3448050" cy="2286000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94251"/>
                </a:solidFill>
                <a:latin typeface="WenQuanYi Micro Hei"/>
                <a:ea typeface="WenQuanYi Micro Hei"/>
              </a:rPr>
              <a:t>咨询受理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0" name="Oval 9"/>
          <p:cNvSpPr/>
          <p:nvPr/>
        </p:nvSpPr>
        <p:spPr>
          <a:xfrm>
            <a:off x="2066924" y="2095499"/>
            <a:ext cx="666750" cy="666750"/>
          </a:xfrm>
          <a:prstGeom prst="ellipse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924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3849" y="3848099"/>
            <a:ext cx="180976" cy="0"/>
          </a:xfrm>
          <a:prstGeom prst="line">
            <a:avLst/>
          </a:prstGeom>
          <a:ln w="28575">
            <a:solidFill>
              <a:srgbClr val="447D9C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695575"/>
            <a:ext cx="3448050" cy="2286000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94251"/>
                </a:solidFill>
                <a:latin typeface="WenQuanYi Micro Hei"/>
                <a:ea typeface="WenQuanYi Micro Hei"/>
              </a:rPr>
              <a:t>协同办理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6" name="Oval 15"/>
          <p:cNvSpPr/>
          <p:nvPr/>
        </p:nvSpPr>
        <p:spPr>
          <a:xfrm>
            <a:off x="5753100" y="2095499"/>
            <a:ext cx="666750" cy="666750"/>
          </a:xfrm>
          <a:prstGeom prst="ellipse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3100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20025" y="3848099"/>
            <a:ext cx="180975" cy="0"/>
          </a:xfrm>
          <a:prstGeom prst="line">
            <a:avLst/>
          </a:prstGeom>
          <a:ln w="28575">
            <a:solidFill>
              <a:srgbClr val="447D9C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695575"/>
            <a:ext cx="3448050" cy="2286000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6274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94251"/>
                </a:solidFill>
                <a:latin typeface="WenQuanYi Micro Hei"/>
                <a:ea typeface="WenQuanYi Micro Hei"/>
              </a:rPr>
              <a:t>反馈评价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22" name="Oval 21"/>
          <p:cNvSpPr/>
          <p:nvPr/>
        </p:nvSpPr>
        <p:spPr>
          <a:xfrm>
            <a:off x="9439275" y="2095499"/>
            <a:ext cx="666750" cy="666750"/>
          </a:xfrm>
          <a:prstGeom prst="ellipse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9275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425" y="5381625"/>
            <a:ext cx="1047750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251"/>
                </a:solidFill>
                <a:latin typeface="WenQuanYi Micro Hei"/>
                <a:ea typeface="WenQuanYi Micro Hei"/>
              </a:rPr>
              <a:t>协作约定：统一标准、记录问题、明确反馈与升级路径。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EF5F8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94251"/>
                </a:solidFill>
                <a:latin typeface="WenQuanYi Micro Hei"/>
                <a:ea typeface="WenQuanYi Micro Hei"/>
              </a:rPr>
              <a:t>OPEN OFFICE  /  公共服务·办事流程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94251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2942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5215890" y="636270"/>
            <a:ext cx="880110" cy="440055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6096000" y="636270"/>
            <a:ext cx="880110" cy="440055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5215890" y="1076325"/>
            <a:ext cx="1760220" cy="0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5404485" y="1202055"/>
            <a:ext cx="209550" cy="83820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02630" y="1202055"/>
            <a:ext cx="209550" cy="83820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775" y="1202055"/>
            <a:ext cx="209550" cy="83820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98919" y="1202055"/>
            <a:ext cx="209550" cy="83820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57800" y="2124075"/>
            <a:ext cx="1676400" cy="146685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153025" y="2396490"/>
            <a:ext cx="1885950" cy="0"/>
          </a:xfrm>
          <a:prstGeom prst="line">
            <a:avLst/>
          </a:prstGeom>
          <a:ln w="19050">
            <a:solidFill>
              <a:srgbClr val="294251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294251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447D9C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以细致服务，回应每一份期待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公共服务·办事流程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