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05775" y="0"/>
            <a:ext cx="4086225" cy="6858000"/>
          </a:xfrm>
          <a:prstGeom prst="rect">
            <a:avLst/>
          </a:prstGeom>
          <a:solidFill>
            <a:srgbClr val="243B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6249" y="0"/>
            <a:ext cx="123824" cy="6858000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49665" y="3233166"/>
            <a:ext cx="2484120" cy="1148905"/>
          </a:xfrm>
          <a:prstGeom prst="rect">
            <a:avLst/>
          </a:prstGeom>
          <a:solidFill>
            <a:srgbClr val="EAF1F6"/>
          </a:solidFill>
          <a:ln w="19050">
            <a:solidFill>
              <a:srgbClr val="3474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04922" y="2394775"/>
            <a:ext cx="403669" cy="838390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3849" y="2736342"/>
            <a:ext cx="403669" cy="496824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98077" y="3574732"/>
            <a:ext cx="310515" cy="341566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25952" y="3574732"/>
            <a:ext cx="310515" cy="341566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3828" y="3574732"/>
            <a:ext cx="310515" cy="341566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81703" y="3574732"/>
            <a:ext cx="310515" cy="341566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687562" y="4692586"/>
            <a:ext cx="2639377" cy="0"/>
          </a:xfrm>
          <a:prstGeom prst="line">
            <a:avLst/>
          </a:prstGeom>
          <a:ln w="38100">
            <a:solidFill>
              <a:srgbClr val="34749B"/>
            </a:solidFill>
          </a:ln>
          <a:effectLst/>
        </p:spPr>
      </p:cxnSp>
      <p:sp>
        <p:nvSpPr>
          <p:cNvPr id="13" name="Oval 12"/>
          <p:cNvSpPr/>
          <p:nvPr/>
        </p:nvSpPr>
        <p:spPr>
          <a:xfrm>
            <a:off x="8935974" y="4537329"/>
            <a:ext cx="248412" cy="248412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57004" y="4537329"/>
            <a:ext cx="248412" cy="248412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78034" y="4537329"/>
            <a:ext cx="248412" cy="248412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799064" y="4537329"/>
            <a:ext cx="248412" cy="248412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1619250"/>
            <a:ext cx="7048500" cy="1644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243B4A"/>
                </a:solidFill>
                <a:latin typeface="WenQuanYi Micro Hei"/>
                <a:ea typeface="WenQuanYi Micro Hei"/>
              </a:rPr>
              <a:t>智能制造</a:t>
            </a:r>
          </a:p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243B4A"/>
                </a:solidFill>
                <a:latin typeface="WenQuanYi Micro Hei"/>
                <a:ea typeface="WenQuanYi Micro Hei"/>
              </a:rPr>
              <a:t>设备方案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3476625"/>
            <a:ext cx="695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243B4A"/>
                </a:solidFill>
                <a:latin typeface="WenQuanYi Micro Hei"/>
                <a:ea typeface="WenQuanYi Micro Hei"/>
              </a:rPr>
              <a:t>以装备升级释放产能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5353050"/>
            <a:ext cx="6667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43B4A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4749B"/>
                </a:solidFill>
                <a:latin typeface="WenQuanYi Micro Hei"/>
                <a:ea typeface="WenQuanYi Micro Hei"/>
              </a:rPr>
              <a:t>OPEN OFFICE  /  产品与服务提案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43B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43B4A"/>
                </a:solidFill>
                <a:latin typeface="WenQuanYi Micro Hei"/>
                <a:ea typeface="WenQuanYi Micro Hei"/>
              </a:rPr>
              <a:t>智能制造 / 价值与方案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以装备升级释放产能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28850"/>
            <a:ext cx="3867150" cy="3476625"/>
          </a:xfrm>
          <a:prstGeom prst="rect">
            <a:avLst/>
          </a:prstGeom>
          <a:solidFill>
            <a:srgbClr val="EAF1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81137" y="3737609"/>
            <a:ext cx="2171700" cy="1004411"/>
          </a:xfrm>
          <a:prstGeom prst="rect">
            <a:avLst/>
          </a:prstGeom>
          <a:solidFill>
            <a:srgbClr val="FFFFFF"/>
          </a:solidFill>
          <a:ln w="19050">
            <a:solidFill>
              <a:srgbClr val="3474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16868" y="3004661"/>
            <a:ext cx="352901" cy="732948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5501" y="3303270"/>
            <a:ext cx="352901" cy="434340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98307" y="4036218"/>
            <a:ext cx="271462" cy="298608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59793" y="4036218"/>
            <a:ext cx="271462" cy="298608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21280" y="4036218"/>
            <a:ext cx="271462" cy="298608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2766" y="4036218"/>
            <a:ext cx="271462" cy="298608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426845" y="5013483"/>
            <a:ext cx="2307431" cy="0"/>
          </a:xfrm>
          <a:prstGeom prst="line">
            <a:avLst/>
          </a:prstGeom>
          <a:ln w="38100">
            <a:solidFill>
              <a:srgbClr val="34749B"/>
            </a:solidFill>
          </a:ln>
          <a:effectLst/>
        </p:spPr>
      </p:cxnSp>
      <p:sp>
        <p:nvSpPr>
          <p:cNvPr id="16" name="Oval 15"/>
          <p:cNvSpPr/>
          <p:nvPr/>
        </p:nvSpPr>
        <p:spPr>
          <a:xfrm>
            <a:off x="1644015" y="4877752"/>
            <a:ext cx="217170" cy="217170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186940" y="4877752"/>
            <a:ext cx="217170" cy="217170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729865" y="4877752"/>
            <a:ext cx="217170" cy="217170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272790" y="4877752"/>
            <a:ext cx="217170" cy="217170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625" y="2276475"/>
            <a:ext cx="6238875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243B4A"/>
                </a:solidFill>
                <a:latin typeface="WenQuanYi Micro Hei"/>
                <a:ea typeface="WenQuanYi Micro Hei"/>
              </a:rPr>
              <a:t>生产现场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9675" y="2752725"/>
            <a:ext cx="6191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识别产线瓶颈与资源约束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00625" y="3190875"/>
            <a:ext cx="6505575" cy="0"/>
          </a:xfrm>
          <a:prstGeom prst="line">
            <a:avLst/>
          </a:prstGeom>
          <a:ln w="9525">
            <a:solidFill>
              <a:srgbClr val="34749B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5000625" y="3409950"/>
            <a:ext cx="6238875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243B4A"/>
                </a:solidFill>
                <a:latin typeface="WenQuanYi Micro Hei"/>
                <a:ea typeface="WenQuanYi Micro Hei"/>
              </a:rPr>
              <a:t>设备协同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9675" y="3886200"/>
            <a:ext cx="6191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说明设备连接与调度方式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00625" y="4324350"/>
            <a:ext cx="6505575" cy="0"/>
          </a:xfrm>
          <a:prstGeom prst="line">
            <a:avLst/>
          </a:prstGeom>
          <a:ln w="9525">
            <a:solidFill>
              <a:srgbClr val="34749B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5000625" y="4543425"/>
            <a:ext cx="6238875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243B4A"/>
                </a:solidFill>
                <a:latin typeface="WenQuanYi Micro Hei"/>
                <a:ea typeface="WenQuanYi Micro Hei"/>
              </a:rPr>
              <a:t>质量交付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19675" y="5019675"/>
            <a:ext cx="6191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建立质量标准与交付节奏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AF1F6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43B4A"/>
                </a:solidFill>
                <a:latin typeface="WenQuanYi Micro Hei"/>
                <a:ea typeface="WenQuanYi Micro Hei"/>
              </a:rPr>
              <a:t>OPEN OFFICE  /  智能制造·设备方案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43B4A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3B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8125" cy="6858000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82075" y="2000250"/>
            <a:ext cx="1905000" cy="881062"/>
          </a:xfrm>
          <a:prstGeom prst="rect">
            <a:avLst/>
          </a:prstGeom>
          <a:solidFill>
            <a:srgbClr val="EAF1F6"/>
          </a:solidFill>
          <a:ln w="19050">
            <a:solidFill>
              <a:srgbClr val="3474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01137" y="1357312"/>
            <a:ext cx="309562" cy="642937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529762" y="1619250"/>
            <a:ext cx="309562" cy="381000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72575" y="2262187"/>
            <a:ext cx="238125" cy="261937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77387" y="2262187"/>
            <a:ext cx="238125" cy="261937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982200" y="2262187"/>
            <a:ext cx="238125" cy="261937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387012" y="2262187"/>
            <a:ext cx="238125" cy="261937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934450" y="3119437"/>
            <a:ext cx="2024062" cy="0"/>
          </a:xfrm>
          <a:prstGeom prst="line">
            <a:avLst/>
          </a:prstGeom>
          <a:ln w="38100">
            <a:solidFill>
              <a:srgbClr val="34749B"/>
            </a:solidFill>
          </a:ln>
          <a:effectLst/>
        </p:spPr>
      </p:cxnSp>
      <p:sp>
        <p:nvSpPr>
          <p:cNvPr id="13" name="Oval 12"/>
          <p:cNvSpPr/>
          <p:nvPr/>
        </p:nvSpPr>
        <p:spPr>
          <a:xfrm>
            <a:off x="9124950" y="3000375"/>
            <a:ext cx="190500" cy="190500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0" y="3000375"/>
            <a:ext cx="190500" cy="190500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77450" y="3000375"/>
            <a:ext cx="190500" cy="190500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53700" y="3000375"/>
            <a:ext cx="190500" cy="190500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2486025"/>
            <a:ext cx="10668000" cy="1424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3848099"/>
            <a:ext cx="1057275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EAF1F6"/>
                </a:solidFill>
                <a:latin typeface="WenQuanYi Micro Hei"/>
                <a:ea typeface="WenQuanYi Micro Hei"/>
              </a:rPr>
              <a:t>让每一道工序创造更高价值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9625" y="4953000"/>
            <a:ext cx="10525125" cy="0"/>
          </a:xfrm>
          <a:prstGeom prst="line">
            <a:avLst/>
          </a:prstGeom>
          <a:ln w="19050">
            <a:solidFill>
              <a:srgbClr val="34749B"/>
            </a:solidFill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809625" y="5324475"/>
            <a:ext cx="104775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EAF1F6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智能制造·设备方案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