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人力组织·雇主介绍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93A55"/>
                </a:solidFill>
                <a:latin typeface="WenQuanYi Micro Hei"/>
                <a:ea typeface="WenQuanYi Micro Hei"/>
              </a:rPr>
              <a:t>让人才看见共同的未来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8C6A9B"/>
                </a:solidFill>
                <a:latin typeface="WenQuanYi Micro Hei"/>
                <a:ea typeface="WenQuanYi Micro Hei"/>
              </a:rPr>
              <a:t>01  组织需求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8C6A9B"/>
                </a:solidFill>
                <a:latin typeface="WenQuanYi Micro Hei"/>
                <a:ea typeface="WenQuanYi Micro Hei"/>
              </a:rPr>
              <a:t>02  人才能力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8C6A9B"/>
                </a:solidFill>
                <a:latin typeface="WenQuanYi Micro Hei"/>
                <a:ea typeface="WenQuanYi Micro Hei"/>
              </a:rPr>
              <a:t>03  成长机制</a:t>
            </a:r>
          </a:p>
        </p:txBody>
      </p:sp>
      <p:sp>
        <p:nvSpPr>
          <p:cNvPr id="10" name="Oval 9"/>
          <p:cNvSpPr/>
          <p:nvPr/>
        </p:nvSpPr>
        <p:spPr>
          <a:xfrm>
            <a:off x="8728329" y="3579018"/>
            <a:ext cx="375189" cy="375189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70607" y="4069651"/>
            <a:ext cx="490632" cy="519493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27316" y="5050917"/>
            <a:ext cx="577215" cy="230886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65290" y="3203829"/>
            <a:ext cx="375189" cy="375189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7569" y="3694461"/>
            <a:ext cx="490632" cy="519493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64278" y="4762309"/>
            <a:ext cx="577215" cy="519493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02252" y="2828639"/>
            <a:ext cx="375189" cy="375189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44531" y="3319272"/>
            <a:ext cx="490632" cy="519493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01239" y="4473702"/>
            <a:ext cx="577215" cy="808101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93A55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93A55"/>
                </a:solidFill>
                <a:latin typeface="WenQuanYi Micro Hei"/>
                <a:ea typeface="WenQuanYi Micro Hei"/>
              </a:rPr>
              <a:t>人力组织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93A55"/>
                </a:solidFill>
                <a:latin typeface="WenQuanYi Micro Hei"/>
                <a:ea typeface="WenQuanYi Micro Hei"/>
              </a:rPr>
              <a:t>让人才看见共同的未来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448050" cy="3476625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2500" y="2486025"/>
            <a:ext cx="619125" cy="619125"/>
          </a:xfrm>
          <a:prstGeom prst="ellipse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93A55"/>
                </a:solidFill>
                <a:latin typeface="WenQuanYi Micro Hei"/>
                <a:ea typeface="WenQuanYi Micro Hei"/>
              </a:rPr>
              <a:t>组织需求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梳理业务目标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与岗位需求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5334000"/>
            <a:ext cx="2914650" cy="0"/>
          </a:xfrm>
          <a:prstGeom prst="line">
            <a:avLst/>
          </a:prstGeom>
          <a:ln w="19050">
            <a:solidFill>
              <a:srgbClr val="8C6A9B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228850"/>
            <a:ext cx="3448050" cy="3476625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38675" y="2486025"/>
            <a:ext cx="619125" cy="619125"/>
          </a:xfrm>
          <a:prstGeom prst="ellipse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8675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93A55"/>
                </a:solidFill>
                <a:latin typeface="WenQuanYi Micro Hei"/>
                <a:ea typeface="WenQuanYi Micro Hei"/>
              </a:rPr>
              <a:t>人才能力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75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识别能力优势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与发展机会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38675" y="5334000"/>
            <a:ext cx="2914649" cy="0"/>
          </a:xfrm>
          <a:prstGeom prst="line">
            <a:avLst/>
          </a:prstGeom>
          <a:ln w="19050">
            <a:solidFill>
              <a:srgbClr val="8C6A9B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228850"/>
            <a:ext cx="3448050" cy="3476625"/>
          </a:xfrm>
          <a:prstGeom prst="rect">
            <a:avLst/>
          </a:prstGeom>
          <a:solidFill>
            <a:srgbClr val="F5EF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4849" y="2486025"/>
            <a:ext cx="619125" cy="619125"/>
          </a:xfrm>
          <a:prstGeom prst="ellipse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4849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49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493A55"/>
                </a:solidFill>
                <a:latin typeface="WenQuanYi Micro Hei"/>
                <a:ea typeface="WenQuanYi Micro Hei"/>
              </a:rPr>
              <a:t>成长机制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849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设计培养反馈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493A55"/>
                </a:solidFill>
                <a:latin typeface="WenQuanYi Micro Hei"/>
                <a:ea typeface="WenQuanYi Micro Hei"/>
              </a:rPr>
              <a:t>与激励方式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4849" y="5334000"/>
            <a:ext cx="2914651" cy="0"/>
          </a:xfrm>
          <a:prstGeom prst="line">
            <a:avLst/>
          </a:prstGeom>
          <a:ln w="19050">
            <a:solidFill>
              <a:srgbClr val="8C6A9B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5EFF8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A55"/>
                </a:solidFill>
                <a:latin typeface="WenQuanYi Micro Hei"/>
                <a:ea typeface="WenQuanYi Micro Hei"/>
              </a:rPr>
              <a:t>OPEN OFFICE  /  人力组织·雇主介绍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93A55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90949" cy="6858000"/>
          </a:xfrm>
          <a:prstGeom prst="rect">
            <a:avLst/>
          </a:prstGeom>
          <a:solidFill>
            <a:srgbClr val="493A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7260" y="2728912"/>
            <a:ext cx="334327" cy="334327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5825" y="3166110"/>
            <a:ext cx="437197" cy="462915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248" y="4040505"/>
            <a:ext cx="514350" cy="20574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83067" y="2394585"/>
            <a:ext cx="334327" cy="334327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31632" y="2831782"/>
            <a:ext cx="437197" cy="462915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93056" y="3783330"/>
            <a:ext cx="514350" cy="462915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28875" y="2060257"/>
            <a:ext cx="334327" cy="334327"/>
          </a:xfrm>
          <a:prstGeom prst="ellipse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2497454"/>
            <a:ext cx="437197" cy="462915"/>
          </a:xfrm>
          <a:prstGeom prst="rect">
            <a:avLst/>
          </a:prstGeom>
          <a:solidFill>
            <a:srgbClr val="F5EFF8"/>
          </a:solidFill>
          <a:ln w="19050">
            <a:solidFill>
              <a:srgbClr val="8C6A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8863" y="3526155"/>
            <a:ext cx="514350" cy="720090"/>
          </a:xfrm>
          <a:prstGeom prst="rect">
            <a:avLst/>
          </a:prstGeom>
          <a:solidFill>
            <a:srgbClr val="8C6A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2450" y="2085975"/>
            <a:ext cx="7143750" cy="12630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897"/>
              </a:lnSpc>
              <a:spcBef>
                <a:spcPts val="0"/>
              </a:spcBef>
              <a:spcAft>
                <a:spcPts val="0"/>
              </a:spcAft>
            </a:pPr>
            <a:r>
              <a:rPr sz="5850" b="1">
                <a:solidFill>
                  <a:srgbClr val="493A55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550" y="3381375"/>
            <a:ext cx="7105650" cy="4748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493A55"/>
                </a:solidFill>
                <a:latin typeface="WenQuanYi Micro Hei"/>
                <a:ea typeface="WenQuanYi Micro Hei"/>
              </a:rPr>
              <a:t>让每一位伙伴找到成长的空间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91025" y="4648200"/>
            <a:ext cx="6991350" cy="0"/>
          </a:xfrm>
          <a:prstGeom prst="line">
            <a:avLst/>
          </a:prstGeom>
          <a:ln w="19050">
            <a:solidFill>
              <a:srgbClr val="8C6A9B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400550" y="5095875"/>
            <a:ext cx="6953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8C6A9B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人力组织·雇主介绍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