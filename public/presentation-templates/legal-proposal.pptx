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5775" y="0"/>
            <a:ext cx="4086225" cy="6858000"/>
          </a:xfrm>
          <a:prstGeom prst="rect">
            <a:avLst/>
          </a:prstGeom>
          <a:solidFill>
            <a:srgbClr val="363B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49" y="0"/>
            <a:ext cx="123824" cy="6858000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991725" y="2239518"/>
            <a:ext cx="0" cy="2235707"/>
          </a:xfrm>
          <a:prstGeom prst="line">
            <a:avLst/>
          </a:prstGeom>
          <a:ln w="38100">
            <a:solidFill>
              <a:srgbClr val="F4F1EA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060180" y="2767393"/>
            <a:ext cx="1863090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9432798" y="4475225"/>
            <a:ext cx="1117854" cy="186309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8625458" y="2767393"/>
            <a:ext cx="434722" cy="900493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9060180" y="2767393"/>
            <a:ext cx="434721" cy="900493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8625458" y="3667886"/>
            <a:ext cx="869443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1" name="Oval 10"/>
          <p:cNvSpPr/>
          <p:nvPr/>
        </p:nvSpPr>
        <p:spPr>
          <a:xfrm>
            <a:off x="8889396" y="2301621"/>
            <a:ext cx="341566" cy="341566"/>
          </a:xfrm>
          <a:prstGeom prst="ellipse">
            <a:avLst/>
          </a:prstGeom>
          <a:solidFill>
            <a:srgbClr val="F4F1EA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488549" y="2767393"/>
            <a:ext cx="434721" cy="900493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923270" y="2767393"/>
            <a:ext cx="434721" cy="900493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0488549" y="3667886"/>
            <a:ext cx="869442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5" name="Oval 14"/>
          <p:cNvSpPr/>
          <p:nvPr/>
        </p:nvSpPr>
        <p:spPr>
          <a:xfrm>
            <a:off x="10752486" y="2301621"/>
            <a:ext cx="341566" cy="341566"/>
          </a:xfrm>
          <a:prstGeom prst="ellipse">
            <a:avLst/>
          </a:prstGeom>
          <a:solidFill>
            <a:srgbClr val="F4F1EA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19250"/>
            <a:ext cx="7048500" cy="1644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363B42"/>
                </a:solidFill>
                <a:latin typeface="WenQuanYi Micro Hei"/>
                <a:ea typeface="WenQuanYi Micro Hei"/>
              </a:rPr>
              <a:t>法律咨询</a:t>
            </a:r>
          </a:p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363B42"/>
                </a:solidFill>
                <a:latin typeface="WenQuanYi Micro Hei"/>
                <a:ea typeface="WenQuanYi Micro Hei"/>
              </a:rPr>
              <a:t>服务建议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3476625"/>
            <a:ext cx="695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363B42"/>
                </a:solidFill>
                <a:latin typeface="WenQuanYi Micro Hei"/>
                <a:ea typeface="WenQuanYi Micro Hei"/>
              </a:rPr>
              <a:t>让复杂问题拥有清晰路径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5353050"/>
            <a:ext cx="666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63B42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7754"/>
                </a:solidFill>
                <a:latin typeface="WenQuanYi Micro Hei"/>
                <a:ea typeface="WenQuanYi Micro Hei"/>
              </a:rPr>
              <a:t>OPEN OFFICE  /  产品与服务提案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363B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363B42"/>
                </a:solidFill>
                <a:latin typeface="WenQuanYi Micro Hei"/>
                <a:ea typeface="WenQuanYi Micro Hei"/>
              </a:rPr>
              <a:t>法律咨询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让复杂问题拥有清晰路径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867150" cy="3476625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566987" y="2868929"/>
            <a:ext cx="0" cy="1954530"/>
          </a:xfrm>
          <a:prstGeom prst="line">
            <a:avLst/>
          </a:prstGeom>
          <a:ln w="38100">
            <a:solidFill>
              <a:srgbClr val="363B42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752600" y="3330416"/>
            <a:ext cx="1628775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0" name="Rectangle 9"/>
          <p:cNvSpPr/>
          <p:nvPr/>
        </p:nvSpPr>
        <p:spPr>
          <a:xfrm>
            <a:off x="2078355" y="4823459"/>
            <a:ext cx="977264" cy="162877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1372552" y="3330416"/>
            <a:ext cx="380048" cy="787241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752600" y="3330416"/>
            <a:ext cx="380047" cy="787241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372552" y="4117657"/>
            <a:ext cx="760095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4" name="Oval 13"/>
          <p:cNvSpPr/>
          <p:nvPr/>
        </p:nvSpPr>
        <p:spPr>
          <a:xfrm>
            <a:off x="1603295" y="2923222"/>
            <a:ext cx="298608" cy="298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H="1">
            <a:off x="3001327" y="3330416"/>
            <a:ext cx="380048" cy="787241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3381375" y="3330416"/>
            <a:ext cx="380047" cy="787241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3001327" y="4117657"/>
            <a:ext cx="760095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8" name="Oval 17"/>
          <p:cNvSpPr/>
          <p:nvPr/>
        </p:nvSpPr>
        <p:spPr>
          <a:xfrm>
            <a:off x="3232070" y="2923222"/>
            <a:ext cx="298608" cy="298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625" y="227647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363B42"/>
                </a:solidFill>
                <a:latin typeface="WenQuanYi Micro Hei"/>
                <a:ea typeface="WenQuanYi Micro Hei"/>
              </a:rPr>
              <a:t>事实梳理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9675" y="275272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厘清业务场景与事实材料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00625" y="3190875"/>
            <a:ext cx="6505575" cy="0"/>
          </a:xfrm>
          <a:prstGeom prst="line">
            <a:avLst/>
          </a:prstGeom>
          <a:ln w="9525">
            <a:solidFill>
              <a:srgbClr val="8A7754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5000625" y="3409950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363B42"/>
                </a:solidFill>
                <a:latin typeface="WenQuanYi Micro Hei"/>
                <a:ea typeface="WenQuanYi Micro Hei"/>
              </a:rPr>
              <a:t>规则分析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9675" y="3886200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识别适用规则与风险边界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00625" y="4324350"/>
            <a:ext cx="6505575" cy="0"/>
          </a:xfrm>
          <a:prstGeom prst="line">
            <a:avLst/>
          </a:prstGeom>
          <a:ln w="9525">
            <a:solidFill>
              <a:srgbClr val="8A7754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5000625" y="454342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363B42"/>
                </a:solidFill>
                <a:latin typeface="WenQuanYi Micro Hei"/>
                <a:ea typeface="WenQuanYi Micro Hei"/>
              </a:rPr>
              <a:t>行动建议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9675" y="501967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提出可执行的应对与分工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4F1EA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63B42"/>
                </a:solidFill>
                <a:latin typeface="WenQuanYi Micro Hei"/>
                <a:ea typeface="WenQuanYi Micro Hei"/>
              </a:rPr>
              <a:t>OPEN OFFICE  /  法律咨询·服务建议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63B42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363B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096000" y="699135"/>
            <a:ext cx="0" cy="1508760"/>
          </a:xfrm>
          <a:prstGeom prst="line">
            <a:avLst/>
          </a:prstGeom>
          <a:ln w="38100">
            <a:solidFill>
              <a:srgbClr val="363B42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5467350" y="1055370"/>
            <a:ext cx="1257300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6" name="Rectangle 5"/>
          <p:cNvSpPr/>
          <p:nvPr/>
        </p:nvSpPr>
        <p:spPr>
          <a:xfrm>
            <a:off x="5718810" y="2207895"/>
            <a:ext cx="754380" cy="125729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H="1">
            <a:off x="5173980" y="1055370"/>
            <a:ext cx="293370" cy="607694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5467350" y="1055370"/>
            <a:ext cx="293370" cy="607694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173980" y="1663064"/>
            <a:ext cx="586740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0" name="Oval 9"/>
          <p:cNvSpPr/>
          <p:nvPr/>
        </p:nvSpPr>
        <p:spPr>
          <a:xfrm>
            <a:off x="5352097" y="741045"/>
            <a:ext cx="230505" cy="230505"/>
          </a:xfrm>
          <a:prstGeom prst="ellipse">
            <a:avLst/>
          </a:prstGeom>
          <a:solidFill>
            <a:srgbClr val="F4F1EA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6431280" y="1055370"/>
            <a:ext cx="293370" cy="607694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6724650" y="1055370"/>
            <a:ext cx="293370" cy="607694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6431280" y="1663064"/>
            <a:ext cx="586740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4" name="Oval 13"/>
          <p:cNvSpPr/>
          <p:nvPr/>
        </p:nvSpPr>
        <p:spPr>
          <a:xfrm>
            <a:off x="6609397" y="741045"/>
            <a:ext cx="230505" cy="230505"/>
          </a:xfrm>
          <a:prstGeom prst="ellipse">
            <a:avLst/>
          </a:prstGeom>
          <a:solidFill>
            <a:srgbClr val="F4F1EA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363B42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8A7754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以清晰的规则，支持稳健的决策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法律咨询·服务建议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