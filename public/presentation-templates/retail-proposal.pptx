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5E333B"/>
                </a:solidFill>
                <a:latin typeface="WenQuanYi Micro Hei"/>
                <a:ea typeface="WenQuanYi Micro Hei"/>
              </a:rPr>
              <a:t>零售电商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5E333B"/>
                </a:solidFill>
                <a:latin typeface="WenQuanYi Micro Hei"/>
                <a:ea typeface="WenQuanYi Micro Hei"/>
              </a:rPr>
              <a:t>新品上架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E333B"/>
                </a:solidFill>
                <a:latin typeface="WenQuanYi Micro Hei"/>
                <a:ea typeface="WenQuanYi Micro Hei"/>
              </a:rPr>
              <a:t>让产品亮点被看见</a:t>
            </a:r>
          </a:p>
        </p:txBody>
      </p:sp>
      <p:sp>
        <p:nvSpPr>
          <p:cNvPr id="7" name="Rectangle 6"/>
          <p:cNvSpPr/>
          <p:nvPr/>
        </p:nvSpPr>
        <p:spPr>
          <a:xfrm>
            <a:off x="9159240" y="1889760"/>
            <a:ext cx="1436369" cy="1238250"/>
          </a:xfrm>
          <a:prstGeom prst="rect">
            <a:avLst/>
          </a:prstGeom>
          <a:solidFill>
            <a:srgbClr val="FFF0EC"/>
          </a:solidFill>
          <a:ln w="1905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30715" y="1369695"/>
            <a:ext cx="693420" cy="842010"/>
          </a:xfrm>
          <a:prstGeom prst="ellipse">
            <a:avLst/>
          </a:prstGeom>
          <a:noFill/>
          <a:ln w="3810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08770" y="1939289"/>
            <a:ext cx="1337310" cy="396240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82125" y="2484119"/>
            <a:ext cx="222885" cy="29718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28835" y="2484119"/>
            <a:ext cx="222885" cy="29718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75544" y="2484119"/>
            <a:ext cx="222885" cy="29718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消费洞察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商品组合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全域运营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0EC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E333B"/>
                </a:solidFill>
                <a:latin typeface="WenQuanYi Micro Hei"/>
                <a:ea typeface="WenQuanYi Micro Hei"/>
              </a:rPr>
              <a:t>零售电商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E333B"/>
                </a:solidFill>
                <a:latin typeface="WenQuanYi Micro Hei"/>
                <a:ea typeface="WenQuanYi Micro Hei"/>
              </a:rPr>
              <a:t>让产品亮点被看见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448050" cy="3476625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2500" y="2486025"/>
            <a:ext cx="619125" cy="619125"/>
          </a:xfrm>
          <a:prstGeom prst="ellipse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E333B"/>
                </a:solidFill>
                <a:latin typeface="WenQuanYi Micro Hei"/>
                <a:ea typeface="WenQuanYi Micro Hei"/>
              </a:rPr>
              <a:t>消费洞察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描述人群画像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与购买场景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5334000"/>
            <a:ext cx="2914650" cy="0"/>
          </a:xfrm>
          <a:prstGeom prst="line">
            <a:avLst/>
          </a:prstGeom>
          <a:ln w="19050">
            <a:solidFill>
              <a:srgbClr val="CA6A64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228850"/>
            <a:ext cx="3448050" cy="3476625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38675" y="2486025"/>
            <a:ext cx="619125" cy="619125"/>
          </a:xfrm>
          <a:prstGeom prst="ellipse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8675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E333B"/>
                </a:solidFill>
                <a:latin typeface="WenQuanYi Micro Hei"/>
                <a:ea typeface="WenQuanYi Micro Hei"/>
              </a:rPr>
              <a:t>商品组合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75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明确核心商品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与差异卖点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38675" y="5334000"/>
            <a:ext cx="2914649" cy="0"/>
          </a:xfrm>
          <a:prstGeom prst="line">
            <a:avLst/>
          </a:prstGeom>
          <a:ln w="19050">
            <a:solidFill>
              <a:srgbClr val="CA6A64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228850"/>
            <a:ext cx="3448050" cy="3476625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4849" y="2486025"/>
            <a:ext cx="619125" cy="619125"/>
          </a:xfrm>
          <a:prstGeom prst="ellipse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4849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49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E333B"/>
                </a:solidFill>
                <a:latin typeface="WenQuanYi Micro Hei"/>
                <a:ea typeface="WenQuanYi Micro Hei"/>
              </a:rPr>
              <a:t>全域运营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849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连接渠道触达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与会员运营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4849" y="5334000"/>
            <a:ext cx="2914651" cy="0"/>
          </a:xfrm>
          <a:prstGeom prst="line">
            <a:avLst/>
          </a:prstGeom>
          <a:ln w="19050">
            <a:solidFill>
              <a:srgbClr val="CA6A64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0EC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333B"/>
                </a:solidFill>
                <a:latin typeface="WenQuanYi Micro Hei"/>
                <a:ea typeface="WenQuanYi Micro Hei"/>
              </a:rPr>
              <a:t>OPEN OFFICE  /  零售电商·新品上架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333B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44012" y="1762125"/>
            <a:ext cx="1381125" cy="1190625"/>
          </a:xfrm>
          <a:prstGeom prst="rect">
            <a:avLst/>
          </a:prstGeom>
          <a:solidFill>
            <a:srgbClr val="FFF0EC"/>
          </a:solidFill>
          <a:ln w="1905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1262062"/>
            <a:ext cx="666750" cy="809625"/>
          </a:xfrm>
          <a:prstGeom prst="ellipse">
            <a:avLst/>
          </a:prstGeom>
          <a:noFill/>
          <a:ln w="3810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91637" y="1809750"/>
            <a:ext cx="1285875" cy="381000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58325" y="2333625"/>
            <a:ext cx="214312" cy="2857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91700" y="2333625"/>
            <a:ext cx="214312" cy="2857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25075" y="2333625"/>
            <a:ext cx="214312" cy="2857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0EC"/>
                </a:solidFill>
                <a:latin typeface="WenQuanYi Micro Hei"/>
                <a:ea typeface="WenQuanYi Micro Hei"/>
              </a:rPr>
              <a:t>让每一次选择都值得期待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CA6A64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FF0EC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零售电商·新品上架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