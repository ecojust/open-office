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791956" y="2073306"/>
            <a:ext cx="1052131" cy="526066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844087" y="2073306"/>
            <a:ext cx="1052132" cy="526066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791956" y="2599372"/>
            <a:ext cx="2104263" cy="0"/>
          </a:xfrm>
          <a:prstGeom prst="line">
            <a:avLst/>
          </a:prstGeom>
          <a:ln w="38100">
            <a:solidFill>
              <a:srgbClr val="447D9C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9017412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93376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9341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45305" y="2749677"/>
            <a:ext cx="250507" cy="100203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D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42057" y="3851909"/>
            <a:ext cx="2004060" cy="17535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716803" y="4177569"/>
            <a:ext cx="2254568" cy="0"/>
          </a:xfrm>
          <a:prstGeom prst="line">
            <a:avLst/>
          </a:prstGeom>
          <a:ln w="19050">
            <a:solidFill>
              <a:srgbClr val="29425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447D9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94251"/>
                </a:solidFill>
                <a:latin typeface="WenQuanYi Micro Hei"/>
                <a:ea typeface="WenQuanYi Micro Hei"/>
              </a:rPr>
              <a:t>公共服务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94251"/>
                </a:solidFill>
                <a:latin typeface="WenQuanYi Micro Hei"/>
                <a:ea typeface="WenQuanYi Micro Hei"/>
              </a:rPr>
              <a:t>发展规划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4251"/>
                </a:solidFill>
                <a:latin typeface="WenQuanYi Micro Hei"/>
                <a:ea typeface="WenQuanYi Micro Hei"/>
              </a:rPr>
              <a:t>让公共服务更可及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447D9C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94251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7D9C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94251"/>
                </a:solidFill>
                <a:latin typeface="WenQuanYi Micro Hei"/>
                <a:ea typeface="WenQuanYi Micro Hei"/>
              </a:rPr>
              <a:t>公共服务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94251"/>
                </a:solidFill>
                <a:latin typeface="WenQuanYi Micro Hei"/>
                <a:ea typeface="WenQuanYi Micro Hei"/>
              </a:rPr>
              <a:t>让公共服务更可及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2942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EF5F8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EF5F8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EF5F8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47D9C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94251"/>
                </a:solidFill>
                <a:latin typeface="WenQuanYi Micro Hei"/>
                <a:ea typeface="WenQuanYi Micro Hei"/>
              </a:rPr>
              <a:t>公众需求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4251"/>
                </a:solidFill>
                <a:latin typeface="WenQuanYi Micro Hei"/>
                <a:ea typeface="WenQuanYi Micro Hei"/>
              </a:rPr>
              <a:t>梳理公众诉求与服务缺口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47D9C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94251"/>
                </a:solidFill>
                <a:latin typeface="WenQuanYi Micro Hei"/>
                <a:ea typeface="WenQuanYi Micro Hei"/>
              </a:rPr>
              <a:t>服务供给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4251"/>
                </a:solidFill>
                <a:latin typeface="WenQuanYi Micro Hei"/>
                <a:ea typeface="WenQuanYi Micro Hei"/>
              </a:rPr>
              <a:t>优化事项配置与办理体验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47D9C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94251"/>
                </a:solidFill>
                <a:latin typeface="WenQuanYi Micro Hei"/>
                <a:ea typeface="WenQuanYi Micro Hei"/>
              </a:rPr>
              <a:t>治理协同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4251"/>
                </a:solidFill>
                <a:latin typeface="WenQuanYi Micro Hei"/>
                <a:ea typeface="WenQuanYi Micro Hei"/>
              </a:rPr>
              <a:t>明确部门协作与评价机制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EF5F8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OPEN OFFICE  /  公共服务·发展规划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425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E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29425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4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94251"/>
                </a:solidFill>
                <a:latin typeface="WenQuanYi Micro Hei"/>
                <a:ea typeface="WenQuanYi Micro Hei"/>
              </a:rPr>
              <a:t>以细致服务，回应每一份期待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47D9C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公共服务·发展规划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