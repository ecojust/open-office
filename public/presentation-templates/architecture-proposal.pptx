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3037" y="1381125"/>
            <a:ext cx="476250" cy="1071562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336381" y="1619250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336381" y="1857374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336381" y="2095499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5824537" y="904875"/>
            <a:ext cx="547687" cy="1547812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907881" y="1143000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5907881" y="1381125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907881" y="1619250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6491287" y="1619250"/>
            <a:ext cx="428625" cy="833437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74631" y="1857375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574631" y="2095499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574631" y="2333625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038725" y="2690812"/>
            <a:ext cx="2095500" cy="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5038725" y="2595562"/>
            <a:ext cx="0" cy="19050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7134225" y="2595562"/>
            <a:ext cx="0" cy="19050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4D4440"/>
                </a:solidFill>
                <a:latin typeface="WenQuanYi Micro Hei"/>
                <a:ea typeface="WenQuanYi Micro Hei"/>
              </a:rPr>
              <a:t>建筑空间·设计提案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4D4440"/>
                </a:solidFill>
                <a:latin typeface="WenQuanYi Micro Hei"/>
                <a:ea typeface="WenQuanYi Micro Hei"/>
              </a:rPr>
              <a:t>从场地故事到空间表达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D4440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C7967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D4440"/>
                </a:solidFill>
                <a:latin typeface="WenQuanYi Micro Hei"/>
                <a:ea typeface="WenQuanYi Micro Hei"/>
              </a:rPr>
              <a:t>建筑空间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D4440"/>
                </a:solidFill>
                <a:latin typeface="WenQuanYi Micro Hei"/>
                <a:ea typeface="WenQuanYi Micro Hei"/>
              </a:rPr>
              <a:t>从场地故事到空间表达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D4440"/>
                </a:solidFill>
                <a:latin typeface="WenQuanYi Micro Hei"/>
                <a:ea typeface="WenQuanYi Micro Hei"/>
              </a:rPr>
              <a:t>场地研究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分析场地条件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与使用人群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9C7967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D4440"/>
                </a:solidFill>
                <a:latin typeface="WenQuanYi Micro Hei"/>
                <a:ea typeface="WenQuanYi Micro Hei"/>
              </a:rPr>
              <a:t>空间策略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阐明空间关系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与设计语言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9C7967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D4440"/>
                </a:solidFill>
                <a:latin typeface="WenQuanYi Micro Hei"/>
                <a:ea typeface="WenQuanYi Micro Hei"/>
              </a:rPr>
              <a:t>实施路径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明确工序衔接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与质量目标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9C7967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EB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OPEN OFFICE  /  建筑空间·设计提案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412" y="3011804"/>
            <a:ext cx="514350" cy="1157287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104423" y="3268979"/>
            <a:ext cx="334328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1104423" y="3526154"/>
            <a:ext cx="334328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104423" y="3783330"/>
            <a:ext cx="334328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631632" y="2497454"/>
            <a:ext cx="591502" cy="1671637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721643" y="2754629"/>
            <a:ext cx="41148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721643" y="3011804"/>
            <a:ext cx="41148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721643" y="3268979"/>
            <a:ext cx="41148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2351722" y="3268979"/>
            <a:ext cx="462915" cy="900112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441733" y="3526155"/>
            <a:ext cx="282893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2441733" y="3783330"/>
            <a:ext cx="282893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2441733" y="4040505"/>
            <a:ext cx="282893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782955" y="4426267"/>
            <a:ext cx="2263139" cy="0"/>
          </a:xfrm>
          <a:prstGeom prst="line">
            <a:avLst/>
          </a:prstGeom>
          <a:ln w="19050">
            <a:solidFill>
              <a:srgbClr val="F5EFEB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82955" y="4323397"/>
            <a:ext cx="0" cy="205740"/>
          </a:xfrm>
          <a:prstGeom prst="line">
            <a:avLst/>
          </a:prstGeom>
          <a:ln w="19050">
            <a:solidFill>
              <a:srgbClr val="F5EFEB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3046094" y="4323397"/>
            <a:ext cx="0" cy="205740"/>
          </a:xfrm>
          <a:prstGeom prst="line">
            <a:avLst/>
          </a:prstGeom>
          <a:ln w="19050">
            <a:solidFill>
              <a:srgbClr val="F5EFEB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4D4440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4D4440"/>
                </a:solidFill>
                <a:latin typeface="WenQuanYi Micro Hei"/>
                <a:ea typeface="WenQuanYi Micro Hei"/>
              </a:rPr>
              <a:t>让每一处空间承载更好的生活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9C7967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C7967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建筑空间·设计提案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