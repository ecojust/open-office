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4933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18613" y="2612136"/>
            <a:ext cx="2546223" cy="1583626"/>
          </a:xfrm>
          <a:prstGeom prst="rect">
            <a:avLst/>
          </a:prstGeom>
          <a:solidFill>
            <a:srgbClr val="F7EDF5"/>
          </a:solidFill>
          <a:ln w="19050">
            <a:solidFill>
              <a:srgbClr val="9B63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4922" y="2705290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04922" y="3978402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70695" y="2705290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70695" y="3978402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36467" y="2705290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36467" y="3978402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02240" y="2705290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02240" y="3978402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68012" y="2705290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68012" y="3978402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681210" y="3015805"/>
            <a:ext cx="776287" cy="403670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 flipH="1">
            <a:off x="9681210" y="3419475"/>
            <a:ext cx="776287" cy="403669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9681210" y="3015805"/>
            <a:ext cx="0" cy="807339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49334E"/>
                </a:solidFill>
                <a:latin typeface="WenQuanYi Micro Hei"/>
                <a:ea typeface="WenQuanYi Micro Hei"/>
              </a:rPr>
              <a:t>文化传媒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49334E"/>
                </a:solidFill>
                <a:latin typeface="WenQuanYi Micro Hei"/>
                <a:ea typeface="WenQuanYi Micro Hei"/>
              </a:rPr>
              <a:t>传播策略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49334E"/>
                </a:solidFill>
                <a:latin typeface="WenQuanYi Micro Hei"/>
                <a:ea typeface="WenQuanYi Micro Hei"/>
              </a:rPr>
              <a:t>让好故事遇见更多人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9334E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B639E"/>
                </a:solidFill>
                <a:latin typeface="WenQuanYi Micro Hei"/>
                <a:ea typeface="WenQuanYi Micro Hei"/>
              </a:rPr>
              <a:t>OPEN OFFICE  /  战略规划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933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9334E"/>
                </a:solidFill>
                <a:latin typeface="WenQuanYi Micro Hei"/>
                <a:ea typeface="WenQuanYi Micro Hei"/>
              </a:rPr>
              <a:t>文化传媒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让好故事遇见更多人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19325"/>
            <a:ext cx="3143250" cy="3362325"/>
          </a:xfrm>
          <a:prstGeom prst="rect">
            <a:avLst/>
          </a:prstGeom>
          <a:solidFill>
            <a:srgbClr val="4933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2543175"/>
            <a:ext cx="26098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FFFFFF"/>
                </a:solidFill>
                <a:latin typeface="WenQuanYi Micro Hei"/>
                <a:ea typeface="WenQuanYi Micro Hei"/>
              </a:rPr>
              <a:t>共同目标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90875"/>
            <a:ext cx="2609850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7EDF5"/>
                </a:solidFill>
                <a:latin typeface="WenQuanYi Micro Hei"/>
                <a:ea typeface="WenQuanYi Micro Hei"/>
              </a:rPr>
              <a:t>明确目标人群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7EDF5"/>
                </a:solidFill>
                <a:latin typeface="WenQuanYi Micro Hei"/>
                <a:ea typeface="WenQuanYi Micro Hei"/>
              </a:rPr>
              <a:t>定义成功标准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7EDF5"/>
                </a:solidFill>
                <a:latin typeface="WenQuanYi Micro Hei"/>
                <a:ea typeface="WenQuanYi Micro Hei"/>
              </a:rPr>
              <a:t>聚焦优先行动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0999" y="2257425"/>
            <a:ext cx="7315200" cy="942975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600" y="240982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9B639E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275" y="238125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9334E"/>
                </a:solidFill>
                <a:latin typeface="WenQuanYi Micro Hei"/>
                <a:ea typeface="WenQuanYi Micro Hei"/>
              </a:rPr>
              <a:t>受众洞察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275" y="276225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9334E"/>
                </a:solidFill>
                <a:latin typeface="WenQuanYi Micro Hei"/>
                <a:ea typeface="WenQuanYi Micro Hei"/>
              </a:rPr>
              <a:t>识别受众兴趣与沟通语境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0999" y="3371850"/>
            <a:ext cx="7315200" cy="942975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3524250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9B639E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275" y="3495675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9334E"/>
                </a:solidFill>
                <a:latin typeface="WenQuanYi Micro Hei"/>
                <a:ea typeface="WenQuanYi Micro Hei"/>
              </a:rPr>
              <a:t>内容主张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275" y="3876674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9334E"/>
                </a:solidFill>
                <a:latin typeface="WenQuanYi Micro Hei"/>
                <a:ea typeface="WenQuanYi Micro Hei"/>
              </a:rPr>
              <a:t>建立主题线索与创作风格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0999" y="4486275"/>
            <a:ext cx="7315200" cy="942975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9600" y="463867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9B639E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275" y="461010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9334E"/>
                </a:solidFill>
                <a:latin typeface="WenQuanYi Micro Hei"/>
                <a:ea typeface="WenQuanYi Micro Hei"/>
              </a:rPr>
              <a:t>传播渠道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275" y="499110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9334E"/>
                </a:solidFill>
                <a:latin typeface="WenQuanYi Micro Hei"/>
                <a:ea typeface="WenQuanYi Micro Hei"/>
              </a:rPr>
              <a:t>匹配渠道特点与传播节奏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7EDF5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34E"/>
                </a:solidFill>
                <a:latin typeface="WenQuanYi Micro Hei"/>
                <a:ea typeface="WenQuanYi Micro Hei"/>
              </a:rPr>
              <a:t>OPEN OFFICE  /  文化传媒·传播策略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34E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4933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36845" y="950595"/>
            <a:ext cx="1718309" cy="1068705"/>
          </a:xfrm>
          <a:prstGeom prst="rect">
            <a:avLst/>
          </a:prstGeom>
          <a:solidFill>
            <a:srgbClr val="F7EDF5"/>
          </a:solidFill>
          <a:ln w="19050">
            <a:solidFill>
              <a:srgbClr val="9B63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2575" y="1013460"/>
            <a:ext cx="167640" cy="94297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62575" y="1872615"/>
            <a:ext cx="167640" cy="94297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76900" y="1013460"/>
            <a:ext cx="167640" cy="94297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76900" y="1872615"/>
            <a:ext cx="167640" cy="94297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91225" y="1013460"/>
            <a:ext cx="167640" cy="94297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1225" y="1872615"/>
            <a:ext cx="167640" cy="94297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5550" y="1013460"/>
            <a:ext cx="167640" cy="94297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5550" y="1872615"/>
            <a:ext cx="167640" cy="94297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19875" y="1013460"/>
            <a:ext cx="167640" cy="94297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19875" y="1872615"/>
            <a:ext cx="167640" cy="94297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886450" y="1223010"/>
            <a:ext cx="523875" cy="272415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 flipH="1">
            <a:off x="5886450" y="1495425"/>
            <a:ext cx="523875" cy="272415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5886450" y="1223010"/>
            <a:ext cx="0" cy="544830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49334E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9B639E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让表达有力量，让故事有回响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文化传媒·传播策略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