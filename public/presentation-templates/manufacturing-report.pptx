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42057" y="2950083"/>
            <a:ext cx="2004060" cy="926877"/>
          </a:xfrm>
          <a:prstGeom prst="rect">
            <a:avLst/>
          </a:prstGeom>
          <a:solidFill>
            <a:srgbClr val="FFFFFF"/>
          </a:solidFill>
          <a:ln w="19050">
            <a:solidFill>
              <a:srgbClr val="3474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7311" y="2273712"/>
            <a:ext cx="325659" cy="676370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224" y="2549270"/>
            <a:ext cx="325659" cy="400811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42463" y="3225641"/>
            <a:ext cx="250507" cy="275558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68326" y="3225641"/>
            <a:ext cx="250507" cy="275558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94189" y="3225641"/>
            <a:ext cx="250507" cy="275558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20051" y="3225641"/>
            <a:ext cx="250507" cy="275558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791956" y="4127468"/>
            <a:ext cx="2129313" cy="0"/>
          </a:xfrm>
          <a:prstGeom prst="line">
            <a:avLst/>
          </a:prstGeom>
          <a:ln w="38100">
            <a:solidFill>
              <a:srgbClr val="34749B"/>
            </a:solidFill>
          </a:ln>
          <a:effectLst/>
        </p:spPr>
      </p:cxnSp>
      <p:sp>
        <p:nvSpPr>
          <p:cNvPr id="13" name="Oval 12"/>
          <p:cNvSpPr/>
          <p:nvPr/>
        </p:nvSpPr>
        <p:spPr>
          <a:xfrm>
            <a:off x="8992362" y="4002214"/>
            <a:ext cx="200405" cy="200405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93376" y="4002214"/>
            <a:ext cx="200405" cy="200405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94392" y="4002214"/>
            <a:ext cx="200405" cy="200405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95407" y="4002214"/>
            <a:ext cx="200405" cy="200405"/>
          </a:xfrm>
          <a:prstGeom prst="ellipse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34749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43B4A"/>
                </a:solidFill>
                <a:latin typeface="WenQuanYi Micro Hei"/>
                <a:ea typeface="WenQuanYi Micro Hei"/>
              </a:rPr>
              <a:t>智能制造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43B4A"/>
                </a:solidFill>
                <a:latin typeface="WenQuanYi Micro Hei"/>
                <a:ea typeface="WenQuanYi Micro Hei"/>
              </a:rPr>
              <a:t>产线复盘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43B4A"/>
                </a:solidFill>
                <a:latin typeface="WenQuanYi Micro Hei"/>
                <a:ea typeface="WenQuanYi Micro Hei"/>
              </a:rPr>
              <a:t>用现场数据驱动改善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34749B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43B4A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4749B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43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43B4A"/>
                </a:solidFill>
                <a:latin typeface="WenQuanYi Micro Hei"/>
                <a:ea typeface="WenQuanYi Micro Hei"/>
              </a:rPr>
              <a:t>智能制造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用现场数据驱动改善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3600"/>
            <a:ext cx="3448050" cy="116205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设备效率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4749B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133600"/>
            <a:ext cx="3448050" cy="116205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100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一次合格率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4749B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8150" y="2133600"/>
            <a:ext cx="3448050" cy="116205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6274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准时交付率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4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4749B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638550"/>
            <a:ext cx="5334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43B4A"/>
                </a:solidFill>
                <a:latin typeface="WenQuanYi Micro Hei"/>
                <a:ea typeface="WenQuanYi Micro Hei"/>
              </a:rPr>
              <a:t>趋势示意 · 请替换为真实数据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2950" y="5581650"/>
            <a:ext cx="5000625" cy="0"/>
          </a:xfrm>
          <a:prstGeom prst="line">
            <a:avLst/>
          </a:prstGeom>
          <a:ln w="9525">
            <a:solidFill>
              <a:srgbClr val="243B4A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952500" y="5029200"/>
            <a:ext cx="504825" cy="55245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5950" y="4743450"/>
            <a:ext cx="504825" cy="83820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4867275"/>
            <a:ext cx="504825" cy="714375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52850" y="4400550"/>
            <a:ext cx="504825" cy="1181100"/>
          </a:xfrm>
          <a:prstGeom prst="rect">
            <a:avLst/>
          </a:prstGeom>
          <a:solidFill>
            <a:srgbClr val="EAF1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6300" y="4162424"/>
            <a:ext cx="504825" cy="141922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225" y="38004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01  生产现场：补充关键观察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44100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02  设备协同：补充关键观察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50196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43B4A"/>
                </a:solidFill>
                <a:latin typeface="WenQuanYi Micro Hei"/>
                <a:ea typeface="WenQuanYi Micro Hei"/>
              </a:rPr>
              <a:t>03  质量交付：补充关键观察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AF1F6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B4A"/>
                </a:solidFill>
                <a:latin typeface="WenQuanYi Micro Hei"/>
                <a:ea typeface="WenQuanYi Micro Hei"/>
              </a:rPr>
              <a:t>OPEN OFFICE  /  智能制造·产线复盘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43B4A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3474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3474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243B4A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43B4A"/>
                </a:solidFill>
                <a:latin typeface="WenQuanYi Micro Hei"/>
                <a:ea typeface="WenQuanYi Micro Hei"/>
              </a:rPr>
              <a:t>让每一道工序创造更高价值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4749B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智能制造·产线复盘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