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72450" y="962024"/>
            <a:ext cx="3333750" cy="447675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20100" y="1209675"/>
            <a:ext cx="2838450" cy="398145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793986" y="2223611"/>
            <a:ext cx="0" cy="1528095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9217818" y="2348865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94189" y="2524220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17818" y="2749677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94189" y="2925032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217818" y="3150489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4189" y="3325844"/>
            <a:ext cx="501015" cy="27555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791956" y="3902011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791956" y="4027265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791956" y="4152519"/>
            <a:ext cx="2079212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685800" y="1333500"/>
            <a:ext cx="6838949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685800" y="1809750"/>
            <a:ext cx="7048500" cy="15935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D4B27"/>
                </a:solidFill>
                <a:latin typeface="WenQuanYi Micro Hei"/>
                <a:ea typeface="WenQuanYi Micro Hei"/>
              </a:rPr>
              <a:t>农业食品</a:t>
            </a:r>
          </a:p>
          <a:p>
            <a:pPr algn="l">
              <a:lnSpc>
                <a:spcPts val="5973"/>
              </a:lnSpc>
              <a:spcBef>
                <a:spcPts val="0"/>
              </a:spcBef>
              <a:spcAft>
                <a:spcPts val="0"/>
              </a:spcAft>
            </a:pPr>
            <a:r>
              <a:rPr sz="4425" b="0">
                <a:solidFill>
                  <a:srgbClr val="3D4B27"/>
                </a:solidFill>
                <a:latin typeface="WenQuanYi Micro Hei"/>
                <a:ea typeface="WenQuanYi Micro Hei"/>
              </a:rPr>
              <a:t>种植计划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375" y="3705224"/>
            <a:ext cx="70485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D4B27"/>
                </a:solidFill>
                <a:latin typeface="WenQuanYi Micro Hei"/>
                <a:ea typeface="WenQuanYi Micro Hei"/>
              </a:rPr>
              <a:t>顺应时节，规划每一季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4591050"/>
            <a:ext cx="6838949" cy="0"/>
          </a:xfrm>
          <a:prstGeom prst="line">
            <a:avLst/>
          </a:prstGeom>
          <a:ln w="9525">
            <a:solidFill>
              <a:srgbClr val="7C9441"/>
            </a:solidFill>
          </a:ln>
          <a:effectLst/>
        </p:spPr>
      </p:cxnSp>
      <p:sp>
        <p:nvSpPr>
          <p:cNvPr id="19" name="TextBox 18"/>
          <p:cNvSpPr txBox="1"/>
          <p:nvPr/>
        </p:nvSpPr>
        <p:spPr>
          <a:xfrm>
            <a:off x="714375" y="5219700"/>
            <a:ext cx="70485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3D4B27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900" y="5429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C9441"/>
                </a:solidFill>
                <a:latin typeface="WenQuanYi Micro Hei"/>
                <a:ea typeface="WenQuanYi Micro Hei"/>
              </a:rPr>
              <a:t>OPEN OFFICE  /  计划与路线图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3D4B27"/>
                </a:solidFill>
                <a:latin typeface="WenQuanYi Micro Hei"/>
                <a:ea typeface="WenQuanYi Micro Hei"/>
              </a:rPr>
              <a:t>农业食品 / 阶段目标与交付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顺应时节，规划每一季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23975" y="3067050"/>
            <a:ext cx="9477375" cy="0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8" name="Oval 7"/>
          <p:cNvSpPr/>
          <p:nvPr/>
        </p:nvSpPr>
        <p:spPr>
          <a:xfrm>
            <a:off x="1800225" y="2657475"/>
            <a:ext cx="819150" cy="8191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22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D4B27"/>
                </a:solidFill>
                <a:latin typeface="WenQuanYi Micro Hei"/>
                <a:ea typeface="WenQuanYi Micro Hei"/>
              </a:rPr>
              <a:t>近期 / 夯实基础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781425"/>
            <a:ext cx="3448050" cy="17526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育种培育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0" y="2657475"/>
            <a:ext cx="819150" cy="8191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D4B27"/>
                </a:solidFill>
                <a:latin typeface="WenQuanYi Micro Hei"/>
                <a:ea typeface="WenQuanYi Micro Hei"/>
              </a:rPr>
              <a:t>中期 / 验证推进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1975" y="3781425"/>
            <a:ext cx="3448050" cy="17526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00575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田间管理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0100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sp>
        <p:nvSpPr>
          <p:cNvPr id="20" name="Oval 19"/>
          <p:cNvSpPr/>
          <p:nvPr/>
        </p:nvSpPr>
        <p:spPr>
          <a:xfrm>
            <a:off x="9172575" y="2657475"/>
            <a:ext cx="819150" cy="819150"/>
          </a:xfrm>
          <a:prstGeom prst="ellipse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72575" y="2867025"/>
            <a:ext cx="819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3399" y="2190750"/>
            <a:ext cx="3257550" cy="37242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28"/>
              </a:lnSpc>
              <a:spcBef>
                <a:spcPts val="0"/>
              </a:spcBef>
              <a:spcAft>
                <a:spcPts val="0"/>
              </a:spcAft>
            </a:pPr>
            <a:r>
              <a:rPr sz="1725" b="1">
                <a:solidFill>
                  <a:srgbClr val="3D4B27"/>
                </a:solidFill>
                <a:latin typeface="WenQuanYi Micro Hei"/>
                <a:ea typeface="WenQuanYi Micro Hei"/>
              </a:rPr>
              <a:t>远期 / 持续优化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58150" y="3781425"/>
            <a:ext cx="3448050" cy="1752600"/>
          </a:xfrm>
          <a:prstGeom prst="rect">
            <a:avLst/>
          </a:prstGeom>
          <a:solidFill>
            <a:srgbClr val="F4F6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6750" y="4019549"/>
            <a:ext cx="29908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3D4B27"/>
                </a:solidFill>
                <a:latin typeface="WenQuanYi Micro Hei"/>
                <a:ea typeface="WenQuanYi Micro Hei"/>
              </a:rPr>
              <a:t>采收溯源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6274" y="4543425"/>
            <a:ext cx="2952750" cy="7362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关键交付：待填写</a:t>
            </a:r>
          </a:p>
          <a:p>
            <a:pPr algn="l">
              <a:lnSpc>
                <a:spcPts val="2598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3D4B27"/>
                </a:solidFill>
                <a:latin typeface="WenQuanYi Micro Hei"/>
                <a:ea typeface="WenQuanYi Micro Hei"/>
              </a:rPr>
              <a:t>负责人 / 完成日期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4F6E8"/>
            </a:solidFill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OPEN OFFICE  /  农业食品·种植计划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D4B27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D4B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7C94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9886950" y="1309687"/>
            <a:ext cx="0" cy="1452563"/>
          </a:xfrm>
          <a:prstGeom prst="line">
            <a:avLst/>
          </a:prstGeom>
          <a:ln w="38100">
            <a:solidFill>
              <a:srgbClr val="7C9441"/>
            </a:solidFill>
          </a:ln>
          <a:effectLst/>
        </p:spPr>
      </p:cxnSp>
      <p:sp>
        <p:nvSpPr>
          <p:cNvPr id="6" name="Oval 5"/>
          <p:cNvSpPr/>
          <p:nvPr/>
        </p:nvSpPr>
        <p:spPr>
          <a:xfrm>
            <a:off x="9339262" y="1428750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82200" y="1595437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39262" y="1809750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82200" y="1976437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339262" y="2190750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82200" y="2357437"/>
            <a:ext cx="476250" cy="261937"/>
          </a:xfrm>
          <a:prstGeom prst="ellipse">
            <a:avLst/>
          </a:prstGeom>
          <a:solidFill>
            <a:srgbClr val="F4F6E8"/>
          </a:solidFill>
          <a:ln w="19050">
            <a:solidFill>
              <a:srgbClr val="7C94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934450" y="2905125"/>
            <a:ext cx="1976437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8934450" y="3024187"/>
            <a:ext cx="1976437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934450" y="3143250"/>
            <a:ext cx="1976437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F4F6E8"/>
                </a:solidFill>
                <a:latin typeface="WenQuanYi Micro Hei"/>
                <a:ea typeface="WenQuanYi Micro Hei"/>
              </a:rPr>
              <a:t>一份耕耘，连接美好生活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7C9441"/>
            </a:solidFill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F4F6E8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农业食品·种植计划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