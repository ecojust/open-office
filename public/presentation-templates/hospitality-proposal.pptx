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餐饮服务·菜单提案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73F2C"/>
                </a:solidFill>
                <a:latin typeface="WenQuanYi Micro Hei"/>
                <a:ea typeface="WenQuanYi Micro Hei"/>
              </a:rPr>
              <a:t>把每一道用心端上餐桌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D703B"/>
                </a:solidFill>
                <a:latin typeface="WenQuanYi Micro Hei"/>
                <a:ea typeface="WenQuanYi Micro Hei"/>
              </a:rPr>
              <a:t>01  客群定位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D703B"/>
                </a:solidFill>
                <a:latin typeface="WenQuanYi Micro Hei"/>
                <a:ea typeface="WenQuanYi Micro Hei"/>
              </a:rPr>
              <a:t>02  产品出品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D703B"/>
                </a:solidFill>
                <a:latin typeface="WenQuanYi Micro Hei"/>
                <a:ea typeface="WenQuanYi Micro Hei"/>
              </a:rPr>
              <a:t>03  门店服务</a:t>
            </a:r>
          </a:p>
        </p:txBody>
      </p:sp>
      <p:sp>
        <p:nvSpPr>
          <p:cNvPr id="10" name="Oval 9"/>
          <p:cNvSpPr/>
          <p:nvPr/>
        </p:nvSpPr>
        <p:spPr>
          <a:xfrm>
            <a:off x="9074658" y="3463575"/>
            <a:ext cx="1529619" cy="1529619"/>
          </a:xfrm>
          <a:prstGeom prst="ellipse">
            <a:avLst/>
          </a:prstGeom>
          <a:solidFill>
            <a:srgbClr val="FFF5E9"/>
          </a:solidFill>
          <a:ln w="28575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05544" y="3694461"/>
            <a:ext cx="1067847" cy="1067847"/>
          </a:xfrm>
          <a:prstGeom prst="ellipse">
            <a:avLst/>
          </a:prstGeom>
          <a:noFill/>
          <a:ln w="19050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728329" y="3405854"/>
            <a:ext cx="0" cy="1875949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584025" y="3261550"/>
            <a:ext cx="0" cy="721519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728329" y="3261550"/>
            <a:ext cx="0" cy="721519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8872632" y="3261550"/>
            <a:ext cx="0" cy="721519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8584025" y="3983069"/>
            <a:ext cx="288607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921746" y="3319272"/>
            <a:ext cx="0" cy="1962531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0748581" y="3319272"/>
            <a:ext cx="0" cy="923544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0748581" y="4242816"/>
            <a:ext cx="173165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73F2C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73F2C"/>
                </a:solidFill>
                <a:latin typeface="WenQuanYi Micro Hei"/>
                <a:ea typeface="WenQuanYi Micro Hei"/>
              </a:rPr>
              <a:t>餐饮服务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73F2C"/>
                </a:solidFill>
                <a:latin typeface="WenQuanYi Micro Hei"/>
                <a:ea typeface="WenQuanYi Micro Hei"/>
              </a:rPr>
              <a:t>把每一道用心端上餐桌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448050" cy="3476625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2500" y="2486025"/>
            <a:ext cx="619125" cy="619125"/>
          </a:xfrm>
          <a:prstGeom prst="ellipse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73F2C"/>
                </a:solidFill>
                <a:latin typeface="WenQuanYi Micro Hei"/>
                <a:ea typeface="WenQuanYi Micro Hei"/>
              </a:rPr>
              <a:t>客群定位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分析就餐场景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与顾客偏好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5334000"/>
            <a:ext cx="2914650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228850"/>
            <a:ext cx="3448050" cy="3476625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8675" y="2486025"/>
            <a:ext cx="619125" cy="619125"/>
          </a:xfrm>
          <a:prstGeom prst="ellipse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8675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73F2C"/>
                </a:solidFill>
                <a:latin typeface="WenQuanYi Micro Hei"/>
                <a:ea typeface="WenQuanYi Micro Hei"/>
              </a:rPr>
              <a:t>产品出品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设计菜品结构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与出品标准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38675" y="5334000"/>
            <a:ext cx="2914649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228850"/>
            <a:ext cx="3448050" cy="3476625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4849" y="2486025"/>
            <a:ext cx="619125" cy="619125"/>
          </a:xfrm>
          <a:prstGeom prst="ellipse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4849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49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73F2C"/>
                </a:solidFill>
                <a:latin typeface="WenQuanYi Micro Hei"/>
                <a:ea typeface="WenQuanYi Micro Hei"/>
              </a:rPr>
              <a:t>门店服务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49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建立人员分工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73F2C"/>
                </a:solidFill>
                <a:latin typeface="WenQuanYi Micro Hei"/>
                <a:ea typeface="WenQuanYi Micro Hei"/>
              </a:rPr>
              <a:t>与服务节奏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4849" y="5334000"/>
            <a:ext cx="2914651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5E9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73F2C"/>
                </a:solidFill>
                <a:latin typeface="WenQuanYi Micro Hei"/>
                <a:ea typeface="WenQuanYi Micro Hei"/>
              </a:rPr>
              <a:t>OPEN OFFICE  /  餐饮服务·菜单提案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73F2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51170" y="887729"/>
            <a:ext cx="1110615" cy="1110615"/>
          </a:xfrm>
          <a:prstGeom prst="ellipse">
            <a:avLst/>
          </a:prstGeom>
          <a:solidFill>
            <a:srgbClr val="FFF5E9"/>
          </a:solidFill>
          <a:ln w="28575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18810" y="1055370"/>
            <a:ext cx="775335" cy="775335"/>
          </a:xfrm>
          <a:prstGeom prst="ellipse">
            <a:avLst/>
          </a:prstGeom>
          <a:noFill/>
          <a:ln w="19050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299710" y="845819"/>
            <a:ext cx="0" cy="1362076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194934" y="741045"/>
            <a:ext cx="0" cy="523875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299710" y="741045"/>
            <a:ext cx="0" cy="523875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404485" y="741045"/>
            <a:ext cx="0" cy="523875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5194934" y="1264920"/>
            <a:ext cx="209551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6892290" y="782955"/>
            <a:ext cx="0" cy="1424940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766559" y="782955"/>
            <a:ext cx="0" cy="67056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6766559" y="1453515"/>
            <a:ext cx="125731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573F2C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BD703B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把日常滋味，做成值得回来的理由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餐饮服务·菜单提案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