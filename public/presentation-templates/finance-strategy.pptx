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867775" y="-685800"/>
            <a:ext cx="4095750" cy="4095750"/>
          </a:xfrm>
          <a:prstGeom prst="ellipse">
            <a:avLst/>
          </a:prstGeom>
          <a:solidFill>
            <a:srgbClr val="F6F2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14425" y="4410075"/>
            <a:ext cx="3381375" cy="3381375"/>
          </a:xfrm>
          <a:prstGeom prst="ellipse">
            <a:avLst/>
          </a:prstGeom>
          <a:solidFill>
            <a:srgbClr val="F6F2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229225" y="1928812"/>
            <a:ext cx="333375" cy="571500"/>
          </a:xfrm>
          <a:prstGeom prst="rect">
            <a:avLst/>
          </a:prstGeom>
          <a:solidFill>
            <a:srgbClr val="F6F2E8"/>
          </a:solidFill>
          <a:ln w="19050">
            <a:solidFill>
              <a:srgbClr val="AB854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824537" y="1595437"/>
            <a:ext cx="333375" cy="904875"/>
          </a:xfrm>
          <a:prstGeom prst="rect">
            <a:avLst/>
          </a:prstGeom>
          <a:solidFill>
            <a:srgbClr val="F6F2E8"/>
          </a:solidFill>
          <a:ln w="19050">
            <a:solidFill>
              <a:srgbClr val="AB854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19850" y="1166812"/>
            <a:ext cx="333375" cy="1333500"/>
          </a:xfrm>
          <a:prstGeom prst="rect">
            <a:avLst/>
          </a:prstGeom>
          <a:solidFill>
            <a:srgbClr val="F6F2E8"/>
          </a:solidFill>
          <a:ln w="19050">
            <a:solidFill>
              <a:srgbClr val="AB854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 flipV="1">
            <a:off x="5181600" y="1309687"/>
            <a:ext cx="642937" cy="238125"/>
          </a:xfrm>
          <a:prstGeom prst="line">
            <a:avLst/>
          </a:prstGeom>
          <a:ln w="38100">
            <a:solidFill>
              <a:srgbClr val="AB8540"/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>
            <a:off x="5824537" y="1309687"/>
            <a:ext cx="452438" cy="142875"/>
          </a:xfrm>
          <a:prstGeom prst="line">
            <a:avLst/>
          </a:prstGeom>
          <a:ln w="38100">
            <a:solidFill>
              <a:srgbClr val="AB8540"/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 flipV="1">
            <a:off x="6276975" y="857250"/>
            <a:ext cx="690562" cy="595312"/>
          </a:xfrm>
          <a:prstGeom prst="line">
            <a:avLst/>
          </a:prstGeom>
          <a:ln w="38100">
            <a:solidFill>
              <a:srgbClr val="AB8540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>
            <a:off x="6610350" y="857250"/>
            <a:ext cx="357187" cy="0"/>
          </a:xfrm>
          <a:prstGeom prst="line">
            <a:avLst/>
          </a:prstGeom>
          <a:ln w="38100">
            <a:solidFill>
              <a:srgbClr val="AB8540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>
            <a:off x="6967537" y="857250"/>
            <a:ext cx="0" cy="357187"/>
          </a:xfrm>
          <a:prstGeom prst="line">
            <a:avLst/>
          </a:prstGeom>
          <a:ln w="38100">
            <a:solidFill>
              <a:srgbClr val="AB8540"/>
            </a:solidFill>
          </a:ln>
          <a:effectLst/>
        </p:spPr>
      </p:cxnSp>
      <p:sp>
        <p:nvSpPr>
          <p:cNvPr id="13" name="TextBox 12"/>
          <p:cNvSpPr txBox="1"/>
          <p:nvPr/>
        </p:nvSpPr>
        <p:spPr>
          <a:xfrm>
            <a:off x="1143000" y="3095625"/>
            <a:ext cx="9906000" cy="85820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366"/>
              </a:lnSpc>
              <a:spcBef>
                <a:spcPts val="0"/>
              </a:spcBef>
              <a:spcAft>
                <a:spcPts val="0"/>
              </a:spcAft>
            </a:pPr>
            <a:r>
              <a:rPr sz="3975" b="1">
                <a:solidFill>
                  <a:srgbClr val="263A53"/>
                </a:solidFill>
                <a:latin typeface="WenQuanYi Micro Hei"/>
                <a:ea typeface="WenQuanYi Micro Hei"/>
              </a:rPr>
              <a:t>金融服务·年度策略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038600"/>
            <a:ext cx="990600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0">
                <a:solidFill>
                  <a:srgbClr val="263A53"/>
                </a:solidFill>
                <a:latin typeface="WenQuanYi Micro Hei"/>
                <a:ea typeface="WenQuanYi Micro Hei"/>
              </a:rPr>
              <a:t>稳健经营，持续创造价值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29275" y="4791075"/>
            <a:ext cx="933449" cy="47625"/>
          </a:xfrm>
          <a:prstGeom prst="rect">
            <a:avLst/>
          </a:prstGeom>
          <a:solidFill>
            <a:srgbClr val="AB8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5448300"/>
            <a:ext cx="9906000" cy="3076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63A53"/>
                </a:solidFill>
                <a:latin typeface="WenQuanYi Micro Hei"/>
                <a:ea typeface="WenQuanYi Micro Hei"/>
              </a:rPr>
              <a:t>汇报人：你的名字  /  日期：20XX.XX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900" y="542925"/>
            <a:ext cx="9525000" cy="256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AB8540"/>
                </a:solidFill>
                <a:latin typeface="WenQuanYi Micro Hei"/>
                <a:ea typeface="WenQuanYi Micro Hei"/>
              </a:rPr>
              <a:t>OPEN OFFICE  /  战略规划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71500"/>
            <a:ext cx="361950" cy="66675"/>
          </a:xfrm>
          <a:prstGeom prst="rect">
            <a:avLst/>
          </a:prstGeom>
          <a:solidFill>
            <a:srgbClr val="AB8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5375" y="571500"/>
            <a:ext cx="114300" cy="66675"/>
          </a:xfrm>
          <a:prstGeom prst="rect">
            <a:avLst/>
          </a:prstGeom>
          <a:solidFill>
            <a:srgbClr val="263A5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876300"/>
            <a:ext cx="10820400" cy="6962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53"/>
              </a:lnSpc>
              <a:spcBef>
                <a:spcPts val="0"/>
              </a:spcBef>
              <a:spcAft>
                <a:spcPts val="0"/>
              </a:spcAft>
            </a:pPr>
            <a:r>
              <a:rPr sz="3225" b="1">
                <a:solidFill>
                  <a:srgbClr val="263A53"/>
                </a:solidFill>
                <a:latin typeface="WenQuanYi Micro Hei"/>
                <a:ea typeface="WenQuanYi Micro Hei"/>
              </a:rPr>
              <a:t>金融服务 / 从方向到行动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375" y="1495425"/>
            <a:ext cx="10668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63A53"/>
                </a:solidFill>
                <a:latin typeface="WenQuanYi Micro Hei"/>
                <a:ea typeface="WenQuanYi Micro Hei"/>
              </a:rPr>
              <a:t>稳健经营，持续创造价值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276475"/>
            <a:ext cx="3448050" cy="2647950"/>
          </a:xfrm>
          <a:prstGeom prst="rect">
            <a:avLst/>
          </a:prstGeom>
          <a:solidFill>
            <a:srgbClr val="F6F2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276475"/>
            <a:ext cx="3448050" cy="57150"/>
          </a:xfrm>
          <a:prstGeom prst="rect">
            <a:avLst/>
          </a:prstGeom>
          <a:solidFill>
            <a:srgbClr val="AB8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925" y="2609850"/>
            <a:ext cx="295275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63A53"/>
                </a:solidFill>
                <a:latin typeface="WenQuanYi Micro Hei"/>
                <a:ea typeface="WenQuanYi Micro Hei"/>
              </a:rPr>
              <a:t>客户洞察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219450"/>
            <a:ext cx="2952750" cy="7677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63A53"/>
                </a:solidFill>
                <a:latin typeface="WenQuanYi Micro Hei"/>
                <a:ea typeface="WenQuanYi Micro Hei"/>
              </a:rPr>
              <a:t>分析客户目标</a:t>
            </a:r>
          </a:p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63A53"/>
                </a:solidFill>
                <a:latin typeface="WenQuanYi Micro Hei"/>
                <a:ea typeface="WenQuanYi Micro Hei"/>
              </a:rPr>
              <a:t>与资金需求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4352925"/>
            <a:ext cx="2952750" cy="2819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B8540"/>
                </a:solidFill>
                <a:latin typeface="WenQuanYi Micro Hei"/>
                <a:ea typeface="WenQuanYi Micro Hei"/>
              </a:rPr>
              <a:t>优先事项 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71975" y="2276475"/>
            <a:ext cx="3448050" cy="2647950"/>
          </a:xfrm>
          <a:prstGeom prst="rect">
            <a:avLst/>
          </a:prstGeom>
          <a:solidFill>
            <a:srgbClr val="F6F2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1975" y="2276475"/>
            <a:ext cx="3448050" cy="57150"/>
          </a:xfrm>
          <a:prstGeom prst="rect">
            <a:avLst/>
          </a:prstGeom>
          <a:solidFill>
            <a:srgbClr val="AB8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0100" y="2609850"/>
            <a:ext cx="295275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63A53"/>
                </a:solidFill>
                <a:latin typeface="WenQuanYi Micro Hei"/>
                <a:ea typeface="WenQuanYi Micro Hei"/>
              </a:rPr>
              <a:t>资产配置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0100" y="3219450"/>
            <a:ext cx="2952750" cy="7677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63A53"/>
                </a:solidFill>
                <a:latin typeface="WenQuanYi Micro Hei"/>
                <a:ea typeface="WenQuanYi Micro Hei"/>
              </a:rPr>
              <a:t>阐明服务结构</a:t>
            </a:r>
          </a:p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63A53"/>
                </a:solidFill>
                <a:latin typeface="WenQuanYi Micro Hei"/>
                <a:ea typeface="WenQuanYi Micro Hei"/>
              </a:rPr>
              <a:t>与适配逻辑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0100" y="4352925"/>
            <a:ext cx="2952750" cy="2819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B8540"/>
                </a:solidFill>
                <a:latin typeface="WenQuanYi Micro Hei"/>
                <a:ea typeface="WenQuanYi Micro Hei"/>
              </a:rPr>
              <a:t>优先事项 02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58150" y="2276475"/>
            <a:ext cx="3448050" cy="2647950"/>
          </a:xfrm>
          <a:prstGeom prst="rect">
            <a:avLst/>
          </a:prstGeom>
          <a:solidFill>
            <a:srgbClr val="F6F2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58150" y="2276475"/>
            <a:ext cx="3448050" cy="57150"/>
          </a:xfrm>
          <a:prstGeom prst="rect">
            <a:avLst/>
          </a:prstGeom>
          <a:solidFill>
            <a:srgbClr val="AB8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6274" y="2609850"/>
            <a:ext cx="295275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63A53"/>
                </a:solidFill>
                <a:latin typeface="WenQuanYi Micro Hei"/>
                <a:ea typeface="WenQuanYi Micro Hei"/>
              </a:rPr>
              <a:t>风险管理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6274" y="3219450"/>
            <a:ext cx="2952750" cy="7677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63A53"/>
                </a:solidFill>
                <a:latin typeface="WenQuanYi Micro Hei"/>
                <a:ea typeface="WenQuanYi Micro Hei"/>
              </a:rPr>
              <a:t>识别风险边界</a:t>
            </a:r>
          </a:p>
          <a:p>
            <a:pPr algn="l">
              <a:lnSpc>
                <a:spcPts val="2722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63A53"/>
                </a:solidFill>
                <a:latin typeface="WenQuanYi Micro Hei"/>
                <a:ea typeface="WenQuanYi Micro Hei"/>
              </a:rPr>
              <a:t>与监测机制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6274" y="4352925"/>
            <a:ext cx="2952750" cy="2819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AB8540"/>
                </a:solidFill>
                <a:latin typeface="WenQuanYi Micro Hei"/>
                <a:ea typeface="WenQuanYi Micro Hei"/>
              </a:rPr>
              <a:t>优先事项 03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5191125"/>
            <a:ext cx="10820400" cy="466724"/>
          </a:xfrm>
          <a:prstGeom prst="rect">
            <a:avLst/>
          </a:prstGeom>
          <a:solidFill>
            <a:srgbClr val="263A5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5350" y="5248275"/>
            <a:ext cx="10401300" cy="3724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FFFFFF"/>
                </a:solidFill>
                <a:latin typeface="WenQuanYi Micro Hei"/>
                <a:ea typeface="WenQuanYi Micro Hei"/>
              </a:rPr>
              <a:t>共同基础：目标一致  ·  资源协同  ·  定期复盘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85800" y="6200775"/>
            <a:ext cx="10820400" cy="0"/>
          </a:xfrm>
          <a:prstGeom prst="line">
            <a:avLst/>
          </a:prstGeom>
          <a:ln w="9525">
            <a:solidFill>
              <a:srgbClr val="F6F2E8"/>
            </a:solidFill>
          </a:ln>
          <a:effectLst/>
        </p:spPr>
      </p:cxnSp>
      <p:sp>
        <p:nvSpPr>
          <p:cNvPr id="25" name="TextBox 24"/>
          <p:cNvSpPr txBox="1"/>
          <p:nvPr/>
        </p:nvSpPr>
        <p:spPr>
          <a:xfrm>
            <a:off x="685800" y="6334125"/>
            <a:ext cx="762000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63A53"/>
                </a:solidFill>
                <a:latin typeface="WenQuanYi Micro Hei"/>
                <a:ea typeface="WenQuanYi Micro Hei"/>
              </a:rPr>
              <a:t>OPEN OFFICE  /  金融服务·年度策略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39450" y="6334125"/>
            <a:ext cx="66675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63A53"/>
                </a:solidFill>
                <a:latin typeface="WenQuanYi Micro Hei"/>
                <a:ea typeface="WenQuanYi Micro Hei"/>
              </a:rP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90949" cy="6858000"/>
          </a:xfrm>
          <a:prstGeom prst="rect">
            <a:avLst/>
          </a:prstGeom>
          <a:solidFill>
            <a:srgbClr val="263A5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88695" y="3603307"/>
            <a:ext cx="360045" cy="617219"/>
          </a:xfrm>
          <a:prstGeom prst="rect">
            <a:avLst/>
          </a:prstGeom>
          <a:solidFill>
            <a:srgbClr val="F6F2E8"/>
          </a:solidFill>
          <a:ln w="19050">
            <a:solidFill>
              <a:srgbClr val="AB854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31632" y="3243262"/>
            <a:ext cx="360045" cy="977264"/>
          </a:xfrm>
          <a:prstGeom prst="rect">
            <a:avLst/>
          </a:prstGeom>
          <a:solidFill>
            <a:srgbClr val="F6F2E8"/>
          </a:solidFill>
          <a:ln w="19050">
            <a:solidFill>
              <a:srgbClr val="AB854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74570" y="2780347"/>
            <a:ext cx="360045" cy="1440180"/>
          </a:xfrm>
          <a:prstGeom prst="rect">
            <a:avLst/>
          </a:prstGeom>
          <a:solidFill>
            <a:srgbClr val="F6F2E8"/>
          </a:solidFill>
          <a:ln w="19050">
            <a:solidFill>
              <a:srgbClr val="AB854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937260" y="2934652"/>
            <a:ext cx="694372" cy="257175"/>
          </a:xfrm>
          <a:prstGeom prst="line">
            <a:avLst/>
          </a:prstGeom>
          <a:ln w="38100">
            <a:solidFill>
              <a:srgbClr val="AB8540"/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>
            <a:off x="1631632" y="2934652"/>
            <a:ext cx="488633" cy="154305"/>
          </a:xfrm>
          <a:prstGeom prst="line">
            <a:avLst/>
          </a:prstGeom>
          <a:ln w="38100">
            <a:solidFill>
              <a:srgbClr val="AB8540"/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 flipV="1">
            <a:off x="2120265" y="2446020"/>
            <a:ext cx="745807" cy="642937"/>
          </a:xfrm>
          <a:prstGeom prst="line">
            <a:avLst/>
          </a:prstGeom>
          <a:ln w="38100">
            <a:solidFill>
              <a:srgbClr val="AB8540"/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>
            <a:off x="2480310" y="2446020"/>
            <a:ext cx="385762" cy="0"/>
          </a:xfrm>
          <a:prstGeom prst="line">
            <a:avLst/>
          </a:prstGeom>
          <a:ln w="38100">
            <a:solidFill>
              <a:srgbClr val="AB8540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>
            <a:off x="2866072" y="2446020"/>
            <a:ext cx="0" cy="385762"/>
          </a:xfrm>
          <a:prstGeom prst="line">
            <a:avLst/>
          </a:prstGeom>
          <a:ln w="38100">
            <a:solidFill>
              <a:srgbClr val="AB8540"/>
            </a:solidFill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4362450" y="2085975"/>
            <a:ext cx="7143750" cy="12630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897"/>
              </a:lnSpc>
              <a:spcBef>
                <a:spcPts val="0"/>
              </a:spcBef>
              <a:spcAft>
                <a:spcPts val="0"/>
              </a:spcAft>
            </a:pPr>
            <a:r>
              <a:rPr sz="5850" b="1">
                <a:solidFill>
                  <a:srgbClr val="263A53"/>
                </a:solidFill>
                <a:latin typeface="WenQuanYi Micro Hei"/>
                <a:ea typeface="WenQuanYi Micro Hei"/>
              </a:rPr>
              <a:t>Open Office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0550" y="3381375"/>
            <a:ext cx="7105650" cy="47482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38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263A53"/>
                </a:solidFill>
                <a:latin typeface="WenQuanYi Micro Hei"/>
                <a:ea typeface="WenQuanYi Micro Hei"/>
              </a:rPr>
              <a:t>让稳健成为长期价值的起点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391025" y="4648200"/>
            <a:ext cx="6991350" cy="0"/>
          </a:xfrm>
          <a:prstGeom prst="line">
            <a:avLst/>
          </a:prstGeom>
          <a:ln w="19050">
            <a:solidFill>
              <a:srgbClr val="AB8540"/>
            </a:solidFill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4400550" y="5095875"/>
            <a:ext cx="695325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AB8540"/>
                </a:solidFill>
                <a:latin typeface="WenQuanYi Micro Hei"/>
                <a:ea typeface="WenQuanYi Micro Hei"/>
              </a:rPr>
              <a:t>谢谢观看  /  期待交流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n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pen Office">
      <a:maj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ajorFont>
      <a:min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Open Office</Application>
  <PresentationFormat>Widescreen</PresentationFormat>
  <Slides>3</Slides>
  <Notes>0</Notes>
  <HiddenSlides>0</HiddenSlides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金融服务·年度策略</dc:title>
  <dc:subject>Open Office 原创演示模板</dc:subject>
  <dc:creator>Open Office</dc:creator>
  <cp:keywords/>
  <dc:description>Original editable vector artwork; generated by generate-presentation-templates.py.</dc:description>
  <cp:lastModifiedBy>Open Office</cp:lastModifiedBy>
  <cp:revision>1</cp:revision>
  <dcterms:created xsi:type="dcterms:W3CDTF">2026-01-01T00:00:00Z</dcterms:created>
  <dcterms:modified xsi:type="dcterms:W3CDTF">2026-01-01T00:00:00Z</dcterms:modified>
  <cp:category/>
</cp:coreProperties>
</file>