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72450" y="962024"/>
            <a:ext cx="3333750" cy="4476750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20100" y="1209675"/>
            <a:ext cx="2838450" cy="3981450"/>
          </a:xfrm>
          <a:prstGeom prst="rect">
            <a:avLst/>
          </a:prstGeom>
          <a:solidFill>
            <a:srgbClr val="F7ED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17006" y="2449068"/>
            <a:ext cx="2054161" cy="1277588"/>
          </a:xfrm>
          <a:prstGeom prst="rect">
            <a:avLst/>
          </a:prstGeom>
          <a:solidFill>
            <a:srgbClr val="FFFFFF"/>
          </a:solidFill>
          <a:ln w="19050">
            <a:solidFill>
              <a:srgbClr val="9B639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7311" y="2524220"/>
            <a:ext cx="200405" cy="112728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67311" y="3551301"/>
            <a:ext cx="200405" cy="112728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343072" y="2524220"/>
            <a:ext cx="200405" cy="112728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343072" y="3551301"/>
            <a:ext cx="200405" cy="112728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718833" y="2524220"/>
            <a:ext cx="200405" cy="112728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18833" y="3551301"/>
            <a:ext cx="200405" cy="112728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94595" y="2524220"/>
            <a:ext cx="200405" cy="112728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94595" y="3551301"/>
            <a:ext cx="200405" cy="112728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470356" y="2524220"/>
            <a:ext cx="200405" cy="112728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70356" y="3551301"/>
            <a:ext cx="200405" cy="112728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9593580" y="2774727"/>
            <a:ext cx="626268" cy="325660"/>
          </a:xfrm>
          <a:prstGeom prst="line">
            <a:avLst/>
          </a:prstGeom>
          <a:ln w="38100">
            <a:solidFill>
              <a:srgbClr val="9B639E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 flipH="1">
            <a:off x="9593580" y="3100387"/>
            <a:ext cx="626268" cy="325660"/>
          </a:xfrm>
          <a:prstGeom prst="line">
            <a:avLst/>
          </a:prstGeom>
          <a:ln w="38100">
            <a:solidFill>
              <a:srgbClr val="9B639E"/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9593580" y="2774727"/>
            <a:ext cx="0" cy="651320"/>
          </a:xfrm>
          <a:prstGeom prst="line">
            <a:avLst/>
          </a:prstGeom>
          <a:ln w="38100">
            <a:solidFill>
              <a:srgbClr val="9B639E"/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685800" y="1333500"/>
            <a:ext cx="6838949" cy="0"/>
          </a:xfrm>
          <a:prstGeom prst="line">
            <a:avLst/>
          </a:prstGeom>
          <a:ln w="19050">
            <a:solidFill>
              <a:srgbClr val="9B639E"/>
            </a:solidFill>
          </a:ln>
          <a:effectLst/>
        </p:spPr>
      </p:cxnSp>
      <p:sp>
        <p:nvSpPr>
          <p:cNvPr id="20" name="TextBox 19"/>
          <p:cNvSpPr txBox="1"/>
          <p:nvPr/>
        </p:nvSpPr>
        <p:spPr>
          <a:xfrm>
            <a:off x="685800" y="1809750"/>
            <a:ext cx="7048500" cy="15935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973"/>
              </a:lnSpc>
              <a:spcBef>
                <a:spcPts val="0"/>
              </a:spcBef>
              <a:spcAft>
                <a:spcPts val="0"/>
              </a:spcAft>
            </a:pPr>
            <a:r>
              <a:rPr sz="4425" b="0">
                <a:solidFill>
                  <a:srgbClr val="49334E"/>
                </a:solidFill>
                <a:latin typeface="WenQuanYi Micro Hei"/>
                <a:ea typeface="WenQuanYi Micro Hei"/>
              </a:rPr>
              <a:t>文化传媒</a:t>
            </a:r>
          </a:p>
          <a:p>
            <a:pPr algn="l">
              <a:lnSpc>
                <a:spcPts val="5973"/>
              </a:lnSpc>
              <a:spcBef>
                <a:spcPts val="0"/>
              </a:spcBef>
              <a:spcAft>
                <a:spcPts val="0"/>
              </a:spcAft>
            </a:pPr>
            <a:r>
              <a:rPr sz="4425" b="0">
                <a:solidFill>
                  <a:srgbClr val="49334E"/>
                </a:solidFill>
                <a:latin typeface="WenQuanYi Micro Hei"/>
                <a:ea typeface="WenQuanYi Micro Hei"/>
              </a:rPr>
              <a:t>内容提案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4375" y="3705224"/>
            <a:ext cx="704850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9334E"/>
                </a:solidFill>
                <a:latin typeface="WenQuanYi Micro Hei"/>
                <a:ea typeface="WenQuanYi Micro Hei"/>
              </a:rPr>
              <a:t>用创意讲述独特表达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4591050"/>
            <a:ext cx="6838949" cy="0"/>
          </a:xfrm>
          <a:prstGeom prst="line">
            <a:avLst/>
          </a:prstGeom>
          <a:ln w="9525">
            <a:solidFill>
              <a:srgbClr val="9B639E"/>
            </a:solidFill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714375" y="5219700"/>
            <a:ext cx="70485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9334E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3900" y="5429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B639E"/>
                </a:solidFill>
                <a:latin typeface="WenQuanYi Micro Hei"/>
                <a:ea typeface="WenQuanYi Micro Hei"/>
              </a:rPr>
              <a:t>OPEN OFFICE  /  产品与服务提案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4933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49334E"/>
                </a:solidFill>
                <a:latin typeface="WenQuanYi Micro Hei"/>
                <a:ea typeface="WenQuanYi Micro Hei"/>
              </a:rPr>
              <a:t>文化传媒 / 价值与方案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49334E"/>
                </a:solidFill>
                <a:latin typeface="WenQuanYi Micro Hei"/>
                <a:ea typeface="WenQuanYi Micro Hei"/>
              </a:rPr>
              <a:t>用创意讲述独特表达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28850"/>
            <a:ext cx="3867150" cy="3476625"/>
          </a:xfrm>
          <a:prstGeom prst="rect">
            <a:avLst/>
          </a:prstGeom>
          <a:solidFill>
            <a:srgbClr val="F7ED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53991" y="3194685"/>
            <a:ext cx="2225992" cy="1384458"/>
          </a:xfrm>
          <a:prstGeom prst="rect">
            <a:avLst/>
          </a:prstGeom>
          <a:solidFill>
            <a:srgbClr val="FFFFFF"/>
          </a:solidFill>
          <a:ln w="19050">
            <a:solidFill>
              <a:srgbClr val="9B639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16868" y="3276123"/>
            <a:ext cx="217170" cy="122158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16868" y="4389120"/>
            <a:ext cx="217170" cy="122158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24062" y="3276123"/>
            <a:ext cx="217170" cy="122158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24062" y="4389120"/>
            <a:ext cx="217170" cy="122158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31256" y="3276123"/>
            <a:ext cx="217170" cy="122158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31256" y="4389120"/>
            <a:ext cx="217170" cy="122158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8450" y="3276123"/>
            <a:ext cx="217170" cy="122158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38450" y="4389120"/>
            <a:ext cx="217170" cy="122158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45643" y="3276123"/>
            <a:ext cx="217170" cy="122158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45643" y="4389120"/>
            <a:ext cx="217170" cy="122158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2295525" y="3547586"/>
            <a:ext cx="678656" cy="352901"/>
          </a:xfrm>
          <a:prstGeom prst="line">
            <a:avLst/>
          </a:prstGeom>
          <a:ln w="38100">
            <a:solidFill>
              <a:srgbClr val="9B639E"/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 flipH="1">
            <a:off x="2295525" y="3900487"/>
            <a:ext cx="678656" cy="352901"/>
          </a:xfrm>
          <a:prstGeom prst="line">
            <a:avLst/>
          </a:prstGeom>
          <a:ln w="38100">
            <a:solidFill>
              <a:srgbClr val="9B639E"/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2295525" y="3547586"/>
            <a:ext cx="0" cy="705802"/>
          </a:xfrm>
          <a:prstGeom prst="line">
            <a:avLst/>
          </a:prstGeom>
          <a:ln w="38100">
            <a:solidFill>
              <a:srgbClr val="9B639E"/>
            </a:solidFill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5000625" y="2276475"/>
            <a:ext cx="6238875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49334E"/>
                </a:solidFill>
                <a:latin typeface="WenQuanYi Micro Hei"/>
                <a:ea typeface="WenQuanYi Micro Hei"/>
              </a:rPr>
              <a:t>受众洞察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19675" y="2752725"/>
            <a:ext cx="61912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49334E"/>
                </a:solidFill>
                <a:latin typeface="WenQuanYi Micro Hei"/>
                <a:ea typeface="WenQuanYi Micro Hei"/>
              </a:rPr>
              <a:t>识别受众兴趣与沟通语境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00625" y="3190875"/>
            <a:ext cx="6505575" cy="0"/>
          </a:xfrm>
          <a:prstGeom prst="line">
            <a:avLst/>
          </a:prstGeom>
          <a:ln w="9525">
            <a:solidFill>
              <a:srgbClr val="9B639E"/>
            </a:solidFill>
          </a:ln>
          <a:effectLst/>
        </p:spPr>
      </p:cxnSp>
      <p:sp>
        <p:nvSpPr>
          <p:cNvPr id="25" name="TextBox 24"/>
          <p:cNvSpPr txBox="1"/>
          <p:nvPr/>
        </p:nvSpPr>
        <p:spPr>
          <a:xfrm>
            <a:off x="5000625" y="3409950"/>
            <a:ext cx="6238875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49334E"/>
                </a:solidFill>
                <a:latin typeface="WenQuanYi Micro Hei"/>
                <a:ea typeface="WenQuanYi Micro Hei"/>
              </a:rPr>
              <a:t>内容主张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19675" y="3886200"/>
            <a:ext cx="61912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49334E"/>
                </a:solidFill>
                <a:latin typeface="WenQuanYi Micro Hei"/>
                <a:ea typeface="WenQuanYi Micro Hei"/>
              </a:rPr>
              <a:t>建立主题线索与创作风格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00625" y="4324350"/>
            <a:ext cx="6505575" cy="0"/>
          </a:xfrm>
          <a:prstGeom prst="line">
            <a:avLst/>
          </a:prstGeom>
          <a:ln w="9525">
            <a:solidFill>
              <a:srgbClr val="9B639E"/>
            </a:solidFill>
          </a:ln>
          <a:effectLst/>
        </p:spPr>
      </p:cxnSp>
      <p:sp>
        <p:nvSpPr>
          <p:cNvPr id="28" name="TextBox 27"/>
          <p:cNvSpPr txBox="1"/>
          <p:nvPr/>
        </p:nvSpPr>
        <p:spPr>
          <a:xfrm>
            <a:off x="5000625" y="4543425"/>
            <a:ext cx="6238875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49334E"/>
                </a:solidFill>
                <a:latin typeface="WenQuanYi Micro Hei"/>
                <a:ea typeface="WenQuanYi Micro Hei"/>
              </a:rPr>
              <a:t>传播渠道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19675" y="5019675"/>
            <a:ext cx="61912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49334E"/>
                </a:solidFill>
                <a:latin typeface="WenQuanYi Micro Hei"/>
                <a:ea typeface="WenQuanYi Micro Hei"/>
              </a:rPr>
              <a:t>匹配渠道特点与传播节奏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F7EDF5"/>
            </a:solidFill>
          </a:ln>
          <a:effectLst/>
        </p:spPr>
      </p:cxnSp>
      <p:sp>
        <p:nvSpPr>
          <p:cNvPr id="31" name="TextBox 30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9334E"/>
                </a:solidFill>
                <a:latin typeface="WenQuanYi Micro Hei"/>
                <a:ea typeface="WenQuanYi Micro Hei"/>
              </a:rPr>
              <a:t>OPEN OFFICE  /  文化传媒·内容提案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9334E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90949" cy="6858000"/>
          </a:xfrm>
          <a:prstGeom prst="rect">
            <a:avLst/>
          </a:prstGeom>
          <a:solidFill>
            <a:srgbClr val="4933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107" y="2703195"/>
            <a:ext cx="2108835" cy="1311592"/>
          </a:xfrm>
          <a:prstGeom prst="rect">
            <a:avLst/>
          </a:prstGeom>
          <a:solidFill>
            <a:srgbClr val="F7EDF5"/>
          </a:solidFill>
          <a:ln w="19050">
            <a:solidFill>
              <a:srgbClr val="9B639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4412" y="2780347"/>
            <a:ext cx="205740" cy="115728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412" y="3834765"/>
            <a:ext cx="205740" cy="115728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00175" y="2780347"/>
            <a:ext cx="205740" cy="115728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00175" y="3834765"/>
            <a:ext cx="205740" cy="115728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85937" y="2780347"/>
            <a:ext cx="205740" cy="115728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85937" y="3834765"/>
            <a:ext cx="205740" cy="115728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71700" y="2780347"/>
            <a:ext cx="205740" cy="115728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71700" y="3834765"/>
            <a:ext cx="205740" cy="115728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57462" y="2780347"/>
            <a:ext cx="205740" cy="115728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57462" y="3834765"/>
            <a:ext cx="205740" cy="115728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657350" y="3037522"/>
            <a:ext cx="642937" cy="334328"/>
          </a:xfrm>
          <a:prstGeom prst="line">
            <a:avLst/>
          </a:prstGeom>
          <a:ln w="38100">
            <a:solidFill>
              <a:srgbClr val="9B639E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 flipH="1">
            <a:off x="1657350" y="3371850"/>
            <a:ext cx="642937" cy="334327"/>
          </a:xfrm>
          <a:prstGeom prst="line">
            <a:avLst/>
          </a:prstGeom>
          <a:ln w="38100">
            <a:solidFill>
              <a:srgbClr val="9B639E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1657350" y="3037522"/>
            <a:ext cx="0" cy="668655"/>
          </a:xfrm>
          <a:prstGeom prst="line">
            <a:avLst/>
          </a:prstGeom>
          <a:ln w="38100">
            <a:solidFill>
              <a:srgbClr val="9B639E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4362450" y="2085975"/>
            <a:ext cx="7143750" cy="12630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897"/>
              </a:lnSpc>
              <a:spcBef>
                <a:spcPts val="0"/>
              </a:spcBef>
              <a:spcAft>
                <a:spcPts val="0"/>
              </a:spcAft>
            </a:pPr>
            <a:r>
              <a:rPr sz="5850" b="1">
                <a:solidFill>
                  <a:srgbClr val="49334E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0550" y="3381375"/>
            <a:ext cx="7105650" cy="4748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38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49334E"/>
                </a:solidFill>
                <a:latin typeface="WenQuanYi Micro Hei"/>
                <a:ea typeface="WenQuanYi Micro Hei"/>
              </a:rPr>
              <a:t>让表达有力量，让故事有回响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391025" y="4648200"/>
            <a:ext cx="6991350" cy="0"/>
          </a:xfrm>
          <a:prstGeom prst="line">
            <a:avLst/>
          </a:prstGeom>
          <a:ln w="19050">
            <a:solidFill>
              <a:srgbClr val="9B639E"/>
            </a:solidFill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4400550" y="5095875"/>
            <a:ext cx="69532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9B639E"/>
                </a:solidFill>
                <a:latin typeface="WenQuanYi Micro Hei"/>
                <a:ea typeface="WenQuanYi Micro Hei"/>
              </a:rPr>
              <a:t>谢谢观看  /  期待交流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文化传媒·内容提案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