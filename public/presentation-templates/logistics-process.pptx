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992362" y="2398966"/>
            <a:ext cx="165334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10645711" y="2398966"/>
            <a:ext cx="0" cy="1402842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8992362" y="3801808"/>
            <a:ext cx="165334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817006" y="2223611"/>
            <a:ext cx="350710" cy="35071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70356" y="2223611"/>
            <a:ext cx="350710" cy="35071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17006" y="3626453"/>
            <a:ext cx="350710" cy="35071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43072" y="2899981"/>
            <a:ext cx="851725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233D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768935" y="2899981"/>
            <a:ext cx="0" cy="601218"/>
          </a:xfrm>
          <a:prstGeom prst="line">
            <a:avLst/>
          </a:prstGeom>
          <a:ln w="19050">
            <a:solidFill>
              <a:srgbClr val="233D5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343072" y="3075336"/>
            <a:ext cx="851726" cy="0"/>
          </a:xfrm>
          <a:prstGeom prst="line">
            <a:avLst/>
          </a:prstGeom>
          <a:ln w="19050">
            <a:solidFill>
              <a:srgbClr val="233D5B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3574B4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33D5B"/>
                </a:solidFill>
                <a:latin typeface="WenQuanYi Micro Hei"/>
                <a:ea typeface="WenQuanYi Micro Hei"/>
              </a:rPr>
              <a:t>交通物流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233D5B"/>
                </a:solidFill>
                <a:latin typeface="WenQuanYi Micro Hei"/>
                <a:ea typeface="WenQuanYi Micro Hei"/>
              </a:rPr>
              <a:t>履约流程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33D5B"/>
                </a:solidFill>
                <a:latin typeface="WenQuanYi Micro Hei"/>
                <a:ea typeface="WenQuanYi Micro Hei"/>
              </a:rPr>
              <a:t>打通履约中的每个环节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3574B4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33D5B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574B4"/>
                </a:solidFill>
                <a:latin typeface="WenQuanYi Micro Hei"/>
                <a:ea typeface="WenQuanYi Micro Hei"/>
              </a:rPr>
              <a:t>OPEN OFFICE  /  流程与方法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33D5B"/>
                </a:solidFill>
                <a:latin typeface="WenQuanYi Micro Hei"/>
                <a:ea typeface="WenQuanYi Micro Hei"/>
              </a:rPr>
              <a:t>交通物流 / 关键流程与协作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打通履约中的每个环节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95575"/>
            <a:ext cx="3448050" cy="2286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3D5B"/>
                </a:solidFill>
                <a:latin typeface="WenQuanYi Micro Hei"/>
                <a:ea typeface="WenQuanYi Micro Hei"/>
              </a:rPr>
              <a:t>集货分拣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0" name="Oval 9"/>
          <p:cNvSpPr/>
          <p:nvPr/>
        </p:nvSpPr>
        <p:spPr>
          <a:xfrm>
            <a:off x="2066924" y="2095499"/>
            <a:ext cx="666750" cy="666750"/>
          </a:xfrm>
          <a:prstGeom prst="ellipse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66924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33849" y="3848099"/>
            <a:ext cx="180976" cy="0"/>
          </a:xfrm>
          <a:prstGeom prst="line">
            <a:avLst/>
          </a:prstGeom>
          <a:ln w="28575">
            <a:solidFill>
              <a:srgbClr val="3574B4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695575"/>
            <a:ext cx="3448050" cy="2286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3D5B"/>
                </a:solidFill>
                <a:latin typeface="WenQuanYi Micro Hei"/>
                <a:ea typeface="WenQuanYi Micro Hei"/>
              </a:rPr>
              <a:t>干线运输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16" name="Oval 15"/>
          <p:cNvSpPr/>
          <p:nvPr/>
        </p:nvSpPr>
        <p:spPr>
          <a:xfrm>
            <a:off x="5753100" y="2095499"/>
            <a:ext cx="666750" cy="666750"/>
          </a:xfrm>
          <a:prstGeom prst="ellipse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53100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0025" y="3848099"/>
            <a:ext cx="180975" cy="0"/>
          </a:xfrm>
          <a:prstGeom prst="line">
            <a:avLst/>
          </a:prstGeom>
          <a:ln w="28575">
            <a:solidFill>
              <a:srgbClr val="3574B4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695575"/>
            <a:ext cx="3448050" cy="2286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6274" y="2952750"/>
            <a:ext cx="297180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3D5B"/>
                </a:solidFill>
                <a:latin typeface="WenQuanYi Micro Hei"/>
                <a:ea typeface="WenQuanYi Micro Hei"/>
              </a:rPr>
              <a:t>末端交付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3552825"/>
            <a:ext cx="2971800" cy="10663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输入：填写所需信息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负责：指定协作角色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输出：明确交付标准</a:t>
            </a:r>
          </a:p>
        </p:txBody>
      </p:sp>
      <p:sp>
        <p:nvSpPr>
          <p:cNvPr id="22" name="Oval 21"/>
          <p:cNvSpPr/>
          <p:nvPr/>
        </p:nvSpPr>
        <p:spPr>
          <a:xfrm>
            <a:off x="9439275" y="2095499"/>
            <a:ext cx="666750" cy="666750"/>
          </a:xfrm>
          <a:prstGeom prst="ellipse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9275" y="2190750"/>
            <a:ext cx="6667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5381625"/>
            <a:ext cx="104775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33D5B"/>
                </a:solidFill>
                <a:latin typeface="WenQuanYi Micro Hei"/>
                <a:ea typeface="WenQuanYi Micro Hei"/>
              </a:rPr>
              <a:t>协作约定：统一标准、记录问题、明确反馈与升级路径。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AF2FB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3D5B"/>
                </a:solidFill>
                <a:latin typeface="WenQuanYi Micro Hei"/>
                <a:ea typeface="WenQuanYi Micro Hei"/>
              </a:rPr>
              <a:t>OPEN OFFICE  /  交通物流·履约流程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3D5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233D5B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233D5B"/>
                </a:solidFill>
                <a:latin typeface="WenQuanYi Micro Hei"/>
                <a:ea typeface="WenQuanYi Micro Hei"/>
              </a:rPr>
              <a:t>连接每一站，让交付更有把握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574B4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交通物流·履约流程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