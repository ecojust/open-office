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33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文化传媒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传播报告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7EDF5"/>
                </a:solidFill>
                <a:latin typeface="WenQuanYi Micro Hei"/>
                <a:ea typeface="WenQuanYi Micro Hei"/>
              </a:rPr>
              <a:t>让传播效果清晰可见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9B639E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7EDF5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9" name="Rectangle 8"/>
          <p:cNvSpPr/>
          <p:nvPr/>
        </p:nvSpPr>
        <p:spPr>
          <a:xfrm>
            <a:off x="8653843" y="2585466"/>
            <a:ext cx="2390013" cy="1486471"/>
          </a:xfrm>
          <a:prstGeom prst="rect">
            <a:avLst/>
          </a:prstGeom>
          <a:solidFill>
            <a:srgbClr val="F7EDF5"/>
          </a:solidFill>
          <a:ln w="19050">
            <a:solidFill>
              <a:srgbClr val="9B63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8722" y="2672905"/>
            <a:ext cx="233172" cy="131159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28722" y="3867912"/>
            <a:ext cx="233172" cy="131159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65920" y="2672905"/>
            <a:ext cx="233172" cy="131159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5920" y="3867912"/>
            <a:ext cx="233172" cy="131159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03117" y="2672905"/>
            <a:ext cx="233172" cy="131159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03117" y="3867912"/>
            <a:ext cx="233172" cy="131159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40314" y="2672905"/>
            <a:ext cx="233172" cy="131159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40314" y="3867912"/>
            <a:ext cx="233172" cy="131159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77512" y="2672905"/>
            <a:ext cx="233172" cy="131159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77512" y="3867912"/>
            <a:ext cx="233172" cy="131159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557385" y="2964370"/>
            <a:ext cx="728662" cy="378905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H="1">
            <a:off x="9557385" y="3343275"/>
            <a:ext cx="728662" cy="378904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9557385" y="2964370"/>
            <a:ext cx="0" cy="757809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7EDF5"/>
                </a:solidFill>
                <a:latin typeface="WenQuanYi Micro Hei"/>
                <a:ea typeface="WenQuanYi Micro Hei"/>
              </a:rPr>
              <a:t>OPEN OFFICE  /  数据与成果汇报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933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9334E"/>
                </a:solidFill>
                <a:latin typeface="WenQuanYi Micro Hei"/>
                <a:ea typeface="WenQuanYi Micro Hei"/>
              </a:rPr>
              <a:t>文化传媒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让传播效果清晰可见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33600"/>
            <a:ext cx="3448050" cy="116205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内容触达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9B639E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975" y="2133600"/>
            <a:ext cx="3448050" cy="116205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0100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互动参与率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9B639E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8150" y="2133600"/>
            <a:ext cx="3448050" cy="116205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6274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主题认知度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74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9B639E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638550"/>
            <a:ext cx="5334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9334E"/>
                </a:solidFill>
                <a:latin typeface="WenQuanYi Micro Hei"/>
                <a:ea typeface="WenQuanYi Micro Hei"/>
              </a:rPr>
              <a:t>趋势示意 · 请替换为真实数据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2950" y="5581650"/>
            <a:ext cx="5000625" cy="0"/>
          </a:xfrm>
          <a:prstGeom prst="line">
            <a:avLst/>
          </a:prstGeom>
          <a:ln w="9525">
            <a:solidFill>
              <a:srgbClr val="49334E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952500" y="5029200"/>
            <a:ext cx="504825" cy="55245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5950" y="4743450"/>
            <a:ext cx="504825" cy="83820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4867275"/>
            <a:ext cx="504825" cy="714375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52850" y="4400550"/>
            <a:ext cx="504825" cy="118110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6300" y="4162424"/>
            <a:ext cx="504825" cy="1419225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225" y="38004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01  受众洞察：补充关键观察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44100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02  内容主张：补充关键观察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50196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03  传播渠道：补充关键观察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7EDF5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34E"/>
                </a:solidFill>
                <a:latin typeface="WenQuanYi Micro Hei"/>
                <a:ea typeface="WenQuanYi Micro Hei"/>
              </a:rPr>
              <a:t>OPEN OFFICE  /  文化传媒·传播报告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34E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49334E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49334E"/>
                </a:solidFill>
                <a:latin typeface="WenQuanYi Micro Hei"/>
                <a:ea typeface="WenQuanYi Micro Hei"/>
              </a:rPr>
              <a:t>让表达有力量，让故事有回响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B639E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文化传媒·传播报告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