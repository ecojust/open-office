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2000" cy="68580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CFC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552950"/>
            <a:ext cx="12192000" cy="2305050"/>
          </a:xfrm>
          <a:prstGeom prst="rect">
            <a:avLst/>
          </a:prstGeom>
          <a:solidFill>
            <a:srgbClr val="263A5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85800" y="819150"/>
            <a:ext cx="723900" cy="66675"/>
          </a:xfrm>
          <a:prstGeom prst="rect">
            <a:avLst/>
          </a:prstGeom>
          <a:solidFill>
            <a:srgbClr val="AB854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323975"/>
            <a:ext cx="7239000" cy="161925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6075"/>
              </a:lnSpc>
              <a:spcBef>
                <a:spcPts val="0"/>
              </a:spcBef>
              <a:spcAft>
                <a:spcPts val="0"/>
              </a:spcAft>
            </a:pPr>
            <a:r>
              <a:rPr sz="4500" b="1">
                <a:solidFill>
                  <a:srgbClr val="263A53"/>
                </a:solidFill>
                <a:latin typeface="WenQuanYi Micro Hei"/>
                <a:ea typeface="WenQuanYi Micro Hei"/>
              </a:rPr>
              <a:t>金融服务</a:t>
            </a:r>
          </a:p>
          <a:p>
            <a:pPr algn="l">
              <a:lnSpc>
                <a:spcPts val="6075"/>
              </a:lnSpc>
              <a:spcBef>
                <a:spcPts val="0"/>
              </a:spcBef>
              <a:spcAft>
                <a:spcPts val="0"/>
              </a:spcAft>
            </a:pPr>
            <a:r>
              <a:rPr sz="4500" b="1">
                <a:solidFill>
                  <a:srgbClr val="263A53"/>
                </a:solidFill>
                <a:latin typeface="WenQuanYi Micro Hei"/>
                <a:ea typeface="WenQuanYi Micro Hei"/>
              </a:rPr>
              <a:t>客户方案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3425" y="3514725"/>
            <a:ext cx="7239000" cy="3886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43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263A53"/>
                </a:solidFill>
                <a:latin typeface="WenQuanYi Micro Hei"/>
                <a:ea typeface="WenQuanYi Micro Hei"/>
              </a:rPr>
              <a:t>让金融服务贴近客户</a:t>
            </a:r>
          </a:p>
        </p:txBody>
      </p:sp>
      <p:sp>
        <p:nvSpPr>
          <p:cNvPr id="7" name="Rectangle 6"/>
          <p:cNvSpPr/>
          <p:nvPr/>
        </p:nvSpPr>
        <p:spPr>
          <a:xfrm>
            <a:off x="8985885" y="2508885"/>
            <a:ext cx="346710" cy="594360"/>
          </a:xfrm>
          <a:prstGeom prst="rect">
            <a:avLst/>
          </a:prstGeom>
          <a:solidFill>
            <a:srgbClr val="F6F2E8"/>
          </a:solidFill>
          <a:ln w="19050">
            <a:solidFill>
              <a:srgbClr val="AB854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605010" y="2162175"/>
            <a:ext cx="346710" cy="941069"/>
          </a:xfrm>
          <a:prstGeom prst="rect">
            <a:avLst/>
          </a:prstGeom>
          <a:solidFill>
            <a:srgbClr val="F6F2E8"/>
          </a:solidFill>
          <a:ln w="19050">
            <a:solidFill>
              <a:srgbClr val="AB854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224135" y="1716405"/>
            <a:ext cx="346710" cy="1386840"/>
          </a:xfrm>
          <a:prstGeom prst="rect">
            <a:avLst/>
          </a:prstGeom>
          <a:solidFill>
            <a:srgbClr val="F6F2E8"/>
          </a:solidFill>
          <a:ln w="19050">
            <a:solidFill>
              <a:srgbClr val="AB854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 flipV="1">
            <a:off x="8936355" y="1864995"/>
            <a:ext cx="668655" cy="247650"/>
          </a:xfrm>
          <a:prstGeom prst="line">
            <a:avLst/>
          </a:prstGeom>
          <a:ln w="38100">
            <a:solidFill>
              <a:srgbClr val="AB8540"/>
            </a:solidFill>
          </a:ln>
          <a:effectLst/>
        </p:spPr>
      </p:cxnSp>
      <p:cxnSp>
        <p:nvCxnSpPr>
          <p:cNvPr id="11" name="Connector 10"/>
          <p:cNvCxnSpPr/>
          <p:nvPr/>
        </p:nvCxnSpPr>
        <p:spPr>
          <a:xfrm>
            <a:off x="9605010" y="1864995"/>
            <a:ext cx="470534" cy="148590"/>
          </a:xfrm>
          <a:prstGeom prst="line">
            <a:avLst/>
          </a:prstGeom>
          <a:ln w="38100">
            <a:solidFill>
              <a:srgbClr val="AB8540"/>
            </a:solidFill>
          </a:ln>
          <a:effectLst/>
        </p:spPr>
      </p:cxnSp>
      <p:cxnSp>
        <p:nvCxnSpPr>
          <p:cNvPr id="12" name="Connector 11"/>
          <p:cNvCxnSpPr/>
          <p:nvPr/>
        </p:nvCxnSpPr>
        <p:spPr>
          <a:xfrm flipV="1">
            <a:off x="10075544" y="1394460"/>
            <a:ext cx="718186" cy="619125"/>
          </a:xfrm>
          <a:prstGeom prst="line">
            <a:avLst/>
          </a:prstGeom>
          <a:ln w="38100">
            <a:solidFill>
              <a:srgbClr val="AB8540"/>
            </a:solidFill>
          </a:ln>
          <a:effectLst/>
        </p:spPr>
      </p:cxnSp>
      <p:cxnSp>
        <p:nvCxnSpPr>
          <p:cNvPr id="13" name="Connector 12"/>
          <p:cNvCxnSpPr/>
          <p:nvPr/>
        </p:nvCxnSpPr>
        <p:spPr>
          <a:xfrm>
            <a:off x="10422255" y="1394460"/>
            <a:ext cx="371475" cy="0"/>
          </a:xfrm>
          <a:prstGeom prst="line">
            <a:avLst/>
          </a:prstGeom>
          <a:ln w="38100">
            <a:solidFill>
              <a:srgbClr val="AB8540"/>
            </a:solidFill>
          </a:ln>
          <a:effectLst/>
        </p:spPr>
      </p:cxnSp>
      <p:cxnSp>
        <p:nvCxnSpPr>
          <p:cNvPr id="14" name="Connector 13"/>
          <p:cNvCxnSpPr/>
          <p:nvPr/>
        </p:nvCxnSpPr>
        <p:spPr>
          <a:xfrm>
            <a:off x="10793730" y="1394460"/>
            <a:ext cx="0" cy="371474"/>
          </a:xfrm>
          <a:prstGeom prst="line">
            <a:avLst/>
          </a:prstGeom>
          <a:ln w="38100">
            <a:solidFill>
              <a:srgbClr val="AB8540"/>
            </a:solidFill>
          </a:ln>
          <a:effectLst/>
        </p:spPr>
      </p:cxnSp>
      <p:sp>
        <p:nvSpPr>
          <p:cNvPr id="15" name="TextBox 14"/>
          <p:cNvSpPr txBox="1"/>
          <p:nvPr/>
        </p:nvSpPr>
        <p:spPr>
          <a:xfrm>
            <a:off x="742950" y="5067300"/>
            <a:ext cx="3295650" cy="3886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43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WenQuanYi Micro Hei"/>
                <a:ea typeface="WenQuanYi Micro Hei"/>
              </a:rPr>
              <a:t>01 / 客户洞察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57700" y="5067300"/>
            <a:ext cx="3295650" cy="3886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43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WenQuanYi Micro Hei"/>
                <a:ea typeface="WenQuanYi Micro Hei"/>
              </a:rPr>
              <a:t>02 / 资产配置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72450" y="5067300"/>
            <a:ext cx="3295650" cy="3886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43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WenQuanYi Micro Hei"/>
                <a:ea typeface="WenQuanYi Micro Hei"/>
              </a:rPr>
              <a:t>03 / 风险管理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3425" y="5991225"/>
            <a:ext cx="9525000" cy="3076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822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F6F2E8"/>
                </a:solidFill>
                <a:latin typeface="WenQuanYi Micro Hei"/>
                <a:ea typeface="WenQuanYi Micro Hei"/>
              </a:rPr>
              <a:t>汇报人：你的名字  /  日期：20XX.XX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CFC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571500"/>
            <a:ext cx="361950" cy="66675"/>
          </a:xfrm>
          <a:prstGeom prst="rect">
            <a:avLst/>
          </a:prstGeom>
          <a:solidFill>
            <a:srgbClr val="AB854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5375" y="571500"/>
            <a:ext cx="114300" cy="66675"/>
          </a:xfrm>
          <a:prstGeom prst="rect">
            <a:avLst/>
          </a:prstGeom>
          <a:solidFill>
            <a:srgbClr val="263A5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876300"/>
            <a:ext cx="10820400" cy="69627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4353"/>
              </a:lnSpc>
              <a:spcBef>
                <a:spcPts val="0"/>
              </a:spcBef>
              <a:spcAft>
                <a:spcPts val="0"/>
              </a:spcAft>
            </a:pPr>
            <a:r>
              <a:rPr sz="3225" b="1">
                <a:solidFill>
                  <a:srgbClr val="263A53"/>
                </a:solidFill>
                <a:latin typeface="WenQuanYi Micro Hei"/>
                <a:ea typeface="WenQuanYi Micro Hei"/>
              </a:rPr>
              <a:t>金融服务 / 价值与方案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4375" y="1495425"/>
            <a:ext cx="10668000" cy="3462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126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263A53"/>
                </a:solidFill>
                <a:latin typeface="WenQuanYi Micro Hei"/>
                <a:ea typeface="WenQuanYi Micro Hei"/>
              </a:rPr>
              <a:t>让金融服务贴近客户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2228850"/>
            <a:ext cx="3448050" cy="3476625"/>
          </a:xfrm>
          <a:prstGeom prst="rect">
            <a:avLst/>
          </a:prstGeom>
          <a:solidFill>
            <a:srgbClr val="F6F2E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52500" y="2486025"/>
            <a:ext cx="619125" cy="619125"/>
          </a:xfrm>
          <a:prstGeom prst="ellipse">
            <a:avLst/>
          </a:prstGeom>
          <a:solidFill>
            <a:srgbClr val="AB854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52500" y="2581275"/>
            <a:ext cx="619125" cy="3886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43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WenQuanYi Micro Hei"/>
                <a:ea typeface="WenQuanYi Micro He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2500" y="3371850"/>
            <a:ext cx="2914650" cy="46958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sz="2175" b="1">
                <a:solidFill>
                  <a:srgbClr val="263A53"/>
                </a:solidFill>
                <a:latin typeface="WenQuanYi Micro Hei"/>
                <a:ea typeface="WenQuanYi Micro Hei"/>
              </a:rPr>
              <a:t>客户洞察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2500" y="4000500"/>
            <a:ext cx="2914650" cy="78866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805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263A53"/>
                </a:solidFill>
                <a:latin typeface="WenQuanYi Micro Hei"/>
                <a:ea typeface="WenQuanYi Micro Hei"/>
              </a:rPr>
              <a:t>分析客户目标</a:t>
            </a:r>
          </a:p>
          <a:p>
            <a:pPr algn="l">
              <a:lnSpc>
                <a:spcPts val="2805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263A53"/>
                </a:solidFill>
                <a:latin typeface="WenQuanYi Micro Hei"/>
                <a:ea typeface="WenQuanYi Micro Hei"/>
              </a:rPr>
              <a:t>与资金需求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952500" y="5334000"/>
            <a:ext cx="2914650" cy="0"/>
          </a:xfrm>
          <a:prstGeom prst="line">
            <a:avLst/>
          </a:prstGeom>
          <a:ln w="19050">
            <a:solidFill>
              <a:srgbClr val="AB8540"/>
            </a:solidFill>
          </a:ln>
          <a:effectLst/>
        </p:spPr>
      </p:cxnSp>
      <p:sp>
        <p:nvSpPr>
          <p:cNvPr id="13" name="Rectangle 12"/>
          <p:cNvSpPr/>
          <p:nvPr/>
        </p:nvSpPr>
        <p:spPr>
          <a:xfrm>
            <a:off x="4371975" y="2228850"/>
            <a:ext cx="3448050" cy="3476625"/>
          </a:xfrm>
          <a:prstGeom prst="rect">
            <a:avLst/>
          </a:prstGeom>
          <a:solidFill>
            <a:srgbClr val="F6F2E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638675" y="2486025"/>
            <a:ext cx="619125" cy="619125"/>
          </a:xfrm>
          <a:prstGeom prst="ellipse">
            <a:avLst/>
          </a:prstGeom>
          <a:solidFill>
            <a:srgbClr val="AB854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38675" y="2581275"/>
            <a:ext cx="619125" cy="3886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43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WenQuanYi Micro Hei"/>
                <a:ea typeface="WenQuanYi Micro Hei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38675" y="3371850"/>
            <a:ext cx="2914650" cy="46958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sz="2175" b="1">
                <a:solidFill>
                  <a:srgbClr val="263A53"/>
                </a:solidFill>
                <a:latin typeface="WenQuanYi Micro Hei"/>
                <a:ea typeface="WenQuanYi Micro Hei"/>
              </a:rPr>
              <a:t>资产配置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38675" y="4000500"/>
            <a:ext cx="2914650" cy="78866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805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263A53"/>
                </a:solidFill>
                <a:latin typeface="WenQuanYi Micro Hei"/>
                <a:ea typeface="WenQuanYi Micro Hei"/>
              </a:rPr>
              <a:t>阐明服务结构</a:t>
            </a:r>
          </a:p>
          <a:p>
            <a:pPr algn="l">
              <a:lnSpc>
                <a:spcPts val="2805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263A53"/>
                </a:solidFill>
                <a:latin typeface="WenQuanYi Micro Hei"/>
                <a:ea typeface="WenQuanYi Micro Hei"/>
              </a:rPr>
              <a:t>与适配逻辑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638675" y="5334000"/>
            <a:ext cx="2914649" cy="0"/>
          </a:xfrm>
          <a:prstGeom prst="line">
            <a:avLst/>
          </a:prstGeom>
          <a:ln w="19050">
            <a:solidFill>
              <a:srgbClr val="AB8540"/>
            </a:solidFill>
          </a:ln>
          <a:effectLst/>
        </p:spPr>
      </p:cxnSp>
      <p:sp>
        <p:nvSpPr>
          <p:cNvPr id="19" name="Rectangle 18"/>
          <p:cNvSpPr/>
          <p:nvPr/>
        </p:nvSpPr>
        <p:spPr>
          <a:xfrm>
            <a:off x="8058150" y="2228850"/>
            <a:ext cx="3448050" cy="3476625"/>
          </a:xfrm>
          <a:prstGeom prst="rect">
            <a:avLst/>
          </a:prstGeom>
          <a:solidFill>
            <a:srgbClr val="F6F2E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324849" y="2486025"/>
            <a:ext cx="619125" cy="619125"/>
          </a:xfrm>
          <a:prstGeom prst="ellipse">
            <a:avLst/>
          </a:prstGeom>
          <a:solidFill>
            <a:srgbClr val="AB854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24849" y="2581275"/>
            <a:ext cx="619125" cy="3886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43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WenQuanYi Micro Hei"/>
                <a:ea typeface="WenQuanYi Micro Hei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4849" y="3371850"/>
            <a:ext cx="2914650" cy="46958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sz="2175" b="1">
                <a:solidFill>
                  <a:srgbClr val="263A53"/>
                </a:solidFill>
                <a:latin typeface="WenQuanYi Micro Hei"/>
                <a:ea typeface="WenQuanYi Micro Hei"/>
              </a:rPr>
              <a:t>风险管理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24849" y="4000500"/>
            <a:ext cx="2914650" cy="78866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805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263A53"/>
                </a:solidFill>
                <a:latin typeface="WenQuanYi Micro Hei"/>
                <a:ea typeface="WenQuanYi Micro Hei"/>
              </a:rPr>
              <a:t>识别风险边界</a:t>
            </a:r>
          </a:p>
          <a:p>
            <a:pPr algn="l">
              <a:lnSpc>
                <a:spcPts val="2805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263A53"/>
                </a:solidFill>
                <a:latin typeface="WenQuanYi Micro Hei"/>
                <a:ea typeface="WenQuanYi Micro Hei"/>
              </a:rPr>
              <a:t>与监测机制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324849" y="5334000"/>
            <a:ext cx="2914651" cy="0"/>
          </a:xfrm>
          <a:prstGeom prst="line">
            <a:avLst/>
          </a:prstGeom>
          <a:ln w="19050">
            <a:solidFill>
              <a:srgbClr val="AB8540"/>
            </a:solidFill>
          </a:ln>
          <a:effectLst/>
        </p:spPr>
      </p:cxnSp>
      <p:cxnSp>
        <p:nvCxnSpPr>
          <p:cNvPr id="25" name="Connector 24"/>
          <p:cNvCxnSpPr/>
          <p:nvPr/>
        </p:nvCxnSpPr>
        <p:spPr>
          <a:xfrm>
            <a:off x="685800" y="6200775"/>
            <a:ext cx="10820400" cy="0"/>
          </a:xfrm>
          <a:prstGeom prst="line">
            <a:avLst/>
          </a:prstGeom>
          <a:ln w="9525">
            <a:solidFill>
              <a:srgbClr val="F6F2E8"/>
            </a:solidFill>
          </a:ln>
          <a:effectLst/>
        </p:spPr>
      </p:cxnSp>
      <p:sp>
        <p:nvSpPr>
          <p:cNvPr id="26" name="TextBox 25"/>
          <p:cNvSpPr txBox="1"/>
          <p:nvPr/>
        </p:nvSpPr>
        <p:spPr>
          <a:xfrm>
            <a:off x="685800" y="6334125"/>
            <a:ext cx="7620000" cy="23050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263A53"/>
                </a:solidFill>
                <a:latin typeface="WenQuanYi Micro Hei"/>
                <a:ea typeface="WenQuanYi Micro Hei"/>
              </a:rPr>
              <a:t>OPEN OFFICE  /  金融服务·客户方案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839450" y="6334125"/>
            <a:ext cx="666750" cy="23050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263A53"/>
                </a:solidFill>
                <a:latin typeface="WenQuanYi Micro Hei"/>
                <a:ea typeface="WenQuanYi Micro Hei"/>
              </a:rPr>
              <a:t>02 / 03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CFC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943975" y="-933449"/>
            <a:ext cx="4162424" cy="4162424"/>
          </a:xfrm>
          <a:prstGeom prst="ellipse">
            <a:avLst/>
          </a:prstGeom>
          <a:solidFill>
            <a:srgbClr val="F6F2E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4686300"/>
            <a:ext cx="4048124" cy="4048124"/>
          </a:xfrm>
          <a:prstGeom prst="ellipse">
            <a:avLst/>
          </a:prstGeom>
          <a:solidFill>
            <a:srgbClr val="F6F2E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133600"/>
            <a:ext cx="9906000" cy="139255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8707"/>
              </a:lnSpc>
              <a:spcBef>
                <a:spcPts val="0"/>
              </a:spcBef>
              <a:spcAft>
                <a:spcPts val="0"/>
              </a:spcAft>
            </a:pPr>
            <a:r>
              <a:rPr sz="6450" b="1">
                <a:solidFill>
                  <a:srgbClr val="263A53"/>
                </a:solidFill>
                <a:latin typeface="WenQuanYi Micro Hei"/>
                <a:ea typeface="WenQuanYi Micro Hei"/>
              </a:rPr>
              <a:t>Open Office</a:t>
            </a:r>
          </a:p>
        </p:txBody>
      </p:sp>
      <p:sp>
        <p:nvSpPr>
          <p:cNvPr id="6" name="Rectangle 5"/>
          <p:cNvSpPr/>
          <p:nvPr/>
        </p:nvSpPr>
        <p:spPr>
          <a:xfrm>
            <a:off x="5715000" y="3438525"/>
            <a:ext cx="762000" cy="57150"/>
          </a:xfrm>
          <a:prstGeom prst="rect">
            <a:avLst/>
          </a:prstGeom>
          <a:solidFill>
            <a:srgbClr val="AB854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3981450"/>
            <a:ext cx="9906000" cy="4371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733"/>
              </a:lnSpc>
              <a:spcBef>
                <a:spcPts val="0"/>
              </a:spcBef>
              <a:spcAft>
                <a:spcPts val="0"/>
              </a:spcAft>
            </a:pPr>
            <a:r>
              <a:rPr sz="2025" b="0">
                <a:solidFill>
                  <a:srgbClr val="263A53"/>
                </a:solidFill>
                <a:latin typeface="WenQuanYi Micro Hei"/>
                <a:ea typeface="WenQuanYi Micro Hei"/>
              </a:rPr>
              <a:t>让稳健成为长期价值的起点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5324475"/>
            <a:ext cx="9906000" cy="3462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126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AB8540"/>
                </a:solidFill>
                <a:latin typeface="WenQuanYi Micro Hei"/>
                <a:ea typeface="WenQuanYi Micro Hei"/>
              </a:rPr>
              <a:t>谢谢观看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pen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pen Office">
      <a:majorFont>
        <a:latin typeface="WenQuanYi Micro Hei"/>
        <a:ea typeface="WenQuanYi Micro Hei"/>
        <a:cs typeface="WenQuanYi Micro Hei"/>
        <a:font script="Jpan" typeface="WenQuanYi Micro Hei"/>
        <a:font script="Hang" typeface="WenQuanYi Micro Hei"/>
        <a:font script="Hans" typeface="WenQuanYi Micro Hei"/>
        <a:font script="Hant" typeface="WenQuanYi Micro Hei"/>
        <a:font script="Arab" typeface="WenQuanYi Micro Hei"/>
        <a:font script="Hebr" typeface="WenQuanYi Micro Hei"/>
        <a:font script="Thai" typeface="WenQuanYi Micro Hei"/>
        <a:font script="Ethi" typeface="WenQuanYi Micro Hei"/>
        <a:font script="Beng" typeface="WenQuanYi Micro Hei"/>
        <a:font script="Gujr" typeface="WenQuanYi Micro Hei"/>
        <a:font script="Khmr" typeface="WenQuanYi Micro Hei"/>
        <a:font script="Knda" typeface="WenQuanYi Micro Hei"/>
        <a:font script="Guru" typeface="WenQuanYi Micro Hei"/>
        <a:font script="Cans" typeface="WenQuanYi Micro Hei"/>
        <a:font script="Cher" typeface="WenQuanYi Micro Hei"/>
        <a:font script="Yiii" typeface="WenQuanYi Micro Hei"/>
        <a:font script="Tibt" typeface="WenQuanYi Micro Hei"/>
        <a:font script="Thaa" typeface="WenQuanYi Micro Hei"/>
        <a:font script="Deva" typeface="WenQuanYi Micro Hei"/>
        <a:font script="Telu" typeface="WenQuanYi Micro Hei"/>
        <a:font script="Taml" typeface="WenQuanYi Micro Hei"/>
        <a:font script="Syrc" typeface="WenQuanYi Micro Hei"/>
        <a:font script="Orya" typeface="WenQuanYi Micro Hei"/>
        <a:font script="Mlym" typeface="WenQuanYi Micro Hei"/>
        <a:font script="Laoo" typeface="WenQuanYi Micro Hei"/>
        <a:font script="Sinh" typeface="WenQuanYi Micro Hei"/>
        <a:font script="Mong" typeface="WenQuanYi Micro Hei"/>
        <a:font script="Viet" typeface="WenQuanYi Micro Hei"/>
        <a:font script="Uigh" typeface="WenQuanYi Micro Hei"/>
        <a:font script="Geor" typeface="WenQuanYi Micro Hei"/>
      </a:majorFont>
      <a:minorFont>
        <a:latin typeface="WenQuanYi Micro Hei"/>
        <a:ea typeface="WenQuanYi Micro Hei"/>
        <a:cs typeface="WenQuanYi Micro Hei"/>
        <a:font script="Jpan" typeface="WenQuanYi Micro Hei"/>
        <a:font script="Hang" typeface="WenQuanYi Micro Hei"/>
        <a:font script="Hans" typeface="WenQuanYi Micro Hei"/>
        <a:font script="Hant" typeface="WenQuanYi Micro Hei"/>
        <a:font script="Arab" typeface="WenQuanYi Micro Hei"/>
        <a:font script="Hebr" typeface="WenQuanYi Micro Hei"/>
        <a:font script="Thai" typeface="WenQuanYi Micro Hei"/>
        <a:font script="Ethi" typeface="WenQuanYi Micro Hei"/>
        <a:font script="Beng" typeface="WenQuanYi Micro Hei"/>
        <a:font script="Gujr" typeface="WenQuanYi Micro Hei"/>
        <a:font script="Khmr" typeface="WenQuanYi Micro Hei"/>
        <a:font script="Knda" typeface="WenQuanYi Micro Hei"/>
        <a:font script="Guru" typeface="WenQuanYi Micro Hei"/>
        <a:font script="Cans" typeface="WenQuanYi Micro Hei"/>
        <a:font script="Cher" typeface="WenQuanYi Micro Hei"/>
        <a:font script="Yiii" typeface="WenQuanYi Micro Hei"/>
        <a:font script="Tibt" typeface="WenQuanYi Micro Hei"/>
        <a:font script="Thaa" typeface="WenQuanYi Micro Hei"/>
        <a:font script="Deva" typeface="WenQuanYi Micro Hei"/>
        <a:font script="Telu" typeface="WenQuanYi Micro Hei"/>
        <a:font script="Taml" typeface="WenQuanYi Micro Hei"/>
        <a:font script="Syrc" typeface="WenQuanYi Micro Hei"/>
        <a:font script="Orya" typeface="WenQuanYi Micro Hei"/>
        <a:font script="Mlym" typeface="WenQuanYi Micro Hei"/>
        <a:font script="Laoo" typeface="WenQuanYi Micro Hei"/>
        <a:font script="Sinh" typeface="WenQuanYi Micro Hei"/>
        <a:font script="Mong" typeface="WenQuanYi Micro Hei"/>
        <a:font script="Viet" typeface="WenQuanYi Micro Hei"/>
        <a:font script="Uigh" typeface="WenQuanYi Micro Hei"/>
        <a:font script="Geor" typeface="WenQuanYi Micro Hei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Open Office</Application>
  <PresentationFormat>Widescreen</PresentationFormat>
  <Slides>3</Slides>
  <Notes>0</Notes>
  <HiddenSlides>0</HiddenSlides>
  <AppVersion>1.0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金融服务·客户方案</dc:title>
  <dc:subject>Open Office 原创演示模板</dc:subject>
  <dc:creator>Open Office</dc:creator>
  <cp:keywords/>
  <dc:description>Original editable vector artwork; generated by generate-presentation-templates.py.</dc:description>
  <cp:lastModifiedBy>Open Office</cp:lastModifiedBy>
  <cp:revision>1</cp:revision>
  <dcterms:created xsi:type="dcterms:W3CDTF">2026-01-01T00:00:00Z</dcterms:created>
  <dcterms:modified xsi:type="dcterms:W3CDTF">2026-01-01T00:00:00Z</dcterms:modified>
  <cp:category/>
</cp:coreProperties>
</file>