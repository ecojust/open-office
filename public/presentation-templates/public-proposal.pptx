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公共服务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服务指南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EEF5F8"/>
                </a:solidFill>
                <a:latin typeface="WenQuanYi Micro Hei"/>
                <a:ea typeface="WenQuanYi Micro Hei"/>
              </a:rPr>
              <a:t>把服务事项说明白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447D9C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EF5F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624697" y="2148268"/>
            <a:ext cx="1224153" cy="612077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9848850" y="2148268"/>
            <a:ext cx="1224153" cy="612077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8624697" y="2760345"/>
            <a:ext cx="2448306" cy="0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8887015" y="2935223"/>
            <a:ext cx="291465" cy="11658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40799" y="2935223"/>
            <a:ext cx="291465" cy="11658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94582" y="2935223"/>
            <a:ext cx="291465" cy="11658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48366" y="2935223"/>
            <a:ext cx="291465" cy="11658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2990" y="4217670"/>
            <a:ext cx="2331720" cy="20402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537257" y="4596574"/>
            <a:ext cx="2623185" cy="0"/>
          </a:xfrm>
          <a:prstGeom prst="line">
            <a:avLst/>
          </a:prstGeom>
          <a:ln w="19050">
            <a:solidFill>
              <a:srgbClr val="EEF5F8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EF5F8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94251"/>
                </a:solidFill>
                <a:latin typeface="WenQuanYi Micro Hei"/>
                <a:ea typeface="WenQuanYi Micro Hei"/>
              </a:rPr>
              <a:t>公共服务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把服务事项说明白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867150" cy="3476625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426845" y="2787491"/>
            <a:ext cx="1140142" cy="570071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2566987" y="2787491"/>
            <a:ext cx="1140142" cy="570071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426845" y="3357562"/>
            <a:ext cx="2280284" cy="0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1671161" y="3520440"/>
            <a:ext cx="271462" cy="108585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86940" y="3520440"/>
            <a:ext cx="271462" cy="108585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2718" y="3520440"/>
            <a:ext cx="271462" cy="108585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18497" y="3520440"/>
            <a:ext cx="271462" cy="108585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1137" y="4714875"/>
            <a:ext cx="2171700" cy="190023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345406" y="5067776"/>
            <a:ext cx="2443162" cy="0"/>
          </a:xfrm>
          <a:prstGeom prst="line">
            <a:avLst/>
          </a:prstGeom>
          <a:ln w="19050">
            <a:solidFill>
              <a:srgbClr val="294251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5000625" y="227647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94251"/>
                </a:solidFill>
                <a:latin typeface="WenQuanYi Micro Hei"/>
                <a:ea typeface="WenQuanYi Micro Hei"/>
              </a:rPr>
              <a:t>公众需求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9675" y="275272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梳理公众诉求与服务缺口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00625" y="3190875"/>
            <a:ext cx="6505575" cy="0"/>
          </a:xfrm>
          <a:prstGeom prst="line">
            <a:avLst/>
          </a:prstGeom>
          <a:ln w="9525">
            <a:solidFill>
              <a:srgbClr val="447D9C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5000625" y="3409950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94251"/>
                </a:solidFill>
                <a:latin typeface="WenQuanYi Micro Hei"/>
                <a:ea typeface="WenQuanYi Micro Hei"/>
              </a:rPr>
              <a:t>服务供给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9675" y="3886200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优化事项配置与办理体验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00625" y="4324350"/>
            <a:ext cx="6505575" cy="0"/>
          </a:xfrm>
          <a:prstGeom prst="line">
            <a:avLst/>
          </a:prstGeom>
          <a:ln w="9525">
            <a:solidFill>
              <a:srgbClr val="447D9C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5000625" y="454342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94251"/>
                </a:solidFill>
                <a:latin typeface="WenQuanYi Micro Hei"/>
                <a:ea typeface="WenQuanYi Micro Hei"/>
              </a:rPr>
              <a:t>治理协同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9675" y="501967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明确部门协作与评价机制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EF5F8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94251"/>
                </a:solidFill>
                <a:latin typeface="WenQuanYi Micro Hei"/>
                <a:ea typeface="WenQuanYi Micro Hei"/>
              </a:rPr>
              <a:t>OPEN OFFICE  /  公共服务·服务指南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94251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8934450" y="1166812"/>
            <a:ext cx="1000125" cy="500063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34575" y="1166812"/>
            <a:ext cx="1000125" cy="500063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8934450" y="1666875"/>
            <a:ext cx="2000250" cy="0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9148762" y="1809750"/>
            <a:ext cx="238125" cy="9525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1809750"/>
            <a:ext cx="238125" cy="9525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3637" y="1809750"/>
            <a:ext cx="238125" cy="9525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06075" y="1809750"/>
            <a:ext cx="238125" cy="9525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82075" y="2857500"/>
            <a:ext cx="1905000" cy="166687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863012" y="3167062"/>
            <a:ext cx="2143125" cy="0"/>
          </a:xfrm>
          <a:prstGeom prst="line">
            <a:avLst/>
          </a:prstGeom>
          <a:ln w="19050">
            <a:solidFill>
              <a:srgbClr val="EEF5F8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EEF5F8"/>
                </a:solidFill>
                <a:latin typeface="WenQuanYi Micro Hei"/>
                <a:ea typeface="WenQuanYi Micro Hei"/>
              </a:rPr>
              <a:t>以细致服务，回应每一份期待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447D9C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EEF5F8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公共服务·服务指南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