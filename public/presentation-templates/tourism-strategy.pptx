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2000" cy="68580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419100" cy="6858000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876300" y="1562100"/>
            <a:ext cx="7334250" cy="169640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文旅酒店</a:t>
            </a:r>
          </a:p>
          <a:p>
            <a:pPr algn="l">
              <a:lnSpc>
                <a:spcPts val="6378"/>
              </a:lnSpc>
              <a:spcBef>
                <a:spcPts val="0"/>
              </a:spcBef>
              <a:spcAft>
                <a:spcPts val="0"/>
              </a:spcAft>
            </a:pPr>
            <a:r>
              <a:rPr sz="4725" b="1">
                <a:solidFill>
                  <a:srgbClr val="FFFFFF"/>
                </a:solidFill>
                <a:latin typeface="WenQuanYi Micro Hei"/>
                <a:ea typeface="WenQuanYi Micro Hei"/>
              </a:rPr>
              <a:t>目的地规划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3495675"/>
            <a:ext cx="7191375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0">
                <a:solidFill>
                  <a:srgbClr val="EBF8F5"/>
                </a:solidFill>
                <a:latin typeface="WenQuanYi Micro Hei"/>
                <a:ea typeface="WenQuanYi Micro Hei"/>
              </a:rPr>
              <a:t>让远方成为值得抵达的地方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904875" y="4610100"/>
            <a:ext cx="6715125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8" name="TextBox 7"/>
          <p:cNvSpPr txBox="1"/>
          <p:nvPr/>
        </p:nvSpPr>
        <p:spPr>
          <a:xfrm>
            <a:off x="914400" y="5286375"/>
            <a:ext cx="7191375" cy="30765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822"/>
              </a:lnSpc>
              <a:spcBef>
                <a:spcPts val="0"/>
              </a:spcBef>
              <a:spcAft>
                <a:spcPts val="0"/>
              </a:spcAft>
            </a:pPr>
            <a:r>
              <a:rPr sz="1350" b="0">
                <a:solidFill>
                  <a:srgbClr val="EBF8F5"/>
                </a:solidFill>
                <a:latin typeface="WenQuanYi Micro Hei"/>
                <a:ea typeface="WenQuanYi Micro Hei"/>
              </a:rPr>
              <a:t>汇报人：你的名字  /  日期：20XX.XX</a:t>
            </a:r>
          </a:p>
        </p:txBody>
      </p:sp>
      <p:sp>
        <p:nvSpPr>
          <p:cNvPr id="9" name="Oval 8"/>
          <p:cNvSpPr/>
          <p:nvPr/>
        </p:nvSpPr>
        <p:spPr>
          <a:xfrm>
            <a:off x="10315194" y="2264854"/>
            <a:ext cx="582930" cy="582930"/>
          </a:xfrm>
          <a:prstGeom prst="ellipse">
            <a:avLst/>
          </a:prstGeom>
          <a:solidFill>
            <a:srgbClr val="EBF8F5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10" name="Connector 9"/>
          <p:cNvCxnSpPr/>
          <p:nvPr/>
        </p:nvCxnSpPr>
        <p:spPr>
          <a:xfrm flipV="1">
            <a:off x="8624697" y="2702052"/>
            <a:ext cx="757809" cy="128244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382506" y="2702052"/>
            <a:ext cx="786955" cy="1282446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 flipV="1">
            <a:off x="9703117" y="3022663"/>
            <a:ext cx="699516" cy="96183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3" name="Connector 12"/>
          <p:cNvCxnSpPr/>
          <p:nvPr/>
        </p:nvCxnSpPr>
        <p:spPr>
          <a:xfrm>
            <a:off x="10402633" y="3022663"/>
            <a:ext cx="612077" cy="961835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4" name="Connector 13"/>
          <p:cNvCxnSpPr/>
          <p:nvPr/>
        </p:nvCxnSpPr>
        <p:spPr>
          <a:xfrm>
            <a:off x="8857869" y="4246816"/>
            <a:ext cx="1981962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5" name="Connector 14"/>
          <p:cNvCxnSpPr/>
          <p:nvPr/>
        </p:nvCxnSpPr>
        <p:spPr>
          <a:xfrm>
            <a:off x="8857869" y="4407122"/>
            <a:ext cx="1981962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6" name="Connector 15"/>
          <p:cNvCxnSpPr/>
          <p:nvPr/>
        </p:nvCxnSpPr>
        <p:spPr>
          <a:xfrm>
            <a:off x="8857869" y="4567428"/>
            <a:ext cx="1981962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7" name="TextBox 16"/>
          <p:cNvSpPr txBox="1"/>
          <p:nvPr/>
        </p:nvSpPr>
        <p:spPr>
          <a:xfrm>
            <a:off x="914400" y="581025"/>
            <a:ext cx="9525000" cy="25622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417"/>
              </a:lnSpc>
              <a:spcBef>
                <a:spcPts val="0"/>
              </a:spcBef>
              <a:spcAft>
                <a:spcPts val="0"/>
              </a:spcAft>
            </a:pPr>
            <a:r>
              <a:rPr sz="1050" b="1">
                <a:solidFill>
                  <a:srgbClr val="EBF8F5"/>
                </a:solidFill>
                <a:latin typeface="WenQuanYi Micro Hei"/>
                <a:ea typeface="WenQuanYi Micro Hei"/>
              </a:rPr>
              <a:t>OPEN OFFICE  /  战略规划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685800" y="571500"/>
            <a:ext cx="361950" cy="66675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1095375" y="571500"/>
            <a:ext cx="114300" cy="66675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85800" y="876300"/>
            <a:ext cx="10820400" cy="69627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4353"/>
              </a:lnSpc>
              <a:spcBef>
                <a:spcPts val="0"/>
              </a:spcBef>
              <a:spcAft>
                <a:spcPts val="0"/>
              </a:spcAft>
            </a:pPr>
            <a:r>
              <a:rPr sz="3225" b="1">
                <a:solidFill>
                  <a:srgbClr val="284A56"/>
                </a:solidFill>
                <a:latin typeface="WenQuanYi Micro Hei"/>
                <a:ea typeface="WenQuanYi Micro Hei"/>
              </a:rPr>
              <a:t>文旅酒店 / 从方向到行动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4375" y="1495425"/>
            <a:ext cx="106680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284A56"/>
                </a:solidFill>
                <a:latin typeface="WenQuanYi Micro Hei"/>
                <a:ea typeface="WenQuanYi Micro Hei"/>
              </a:rPr>
              <a:t>让远方成为值得抵达的地方</a:t>
            </a:r>
          </a:p>
        </p:txBody>
      </p:sp>
      <p:sp>
        <p:nvSpPr>
          <p:cNvPr id="7" name="Rectangle 6"/>
          <p:cNvSpPr/>
          <p:nvPr/>
        </p:nvSpPr>
        <p:spPr>
          <a:xfrm>
            <a:off x="685800" y="2219325"/>
            <a:ext cx="3143250" cy="3362325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52500" y="2543175"/>
            <a:ext cx="26098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1">
                <a:solidFill>
                  <a:srgbClr val="FFFFFF"/>
                </a:solidFill>
                <a:latin typeface="WenQuanYi Micro Hei"/>
                <a:ea typeface="WenQuanYi Micro Hei"/>
              </a:rPr>
              <a:t>共同目标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52500" y="3190875"/>
            <a:ext cx="2609850" cy="12592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BF8F5"/>
                </a:solidFill>
                <a:latin typeface="WenQuanYi Micro Hei"/>
                <a:ea typeface="WenQuanYi Micro Hei"/>
              </a:rPr>
              <a:t>明确目标人群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BF8F5"/>
                </a:solidFill>
                <a:latin typeface="WenQuanYi Micro Hei"/>
                <a:ea typeface="WenQuanYi Micro Hei"/>
              </a:rPr>
              <a:t>定义成功标准</a:t>
            </a:r>
          </a:p>
          <a:p>
            <a:pPr algn="l">
              <a:lnSpc>
                <a:spcPts val="3105"/>
              </a:lnSpc>
              <a:spcBef>
                <a:spcPts val="0"/>
              </a:spcBef>
              <a:spcAft>
                <a:spcPts val="0"/>
              </a:spcAft>
            </a:pPr>
            <a:r>
              <a:rPr sz="1725" b="0">
                <a:solidFill>
                  <a:srgbClr val="EBF8F5"/>
                </a:solidFill>
                <a:latin typeface="WenQuanYi Micro Hei"/>
                <a:ea typeface="WenQuanYi Micro Hei"/>
              </a:rPr>
              <a:t>聚焦优先行动</a:t>
            </a:r>
          </a:p>
        </p:txBody>
      </p:sp>
      <p:sp>
        <p:nvSpPr>
          <p:cNvPr id="10" name="Rectangle 9"/>
          <p:cNvSpPr/>
          <p:nvPr/>
        </p:nvSpPr>
        <p:spPr>
          <a:xfrm>
            <a:off x="4190999" y="2257425"/>
            <a:ext cx="7315200" cy="942975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419600" y="240982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D959C"/>
                </a:solidFill>
                <a:latin typeface="WenQuanYi Micro Hei"/>
                <a:ea typeface="WenQuanYi Micro Hei"/>
              </a:rPr>
              <a:t>01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248275" y="238125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84A56"/>
                </a:solidFill>
                <a:latin typeface="WenQuanYi Micro Hei"/>
                <a:ea typeface="WenQuanYi Micro Hei"/>
              </a:rPr>
              <a:t>目的地故事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48275" y="276225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84A56"/>
                </a:solidFill>
                <a:latin typeface="WenQuanYi Micro Hei"/>
                <a:ea typeface="WenQuanYi Micro Hei"/>
              </a:rPr>
              <a:t>发掘地方文化与自然特色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190999" y="3371850"/>
            <a:ext cx="7315200" cy="942975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419600" y="3524250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D959C"/>
                </a:solidFill>
                <a:latin typeface="WenQuanYi Micro Hei"/>
                <a:ea typeface="WenQuanYi Micro Hei"/>
              </a:rPr>
              <a:t>02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248275" y="3495675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84A56"/>
                </a:solidFill>
                <a:latin typeface="WenQuanYi Micro Hei"/>
                <a:ea typeface="WenQuanYi Micro Hei"/>
              </a:rPr>
              <a:t>体验设计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248275" y="3876674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84A56"/>
                </a:solidFill>
                <a:latin typeface="WenQuanYi Micro Hei"/>
                <a:ea typeface="WenQuanYi Micro Hei"/>
              </a:rPr>
              <a:t>组织路线与核心体验内容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90999" y="4486275"/>
            <a:ext cx="7315200" cy="942975"/>
          </a:xfrm>
          <a:prstGeom prst="rect">
            <a:avLst/>
          </a:prstGeom>
          <a:solidFill>
            <a:srgbClr val="EBF8F5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19600" y="4638675"/>
            <a:ext cx="762000" cy="4857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3037"/>
              </a:lnSpc>
              <a:spcBef>
                <a:spcPts val="0"/>
              </a:spcBef>
              <a:spcAft>
                <a:spcPts val="0"/>
              </a:spcAft>
            </a:pPr>
            <a:r>
              <a:rPr sz="2250" b="1">
                <a:solidFill>
                  <a:srgbClr val="3D959C"/>
                </a:solidFill>
                <a:latin typeface="WenQuanYi Micro Hei"/>
                <a:ea typeface="WenQuanYi Micro He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248275" y="4610100"/>
            <a:ext cx="5810250" cy="404812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531"/>
              </a:lnSpc>
              <a:spcBef>
                <a:spcPts val="0"/>
              </a:spcBef>
              <a:spcAft>
                <a:spcPts val="0"/>
              </a:spcAft>
            </a:pPr>
            <a:r>
              <a:rPr sz="1875" b="1">
                <a:solidFill>
                  <a:srgbClr val="284A56"/>
                </a:solidFill>
                <a:latin typeface="WenQuanYi Micro Hei"/>
                <a:ea typeface="WenQuanYi Micro Hei"/>
              </a:rPr>
              <a:t>服务保障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48275" y="4991100"/>
            <a:ext cx="5810250" cy="33337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025"/>
              </a:lnSpc>
              <a:spcBef>
                <a:spcPts val="0"/>
              </a:spcBef>
              <a:spcAft>
                <a:spcPts val="0"/>
              </a:spcAft>
            </a:pPr>
            <a:r>
              <a:rPr sz="1500" b="0">
                <a:solidFill>
                  <a:srgbClr val="284A56"/>
                </a:solidFill>
                <a:latin typeface="WenQuanYi Micro Hei"/>
                <a:ea typeface="WenQuanYi Micro Hei"/>
              </a:rPr>
              <a:t>说明接待能力与服务标准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85800" y="6200775"/>
            <a:ext cx="10820400" cy="0"/>
          </a:xfrm>
          <a:prstGeom prst="line">
            <a:avLst/>
          </a:prstGeom>
          <a:ln w="9525">
            <a:solidFill>
              <a:srgbClr val="EBF8F5"/>
            </a:solidFill>
          </a:ln>
          <a:effectLst/>
        </p:spPr>
      </p:cxnSp>
      <p:sp>
        <p:nvSpPr>
          <p:cNvPr id="23" name="TextBox 22"/>
          <p:cNvSpPr txBox="1"/>
          <p:nvPr/>
        </p:nvSpPr>
        <p:spPr>
          <a:xfrm>
            <a:off x="685800" y="6334125"/>
            <a:ext cx="762000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OPEN OFFICE  /  文旅酒店·目的地规划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39450" y="6334125"/>
            <a:ext cx="666750" cy="230505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r">
              <a:lnSpc>
                <a:spcPts val="1215"/>
              </a:lnSpc>
              <a:spcBef>
                <a:spcPts val="0"/>
              </a:spcBef>
              <a:spcAft>
                <a:spcPts val="0"/>
              </a:spcAft>
            </a:pPr>
            <a:r>
              <a:rPr sz="900" b="0">
                <a:solidFill>
                  <a:srgbClr val="284A56"/>
                </a:solidFill>
                <a:latin typeface="WenQuanYi Micro Hei"/>
                <a:ea typeface="WenQuanYi Micro Hei"/>
              </a:rPr>
              <a:t>02 / 03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CFCFA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284A56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238125" cy="6858000"/>
          </a:xfrm>
          <a:prstGeom prst="rect">
            <a:avLst/>
          </a:prstGeom>
          <a:solidFill>
            <a:srgbClr val="3D959C"/>
          </a:solidFill>
          <a:ln>
            <a:noFill/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315575" y="1262062"/>
            <a:ext cx="476250" cy="476250"/>
          </a:xfrm>
          <a:prstGeom prst="ellipse">
            <a:avLst/>
          </a:prstGeom>
          <a:solidFill>
            <a:srgbClr val="EBF8F5"/>
          </a:solidFill>
          <a:ln w="19050">
            <a:solidFill>
              <a:srgbClr val="3D959C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cxnSp>
        <p:nvCxnSpPr>
          <p:cNvPr id="6" name="Connector 5"/>
          <p:cNvCxnSpPr/>
          <p:nvPr/>
        </p:nvCxnSpPr>
        <p:spPr>
          <a:xfrm flipV="1">
            <a:off x="8934450" y="1619250"/>
            <a:ext cx="619125" cy="104775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7" name="Connector 6"/>
          <p:cNvCxnSpPr/>
          <p:nvPr/>
        </p:nvCxnSpPr>
        <p:spPr>
          <a:xfrm>
            <a:off x="9553575" y="1619250"/>
            <a:ext cx="642937" cy="1047750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8" name="Connector 7"/>
          <p:cNvCxnSpPr/>
          <p:nvPr/>
        </p:nvCxnSpPr>
        <p:spPr>
          <a:xfrm flipV="1">
            <a:off x="9815512" y="1881187"/>
            <a:ext cx="571500" cy="785813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9" name="Connector 8"/>
          <p:cNvCxnSpPr/>
          <p:nvPr/>
        </p:nvCxnSpPr>
        <p:spPr>
          <a:xfrm>
            <a:off x="10387012" y="1881187"/>
            <a:ext cx="500063" cy="785813"/>
          </a:xfrm>
          <a:prstGeom prst="line">
            <a:avLst/>
          </a:prstGeom>
          <a:ln w="28575">
            <a:solidFill>
              <a:srgbClr val="3D959C"/>
            </a:solidFill>
          </a:ln>
          <a:effectLst/>
        </p:spPr>
      </p:cxnSp>
      <p:cxnSp>
        <p:nvCxnSpPr>
          <p:cNvPr id="10" name="Connector 9"/>
          <p:cNvCxnSpPr/>
          <p:nvPr/>
        </p:nvCxnSpPr>
        <p:spPr>
          <a:xfrm>
            <a:off x="9124950" y="2881312"/>
            <a:ext cx="1619250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1" name="Connector 10"/>
          <p:cNvCxnSpPr/>
          <p:nvPr/>
        </p:nvCxnSpPr>
        <p:spPr>
          <a:xfrm>
            <a:off x="9124950" y="3012281"/>
            <a:ext cx="1619250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cxnSp>
        <p:nvCxnSpPr>
          <p:cNvPr id="12" name="Connector 11"/>
          <p:cNvCxnSpPr/>
          <p:nvPr/>
        </p:nvCxnSpPr>
        <p:spPr>
          <a:xfrm>
            <a:off x="9124950" y="3143250"/>
            <a:ext cx="1619250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3" name="TextBox 12"/>
          <p:cNvSpPr txBox="1"/>
          <p:nvPr/>
        </p:nvSpPr>
        <p:spPr>
          <a:xfrm>
            <a:off x="762000" y="2486025"/>
            <a:ext cx="10668000" cy="14249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8910"/>
              </a:lnSpc>
              <a:spcBef>
                <a:spcPts val="0"/>
              </a:spcBef>
              <a:spcAft>
                <a:spcPts val="0"/>
              </a:spcAft>
            </a:pPr>
            <a:r>
              <a:rPr sz="6600" b="1">
                <a:solidFill>
                  <a:srgbClr val="FFFFFF"/>
                </a:solidFill>
                <a:latin typeface="WenQuanYi Micro Hei"/>
                <a:ea typeface="WenQuanYi Micro Hei"/>
              </a:rPr>
              <a:t>Open Office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09625" y="3848099"/>
            <a:ext cx="10572750" cy="437197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733"/>
              </a:lnSpc>
              <a:spcBef>
                <a:spcPts val="0"/>
              </a:spcBef>
              <a:spcAft>
                <a:spcPts val="0"/>
              </a:spcAft>
            </a:pPr>
            <a:r>
              <a:rPr sz="2025" b="0">
                <a:solidFill>
                  <a:srgbClr val="EBF8F5"/>
                </a:solidFill>
                <a:latin typeface="WenQuanYi Micro Hei"/>
                <a:ea typeface="WenQuanYi Micro Hei"/>
              </a:rPr>
              <a:t>下一段美好旅程，从这里出发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809625" y="4953000"/>
            <a:ext cx="10525125" cy="0"/>
          </a:xfrm>
          <a:prstGeom prst="line">
            <a:avLst/>
          </a:prstGeom>
          <a:ln w="19050">
            <a:solidFill>
              <a:srgbClr val="3D959C"/>
            </a:solidFill>
          </a:ln>
          <a:effectLst/>
        </p:spPr>
      </p:cxnSp>
      <p:sp>
        <p:nvSpPr>
          <p:cNvPr id="16" name="TextBox 15"/>
          <p:cNvSpPr txBox="1"/>
          <p:nvPr/>
        </p:nvSpPr>
        <p:spPr>
          <a:xfrm>
            <a:off x="809625" y="5324475"/>
            <a:ext cx="10477500" cy="346233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noAutofit/>
          </a:bodyPr>
          <a:lstStyle/>
          <a:p>
            <a:pPr algn="l">
              <a:lnSpc>
                <a:spcPts val="2126"/>
              </a:lnSpc>
              <a:spcBef>
                <a:spcPts val="0"/>
              </a:spcBef>
              <a:spcAft>
                <a:spcPts val="0"/>
              </a:spcAft>
            </a:pPr>
            <a:r>
              <a:rPr sz="1575" b="0">
                <a:solidFill>
                  <a:srgbClr val="EBF8F5"/>
                </a:solidFill>
                <a:latin typeface="WenQuanYi Micro Hei"/>
                <a:ea typeface="WenQuanYi Micro Hei"/>
              </a:rPr>
              <a:t>谢谢观看  /  期待交流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pen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pen Office">
      <a:maj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ajorFont>
      <a:minorFont>
        <a:latin typeface="WenQuanYi Micro Hei"/>
        <a:ea typeface="WenQuanYi Micro Hei"/>
        <a:cs typeface="WenQuanYi Micro Hei"/>
        <a:font script="Jpan" typeface="WenQuanYi Micro Hei"/>
        <a:font script="Hang" typeface="WenQuanYi Micro Hei"/>
        <a:font script="Hans" typeface="WenQuanYi Micro Hei"/>
        <a:font script="Hant" typeface="WenQuanYi Micro Hei"/>
        <a:font script="Arab" typeface="WenQuanYi Micro Hei"/>
        <a:font script="Hebr" typeface="WenQuanYi Micro Hei"/>
        <a:font script="Thai" typeface="WenQuanYi Micro Hei"/>
        <a:font script="Ethi" typeface="WenQuanYi Micro Hei"/>
        <a:font script="Beng" typeface="WenQuanYi Micro Hei"/>
        <a:font script="Gujr" typeface="WenQuanYi Micro Hei"/>
        <a:font script="Khmr" typeface="WenQuanYi Micro Hei"/>
        <a:font script="Knda" typeface="WenQuanYi Micro Hei"/>
        <a:font script="Guru" typeface="WenQuanYi Micro Hei"/>
        <a:font script="Cans" typeface="WenQuanYi Micro Hei"/>
        <a:font script="Cher" typeface="WenQuanYi Micro Hei"/>
        <a:font script="Yiii" typeface="WenQuanYi Micro Hei"/>
        <a:font script="Tibt" typeface="WenQuanYi Micro Hei"/>
        <a:font script="Thaa" typeface="WenQuanYi Micro Hei"/>
        <a:font script="Deva" typeface="WenQuanYi Micro Hei"/>
        <a:font script="Telu" typeface="WenQuanYi Micro Hei"/>
        <a:font script="Taml" typeface="WenQuanYi Micro Hei"/>
        <a:font script="Syrc" typeface="WenQuanYi Micro Hei"/>
        <a:font script="Orya" typeface="WenQuanYi Micro Hei"/>
        <a:font script="Mlym" typeface="WenQuanYi Micro Hei"/>
        <a:font script="Laoo" typeface="WenQuanYi Micro Hei"/>
        <a:font script="Sinh" typeface="WenQuanYi Micro Hei"/>
        <a:font script="Mong" typeface="WenQuanYi Micro Hei"/>
        <a:font script="Viet" typeface="WenQuanYi Micro Hei"/>
        <a:font script="Uigh" typeface="WenQuanYi Micro Hei"/>
        <a:font script="Geor" typeface="WenQuanYi Micro He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>
  <Application>Open Office</Application>
  <PresentationFormat>Widescreen</PresentationFormat>
  <Slides>3</Slides>
  <Notes>0</Notes>
  <HiddenSlides>0</HiddenSlides>
  <AppVersion>1.0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文旅酒店·目的地规划</dc:title>
  <dc:subject>Open Office 原创演示模板</dc:subject>
  <dc:creator>Open Office</dc:creator>
  <cp:keywords/>
  <dc:description>Original editable vector artwork; generated by generate-presentation-templates.py.</dc:description>
  <cp:lastModifiedBy>Open Office</cp:lastModifiedBy>
  <cp:revision>1</cp:revision>
  <dcterms:created xsi:type="dcterms:W3CDTF">2026-01-01T00:00:00Z</dcterms:created>
  <dcterms:modified xsi:type="dcterms:W3CDTF">2026-01-01T00:00:00Z</dcterms:modified>
  <cp:category/>
</cp:coreProperties>
</file>