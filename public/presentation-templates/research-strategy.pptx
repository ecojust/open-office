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53100" y="809625"/>
            <a:ext cx="595312" cy="238125"/>
          </a:xfrm>
          <a:prstGeom prst="rect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848350" y="1047749"/>
            <a:ext cx="0" cy="619126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6253162" y="1047749"/>
            <a:ext cx="0" cy="619126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H="1">
            <a:off x="5372100" y="1666875"/>
            <a:ext cx="476250" cy="85725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6253162" y="1666875"/>
            <a:ext cx="547688" cy="85725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5372100" y="2524125"/>
            <a:ext cx="1428750" cy="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sp>
        <p:nvSpPr>
          <p:cNvPr id="11" name="Oval 10"/>
          <p:cNvSpPr/>
          <p:nvPr/>
        </p:nvSpPr>
        <p:spPr>
          <a:xfrm>
            <a:off x="5848350" y="2024062"/>
            <a:ext cx="190500" cy="19050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81725" y="2190750"/>
            <a:ext cx="190500" cy="19050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62725" y="1047749"/>
            <a:ext cx="190500" cy="19050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0662" y="1309687"/>
            <a:ext cx="190500" cy="19050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610225" y="2238375"/>
            <a:ext cx="952500" cy="0"/>
          </a:xfrm>
          <a:prstGeom prst="line">
            <a:avLst/>
          </a:prstGeom>
          <a:ln w="19050">
            <a:solidFill>
              <a:srgbClr val="6678A5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303E61"/>
                </a:solidFill>
                <a:latin typeface="WenQuanYi Micro Hei"/>
                <a:ea typeface="WenQuanYi Micro Hei"/>
              </a:rPr>
              <a:t>科研创新·课题开题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303E61"/>
                </a:solidFill>
                <a:latin typeface="WenQuanYi Micro Hei"/>
                <a:ea typeface="WenQuanYi Micro Hei"/>
              </a:rPr>
              <a:t>从关键问题开启探索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03E61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A5"/>
                </a:solidFill>
                <a:latin typeface="WenQuanYi Micro Hei"/>
                <a:ea typeface="WenQuanYi Micro Hei"/>
              </a:rPr>
              <a:t>OPEN OFFICE  /  战略规划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03E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03E61"/>
                </a:solidFill>
                <a:latin typeface="WenQuanYi Micro Hei"/>
                <a:ea typeface="WenQuanYi Micro Hei"/>
              </a:rPr>
              <a:t>科研创新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03E61"/>
                </a:solidFill>
                <a:latin typeface="WenQuanYi Micro Hei"/>
                <a:ea typeface="WenQuanYi Micro Hei"/>
              </a:rPr>
              <a:t>从关键问题开启探索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76475"/>
            <a:ext cx="3448050" cy="2647950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76475"/>
            <a:ext cx="3448050" cy="57150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925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03E61"/>
                </a:solidFill>
                <a:latin typeface="WenQuanYi Micro Hei"/>
                <a:ea typeface="WenQuanYi Micro Hei"/>
              </a:rPr>
              <a:t>研究问题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03E61"/>
                </a:solidFill>
                <a:latin typeface="WenQuanYi Micro Hei"/>
                <a:ea typeface="WenQuanYi Micro Hei"/>
              </a:rPr>
              <a:t>界定研究范围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03E61"/>
                </a:solidFill>
                <a:latin typeface="WenQuanYi Micro Hei"/>
                <a:ea typeface="WenQuanYi Micro Hei"/>
              </a:rPr>
              <a:t>与核心假设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8A5"/>
                </a:solidFill>
                <a:latin typeface="WenQuanYi Micro Hei"/>
                <a:ea typeface="WenQuanYi Micro Hei"/>
              </a:rPr>
              <a:t>优先事项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1975" y="2276475"/>
            <a:ext cx="3448050" cy="2647950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1975" y="2276475"/>
            <a:ext cx="3448050" cy="57150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03E61"/>
                </a:solidFill>
                <a:latin typeface="WenQuanYi Micro Hei"/>
                <a:ea typeface="WenQuanYi Micro Hei"/>
              </a:rPr>
              <a:t>方法设计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03E61"/>
                </a:solidFill>
                <a:latin typeface="WenQuanYi Micro Hei"/>
                <a:ea typeface="WenQuanYi Micro Hei"/>
              </a:rPr>
              <a:t>说明样本数据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03E61"/>
                </a:solidFill>
                <a:latin typeface="WenQuanYi Micro Hei"/>
                <a:ea typeface="WenQuanYi Micro Hei"/>
              </a:rPr>
              <a:t>与分析方法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8A5"/>
                </a:solidFill>
                <a:latin typeface="WenQuanYi Micro Hei"/>
                <a:ea typeface="WenQuanYi Micro Hei"/>
              </a:rPr>
              <a:t>优先事项 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8150" y="2276475"/>
            <a:ext cx="3448050" cy="2647950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8150" y="2276475"/>
            <a:ext cx="3448050" cy="57150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274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03E61"/>
                </a:solidFill>
                <a:latin typeface="WenQuanYi Micro Hei"/>
                <a:ea typeface="WenQuanYi Micro Hei"/>
              </a:rPr>
              <a:t>证据结论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4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03E61"/>
                </a:solidFill>
                <a:latin typeface="WenQuanYi Micro Hei"/>
                <a:ea typeface="WenQuanYi Micro Hei"/>
              </a:rPr>
              <a:t>区分研究发现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03E61"/>
                </a:solidFill>
                <a:latin typeface="WenQuanYi Micro Hei"/>
                <a:ea typeface="WenQuanYi Micro Hei"/>
              </a:rPr>
              <a:t>与适用边界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678A5"/>
                </a:solidFill>
                <a:latin typeface="WenQuanYi Micro Hei"/>
                <a:ea typeface="WenQuanYi Micro Hei"/>
              </a:rPr>
              <a:t>优先事项 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91125"/>
            <a:ext cx="10820400" cy="466724"/>
          </a:xfrm>
          <a:prstGeom prst="rect">
            <a:avLst/>
          </a:prstGeom>
          <a:solidFill>
            <a:srgbClr val="303E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350" y="5248275"/>
            <a:ext cx="104013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FFF"/>
                </a:solidFill>
                <a:latin typeface="WenQuanYi Micro Hei"/>
                <a:ea typeface="WenQuanYi Micro Hei"/>
              </a:rPr>
              <a:t>共同基础：目标一致  ·  资源协同  ·  定期复盘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FF1F8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03E61"/>
                </a:solidFill>
                <a:latin typeface="WenQuanYi Micro Hei"/>
                <a:ea typeface="WenQuanYi Micro Hei"/>
              </a:rPr>
              <a:t>OPEN OFFICE  /  科研创新·课题开题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03E61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03E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1238250"/>
            <a:ext cx="595312" cy="238125"/>
          </a:xfrm>
          <a:prstGeom prst="rect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696450" y="1476375"/>
            <a:ext cx="0" cy="619124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0101262" y="1476375"/>
            <a:ext cx="0" cy="619124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H="1">
            <a:off x="9220200" y="2095499"/>
            <a:ext cx="476250" cy="857251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0101262" y="2095499"/>
            <a:ext cx="547688" cy="857251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9220200" y="2952750"/>
            <a:ext cx="1428750" cy="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sp>
        <p:nvSpPr>
          <p:cNvPr id="11" name="Oval 10"/>
          <p:cNvSpPr/>
          <p:nvPr/>
        </p:nvSpPr>
        <p:spPr>
          <a:xfrm>
            <a:off x="9696450" y="2452687"/>
            <a:ext cx="190500" cy="19050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29825" y="2619375"/>
            <a:ext cx="190500" cy="19050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825" y="1476375"/>
            <a:ext cx="190500" cy="19050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8762" y="1738312"/>
            <a:ext cx="190500" cy="19050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458325" y="2667000"/>
            <a:ext cx="952500" cy="0"/>
          </a:xfrm>
          <a:prstGeom prst="line">
            <a:avLst/>
          </a:prstGeom>
          <a:ln w="19050">
            <a:solidFill>
              <a:srgbClr val="6678A5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EFF1F8"/>
                </a:solidFill>
                <a:latin typeface="WenQuanYi Micro Hei"/>
                <a:ea typeface="WenQuanYi Micro Hei"/>
              </a:rPr>
              <a:t>保持好奇，以证据拓展认知边界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6678A5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EFF1F8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科研创新·课题开题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