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7775" y="-685800"/>
            <a:ext cx="4095750" cy="4095750"/>
          </a:xfrm>
          <a:prstGeom prst="ellipse">
            <a:avLst/>
          </a:prstGeom>
          <a:solidFill>
            <a:srgbClr val="F5EF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14425" y="4410075"/>
            <a:ext cx="3381375" cy="3381375"/>
          </a:xfrm>
          <a:prstGeom prst="ellipse">
            <a:avLst/>
          </a:prstGeom>
          <a:solidFill>
            <a:srgbClr val="F5EF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81600" y="1119187"/>
            <a:ext cx="309562" cy="309562"/>
          </a:xfrm>
          <a:prstGeom prst="ellipse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33975" y="1524000"/>
            <a:ext cx="404812" cy="428625"/>
          </a:xfrm>
          <a:prstGeom prst="rect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98256" y="2333625"/>
            <a:ext cx="476250" cy="190500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872162" y="809625"/>
            <a:ext cx="309562" cy="309562"/>
          </a:xfrm>
          <a:prstGeom prst="ellipse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24537" y="1214437"/>
            <a:ext cx="404812" cy="428625"/>
          </a:xfrm>
          <a:prstGeom prst="rect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88818" y="2095499"/>
            <a:ext cx="476250" cy="428625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62725" y="500062"/>
            <a:ext cx="309562" cy="309562"/>
          </a:xfrm>
          <a:prstGeom prst="ellipse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15100" y="904875"/>
            <a:ext cx="404812" cy="428625"/>
          </a:xfrm>
          <a:prstGeom prst="rect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9381" y="1857375"/>
            <a:ext cx="476250" cy="666750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095625"/>
            <a:ext cx="9906000" cy="858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366"/>
              </a:lnSpc>
              <a:spcBef>
                <a:spcPts val="0"/>
              </a:spcBef>
              <a:spcAft>
                <a:spcPts val="0"/>
              </a:spcAft>
            </a:pPr>
            <a:r>
              <a:rPr sz="3975" b="1">
                <a:solidFill>
                  <a:srgbClr val="493A55"/>
                </a:solidFill>
                <a:latin typeface="WenQuanYi Micro Hei"/>
                <a:ea typeface="WenQuanYi Micro Hei"/>
              </a:rPr>
              <a:t>人力组织·团队盘点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038600"/>
            <a:ext cx="990600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493A55"/>
                </a:solidFill>
                <a:latin typeface="WenQuanYi Micro Hei"/>
                <a:ea typeface="WenQuanYi Micro Hei"/>
              </a:rPr>
              <a:t>用团队洞察支持发展决策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9275" y="4791075"/>
            <a:ext cx="933449" cy="47625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448300"/>
            <a:ext cx="9906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93A55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C6A9B"/>
                </a:solidFill>
                <a:latin typeface="WenQuanYi Micro Hei"/>
                <a:ea typeface="WenQuanYi Micro Hei"/>
              </a:rPr>
              <a:t>OPEN OFFICE  /  数据与成果汇报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493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493A55"/>
                </a:solidFill>
                <a:latin typeface="WenQuanYi Micro Hei"/>
                <a:ea typeface="WenQuanYi Micro Hei"/>
              </a:rPr>
              <a:t>人力组织 / 关键成果与观察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A55"/>
                </a:solidFill>
                <a:latin typeface="WenQuanYi Micro Hei"/>
                <a:ea typeface="WenQuanYi Micro Hei"/>
              </a:rPr>
              <a:t>用团队洞察支持发展决策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38375"/>
            <a:ext cx="4057650" cy="3495675"/>
          </a:xfrm>
          <a:prstGeom prst="rect">
            <a:avLst/>
          </a:prstGeom>
          <a:solidFill>
            <a:srgbClr val="493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2562225"/>
            <a:ext cx="3486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本期成果摘要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3200400"/>
            <a:ext cx="3457575" cy="1259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5EFF8"/>
                </a:solidFill>
                <a:latin typeface="WenQuanYi Micro Hei"/>
                <a:ea typeface="WenQuanYi Micro Hei"/>
              </a:rPr>
              <a:t>在这里填写核心结论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5EFF8"/>
                </a:solidFill>
                <a:latin typeface="WenQuanYi Micro Hei"/>
                <a:ea typeface="WenQuanYi Micro Hei"/>
              </a:rPr>
              <a:t>说明变化与关键原因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5EFF8"/>
                </a:solidFill>
                <a:latin typeface="WenQuanYi Micro Hei"/>
                <a:ea typeface="WenQuanYi Micro Hei"/>
              </a:rPr>
              <a:t>提出下一步改善动作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95875" y="2238375"/>
            <a:ext cx="6410325" cy="1047749"/>
          </a:xfrm>
          <a:prstGeom prst="rect">
            <a:avLst/>
          </a:prstGeom>
          <a:solidFill>
            <a:srgbClr val="F5EF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4000" y="2419350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493A55"/>
                </a:solidFill>
                <a:latin typeface="WenQuanYi Micro Hei"/>
                <a:ea typeface="WenQuanYi Micro Hei"/>
              </a:rPr>
              <a:t>岗位匹配度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3050" y="2838450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493A55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8300" y="2495550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8C6A9B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95875" y="3448050"/>
            <a:ext cx="6410325" cy="1047749"/>
          </a:xfrm>
          <a:prstGeom prst="rect">
            <a:avLst/>
          </a:prstGeom>
          <a:solidFill>
            <a:srgbClr val="F5EF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3629025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493A55"/>
                </a:solidFill>
                <a:latin typeface="WenQuanYi Micro Hei"/>
                <a:ea typeface="WenQuanYi Micro Hei"/>
              </a:rPr>
              <a:t>培养完成率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3050" y="4048124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493A55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300" y="3705224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8C6A9B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5875" y="4657725"/>
            <a:ext cx="6410325" cy="1047749"/>
          </a:xfrm>
          <a:prstGeom prst="rect">
            <a:avLst/>
          </a:prstGeom>
          <a:solidFill>
            <a:srgbClr val="F5EF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4000" y="4838700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493A55"/>
                </a:solidFill>
                <a:latin typeface="WenQuanYi Micro Hei"/>
                <a:ea typeface="WenQuanYi Micro Hei"/>
              </a:rPr>
              <a:t>团队参与度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3050" y="5257800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493A55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8300" y="4914900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8C6A9B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5EFF8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93A55"/>
                </a:solidFill>
                <a:latin typeface="WenQuanYi Micro Hei"/>
                <a:ea typeface="WenQuanYi Micro Hei"/>
              </a:rPr>
              <a:t>OPEN OFFICE  /  人力组织·团队盘点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93A55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43975" y="-933449"/>
            <a:ext cx="4162424" cy="4162424"/>
          </a:xfrm>
          <a:prstGeom prst="ellipse">
            <a:avLst/>
          </a:prstGeom>
          <a:solidFill>
            <a:srgbClr val="F5EF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4686300"/>
            <a:ext cx="4048124" cy="4048124"/>
          </a:xfrm>
          <a:prstGeom prst="ellipse">
            <a:avLst/>
          </a:prstGeom>
          <a:solidFill>
            <a:srgbClr val="F5EF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33600"/>
            <a:ext cx="9906000" cy="1392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707"/>
              </a:lnSpc>
              <a:spcBef>
                <a:spcPts val="0"/>
              </a:spcBef>
              <a:spcAft>
                <a:spcPts val="0"/>
              </a:spcAft>
            </a:pPr>
            <a:r>
              <a:rPr sz="6450" b="1">
                <a:solidFill>
                  <a:srgbClr val="493A55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438525"/>
            <a:ext cx="762000" cy="57150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981450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493A55"/>
                </a:solidFill>
                <a:latin typeface="WenQuanYi Micro Hei"/>
                <a:ea typeface="WenQuanYi Micro Hei"/>
              </a:rPr>
              <a:t>让每一位伙伴找到成长的空间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24475"/>
            <a:ext cx="9906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8C6A9B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人力组织·团队盘点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