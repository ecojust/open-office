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52950"/>
            <a:ext cx="12192000" cy="2305050"/>
          </a:xfrm>
          <a:prstGeom prst="rect">
            <a:avLst/>
          </a:prstGeom>
          <a:solidFill>
            <a:srgbClr val="303E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819150"/>
            <a:ext cx="723900" cy="66675"/>
          </a:xfrm>
          <a:prstGeom prst="rect">
            <a:avLst/>
          </a:prstGeom>
          <a:solidFill>
            <a:srgbClr val="6678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23975"/>
            <a:ext cx="7239000" cy="16192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075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303E61"/>
                </a:solidFill>
                <a:latin typeface="WenQuanYi Micro Hei"/>
                <a:ea typeface="WenQuanYi Micro Hei"/>
              </a:rPr>
              <a:t>科研创新</a:t>
            </a:r>
          </a:p>
          <a:p>
            <a:pPr algn="l">
              <a:lnSpc>
                <a:spcPts val="6075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303E61"/>
                </a:solidFill>
                <a:latin typeface="WenQuanYi Micro Hei"/>
                <a:ea typeface="WenQuanYi Micro Hei"/>
              </a:rPr>
              <a:t>技术方案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" y="3514725"/>
            <a:ext cx="723900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03E61"/>
                </a:solidFill>
                <a:latin typeface="WenQuanYi Micro Hei"/>
                <a:ea typeface="WenQuanYi Micro Hei"/>
              </a:rPr>
              <a:t>让研究方法服务于问题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9530715" y="1344930"/>
            <a:ext cx="619125" cy="247649"/>
          </a:xfrm>
          <a:prstGeom prst="rect">
            <a:avLst/>
          </a:prstGeom>
          <a:solidFill>
            <a:srgbClr val="EFF1F8"/>
          </a:solidFill>
          <a:ln w="19050">
            <a:solidFill>
              <a:srgbClr val="6678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9629775" y="1592579"/>
            <a:ext cx="0" cy="643891"/>
          </a:xfrm>
          <a:prstGeom prst="line">
            <a:avLst/>
          </a:prstGeom>
          <a:ln w="28575">
            <a:solidFill>
              <a:srgbClr val="6678A5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10050780" y="1592579"/>
            <a:ext cx="0" cy="643891"/>
          </a:xfrm>
          <a:prstGeom prst="line">
            <a:avLst/>
          </a:prstGeom>
          <a:ln w="28575">
            <a:solidFill>
              <a:srgbClr val="6678A5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 flipH="1">
            <a:off x="9134475" y="2236470"/>
            <a:ext cx="495300" cy="891539"/>
          </a:xfrm>
          <a:prstGeom prst="line">
            <a:avLst/>
          </a:prstGeom>
          <a:ln w="28575">
            <a:solidFill>
              <a:srgbClr val="6678A5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10050780" y="2236470"/>
            <a:ext cx="569595" cy="891539"/>
          </a:xfrm>
          <a:prstGeom prst="line">
            <a:avLst/>
          </a:prstGeom>
          <a:ln w="28575">
            <a:solidFill>
              <a:srgbClr val="6678A5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9134475" y="3128009"/>
            <a:ext cx="1485900" cy="0"/>
          </a:xfrm>
          <a:prstGeom prst="line">
            <a:avLst/>
          </a:prstGeom>
          <a:ln w="28575">
            <a:solidFill>
              <a:srgbClr val="6678A5"/>
            </a:solidFill>
          </a:ln>
          <a:effectLst/>
        </p:spPr>
      </p:cxnSp>
      <p:sp>
        <p:nvSpPr>
          <p:cNvPr id="13" name="Oval 12"/>
          <p:cNvSpPr/>
          <p:nvPr/>
        </p:nvSpPr>
        <p:spPr>
          <a:xfrm>
            <a:off x="9629775" y="2607945"/>
            <a:ext cx="198120" cy="198120"/>
          </a:xfrm>
          <a:prstGeom prst="ellipse">
            <a:avLst/>
          </a:prstGeom>
          <a:solidFill>
            <a:srgbClr val="EFF1F8"/>
          </a:solidFill>
          <a:ln w="19050">
            <a:solidFill>
              <a:srgbClr val="6678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976485" y="2781300"/>
            <a:ext cx="198120" cy="198120"/>
          </a:xfrm>
          <a:prstGeom prst="ellipse">
            <a:avLst/>
          </a:prstGeom>
          <a:solidFill>
            <a:srgbClr val="EFF1F8"/>
          </a:solidFill>
          <a:ln w="19050">
            <a:solidFill>
              <a:srgbClr val="6678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72725" y="1592579"/>
            <a:ext cx="198120" cy="198120"/>
          </a:xfrm>
          <a:prstGeom prst="ellipse">
            <a:avLst/>
          </a:prstGeom>
          <a:solidFill>
            <a:srgbClr val="EFF1F8"/>
          </a:solidFill>
          <a:ln w="19050">
            <a:solidFill>
              <a:srgbClr val="6678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060180" y="1864995"/>
            <a:ext cx="198120" cy="198120"/>
          </a:xfrm>
          <a:prstGeom prst="ellipse">
            <a:avLst/>
          </a:prstGeom>
          <a:solidFill>
            <a:srgbClr val="EFF1F8"/>
          </a:solidFill>
          <a:ln w="19050">
            <a:solidFill>
              <a:srgbClr val="6678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9382125" y="2830830"/>
            <a:ext cx="990600" cy="0"/>
          </a:xfrm>
          <a:prstGeom prst="line">
            <a:avLst/>
          </a:prstGeom>
          <a:ln w="19050">
            <a:solidFill>
              <a:srgbClr val="6678A5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742950" y="5067300"/>
            <a:ext cx="329565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01 / 研究问题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7700" y="5067300"/>
            <a:ext cx="329565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02 / 方法设计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2450" y="5067300"/>
            <a:ext cx="329565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03 / 证据结论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425" y="5991225"/>
            <a:ext cx="95250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FF1F8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6678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303E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303E61"/>
                </a:solidFill>
                <a:latin typeface="WenQuanYi Micro Hei"/>
                <a:ea typeface="WenQuanYi Micro Hei"/>
              </a:rPr>
              <a:t>科研创新 / 价值与方案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03E61"/>
                </a:solidFill>
                <a:latin typeface="WenQuanYi Micro Hei"/>
                <a:ea typeface="WenQuanYi Micro Hei"/>
              </a:rPr>
              <a:t>让研究方法服务于问题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228850"/>
            <a:ext cx="3448050" cy="3476625"/>
          </a:xfrm>
          <a:prstGeom prst="rect">
            <a:avLst/>
          </a:prstGeom>
          <a:solidFill>
            <a:srgbClr val="EFF1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2500" y="2486025"/>
            <a:ext cx="619125" cy="619125"/>
          </a:xfrm>
          <a:prstGeom prst="ellipse">
            <a:avLst/>
          </a:prstGeom>
          <a:solidFill>
            <a:srgbClr val="6678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2500" y="2581275"/>
            <a:ext cx="619125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3371850"/>
            <a:ext cx="2914650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303E61"/>
                </a:solidFill>
                <a:latin typeface="WenQuanYi Micro Hei"/>
                <a:ea typeface="WenQuanYi Micro Hei"/>
              </a:rPr>
              <a:t>研究问题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4000500"/>
            <a:ext cx="2914650" cy="7886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0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03E61"/>
                </a:solidFill>
                <a:latin typeface="WenQuanYi Micro Hei"/>
                <a:ea typeface="WenQuanYi Micro Hei"/>
              </a:rPr>
              <a:t>界定研究范围</a:t>
            </a:r>
          </a:p>
          <a:p>
            <a:pPr algn="l">
              <a:lnSpc>
                <a:spcPts val="280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03E61"/>
                </a:solidFill>
                <a:latin typeface="WenQuanYi Micro Hei"/>
                <a:ea typeface="WenQuanYi Micro Hei"/>
              </a:rPr>
              <a:t>与核心假设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52500" y="5334000"/>
            <a:ext cx="2914650" cy="0"/>
          </a:xfrm>
          <a:prstGeom prst="line">
            <a:avLst/>
          </a:prstGeom>
          <a:ln w="19050">
            <a:solidFill>
              <a:srgbClr val="6678A5"/>
            </a:solidFill>
          </a:ln>
          <a:effectLst/>
        </p:spPr>
      </p:cxnSp>
      <p:sp>
        <p:nvSpPr>
          <p:cNvPr id="13" name="Rectangle 12"/>
          <p:cNvSpPr/>
          <p:nvPr/>
        </p:nvSpPr>
        <p:spPr>
          <a:xfrm>
            <a:off x="4371975" y="2228850"/>
            <a:ext cx="3448050" cy="3476625"/>
          </a:xfrm>
          <a:prstGeom prst="rect">
            <a:avLst/>
          </a:prstGeom>
          <a:solidFill>
            <a:srgbClr val="EFF1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38675" y="2486025"/>
            <a:ext cx="619125" cy="619125"/>
          </a:xfrm>
          <a:prstGeom prst="ellipse">
            <a:avLst/>
          </a:prstGeom>
          <a:solidFill>
            <a:srgbClr val="6678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8675" y="2581275"/>
            <a:ext cx="619125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8675" y="3371850"/>
            <a:ext cx="2914650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303E61"/>
                </a:solidFill>
                <a:latin typeface="WenQuanYi Micro Hei"/>
                <a:ea typeface="WenQuanYi Micro Hei"/>
              </a:rPr>
              <a:t>方法设计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8675" y="4000500"/>
            <a:ext cx="2914650" cy="7886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0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03E61"/>
                </a:solidFill>
                <a:latin typeface="WenQuanYi Micro Hei"/>
                <a:ea typeface="WenQuanYi Micro Hei"/>
              </a:rPr>
              <a:t>说明样本数据</a:t>
            </a:r>
          </a:p>
          <a:p>
            <a:pPr algn="l">
              <a:lnSpc>
                <a:spcPts val="280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03E61"/>
                </a:solidFill>
                <a:latin typeface="WenQuanYi Micro Hei"/>
                <a:ea typeface="WenQuanYi Micro Hei"/>
              </a:rPr>
              <a:t>与分析方法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638675" y="5334000"/>
            <a:ext cx="2914649" cy="0"/>
          </a:xfrm>
          <a:prstGeom prst="line">
            <a:avLst/>
          </a:prstGeom>
          <a:ln w="19050">
            <a:solidFill>
              <a:srgbClr val="6678A5"/>
            </a:solidFill>
          </a:ln>
          <a:effectLst/>
        </p:spPr>
      </p:cxnSp>
      <p:sp>
        <p:nvSpPr>
          <p:cNvPr id="19" name="Rectangle 18"/>
          <p:cNvSpPr/>
          <p:nvPr/>
        </p:nvSpPr>
        <p:spPr>
          <a:xfrm>
            <a:off x="8058150" y="2228850"/>
            <a:ext cx="3448050" cy="3476625"/>
          </a:xfrm>
          <a:prstGeom prst="rect">
            <a:avLst/>
          </a:prstGeom>
          <a:solidFill>
            <a:srgbClr val="EFF1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24849" y="2486025"/>
            <a:ext cx="619125" cy="619125"/>
          </a:xfrm>
          <a:prstGeom prst="ellipse">
            <a:avLst/>
          </a:prstGeom>
          <a:solidFill>
            <a:srgbClr val="6678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4849" y="2581275"/>
            <a:ext cx="619125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4849" y="3371850"/>
            <a:ext cx="2914650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303E61"/>
                </a:solidFill>
                <a:latin typeface="WenQuanYi Micro Hei"/>
                <a:ea typeface="WenQuanYi Micro Hei"/>
              </a:rPr>
              <a:t>证据结论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4849" y="4000500"/>
            <a:ext cx="2914650" cy="7886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0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03E61"/>
                </a:solidFill>
                <a:latin typeface="WenQuanYi Micro Hei"/>
                <a:ea typeface="WenQuanYi Micro Hei"/>
              </a:rPr>
              <a:t>区分研究发现</a:t>
            </a:r>
          </a:p>
          <a:p>
            <a:pPr algn="l">
              <a:lnSpc>
                <a:spcPts val="280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03E61"/>
                </a:solidFill>
                <a:latin typeface="WenQuanYi Micro Hei"/>
                <a:ea typeface="WenQuanYi Micro Hei"/>
              </a:rPr>
              <a:t>与适用边界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324849" y="5334000"/>
            <a:ext cx="2914651" cy="0"/>
          </a:xfrm>
          <a:prstGeom prst="line">
            <a:avLst/>
          </a:prstGeom>
          <a:ln w="19050">
            <a:solidFill>
              <a:srgbClr val="6678A5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EFF1F8"/>
            </a:solidFill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03E61"/>
                </a:solidFill>
                <a:latin typeface="WenQuanYi Micro Hei"/>
                <a:ea typeface="WenQuanYi Micro Hei"/>
              </a:rPr>
              <a:t>OPEN OFFICE  /  科研创新·技术方案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03E61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3900" y="714375"/>
            <a:ext cx="10744200" cy="5429250"/>
          </a:xfrm>
          <a:prstGeom prst="rect">
            <a:avLst/>
          </a:prstGeom>
          <a:noFill/>
          <a:ln w="19050">
            <a:solidFill>
              <a:srgbClr val="6678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57850" y="1685925"/>
            <a:ext cx="876300" cy="66675"/>
          </a:xfrm>
          <a:prstGeom prst="rect">
            <a:avLst/>
          </a:prstGeom>
          <a:solidFill>
            <a:srgbClr val="6678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33500" y="2619375"/>
            <a:ext cx="9525000" cy="13601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505"/>
              </a:lnSpc>
              <a:spcBef>
                <a:spcPts val="0"/>
              </a:spcBef>
              <a:spcAft>
                <a:spcPts val="0"/>
              </a:spcAft>
            </a:pPr>
            <a:r>
              <a:rPr sz="6300" b="0">
                <a:solidFill>
                  <a:srgbClr val="303E61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3905249"/>
            <a:ext cx="9525000" cy="4210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303E61"/>
                </a:solidFill>
                <a:latin typeface="WenQuanYi Micro Hei"/>
                <a:ea typeface="WenQuanYi Micro Hei"/>
              </a:rPr>
              <a:t>保持好奇，以证据拓展认知边界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5114925"/>
            <a:ext cx="9525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6678A5"/>
                </a:solidFill>
                <a:latin typeface="WenQuanYi Micro Hei"/>
                <a:ea typeface="WenQuanYi Micro Hei"/>
              </a:rPr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科研创新·技术方案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