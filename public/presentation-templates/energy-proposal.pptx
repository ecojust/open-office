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305050"/>
          </a:xfrm>
          <a:prstGeom prst="rect">
            <a:avLst/>
          </a:prstGeom>
          <a:solidFill>
            <a:srgbClr val="21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200275"/>
            <a:ext cx="685800" cy="104775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76275"/>
            <a:ext cx="10477500" cy="8420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WenQuanYi Micro Hei"/>
                <a:ea typeface="WenQuanYi Micro Hei"/>
              </a:rPr>
              <a:t>能源环保·项目方案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924175"/>
            <a:ext cx="69532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14A3C"/>
                </a:solidFill>
                <a:latin typeface="WenQuanYi Micro Hei"/>
                <a:ea typeface="WenQuanYi Micro Hei"/>
              </a:rPr>
              <a:t>让清洁能源走进场景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78142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5926A"/>
                </a:solidFill>
                <a:latin typeface="WenQuanYi Micro Hei"/>
                <a:ea typeface="WenQuanYi Micro Hei"/>
              </a:rPr>
              <a:t>01  能源现状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210050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5926A"/>
                </a:solidFill>
                <a:latin typeface="WenQuanYi Micro Hei"/>
                <a:ea typeface="WenQuanYi Micro Hei"/>
              </a:rPr>
              <a:t>02  节能方案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3867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5926A"/>
                </a:solidFill>
                <a:latin typeface="WenQuanYi Micro Hei"/>
                <a:ea typeface="WenQuanYi Micro Hei"/>
              </a:rPr>
              <a:t>03  环境价值</a:t>
            </a:r>
          </a:p>
        </p:txBody>
      </p:sp>
      <p:sp>
        <p:nvSpPr>
          <p:cNvPr id="10" name="Oval 9"/>
          <p:cNvSpPr/>
          <p:nvPr/>
        </p:nvSpPr>
        <p:spPr>
          <a:xfrm>
            <a:off x="10229088" y="3088386"/>
            <a:ext cx="634936" cy="634936"/>
          </a:xfrm>
          <a:prstGeom prst="ellipse">
            <a:avLst/>
          </a:prstGeom>
          <a:solidFill>
            <a:srgbClr val="EDF7ED"/>
          </a:solidFill>
          <a:ln w="19050">
            <a:solidFill>
              <a:srgbClr val="3592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103518" y="3925347"/>
            <a:ext cx="0" cy="1327595"/>
          </a:xfrm>
          <a:prstGeom prst="line">
            <a:avLst/>
          </a:prstGeom>
          <a:ln w="38100">
            <a:solidFill>
              <a:srgbClr val="214A3C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V="1">
            <a:off x="9103518" y="3088386"/>
            <a:ext cx="0" cy="634936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H="1">
            <a:off x="8497443" y="3723322"/>
            <a:ext cx="606075" cy="346329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103518" y="3723322"/>
            <a:ext cx="663798" cy="288608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sp>
        <p:nvSpPr>
          <p:cNvPr id="15" name="Rectangle 14"/>
          <p:cNvSpPr/>
          <p:nvPr/>
        </p:nvSpPr>
        <p:spPr>
          <a:xfrm>
            <a:off x="9796176" y="4271676"/>
            <a:ext cx="1212151" cy="923544"/>
          </a:xfrm>
          <a:prstGeom prst="rect">
            <a:avLst/>
          </a:prstGeom>
          <a:solidFill>
            <a:srgbClr val="EDF7ED"/>
          </a:solidFill>
          <a:ln w="19050">
            <a:solidFill>
              <a:srgbClr val="3592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0200227" y="4271676"/>
            <a:ext cx="0" cy="923544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10604277" y="4271676"/>
            <a:ext cx="0" cy="923544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9796176" y="4733448"/>
            <a:ext cx="1212152" cy="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723900" y="5610225"/>
            <a:ext cx="7620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4A3C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1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14A3C"/>
                </a:solidFill>
                <a:latin typeface="WenQuanYi Micro Hei"/>
                <a:ea typeface="WenQuanYi Micro Hei"/>
              </a:rPr>
              <a:t>能源环保 / 价值与方案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14A3C"/>
                </a:solidFill>
                <a:latin typeface="WenQuanYi Micro Hei"/>
                <a:ea typeface="WenQuanYi Micro Hei"/>
              </a:rPr>
              <a:t>让清洁能源走进场景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28850"/>
            <a:ext cx="3448050" cy="3476625"/>
          </a:xfrm>
          <a:prstGeom prst="rect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2500" y="2486025"/>
            <a:ext cx="619125" cy="619125"/>
          </a:xfrm>
          <a:prstGeom prst="ellipse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14A3C"/>
                </a:solidFill>
                <a:latin typeface="WenQuanYi Micro Hei"/>
                <a:ea typeface="WenQuanYi Micro Hei"/>
              </a:rPr>
              <a:t>能源现状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14A3C"/>
                </a:solidFill>
                <a:latin typeface="WenQuanYi Micro Hei"/>
                <a:ea typeface="WenQuanYi Micro Hei"/>
              </a:rPr>
              <a:t>盘点能源结构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14A3C"/>
                </a:solidFill>
                <a:latin typeface="WenQuanYi Micro Hei"/>
                <a:ea typeface="WenQuanYi Micro Hei"/>
              </a:rPr>
              <a:t>与排放来源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5334000"/>
            <a:ext cx="2914650" cy="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4371975" y="2228850"/>
            <a:ext cx="3448050" cy="3476625"/>
          </a:xfrm>
          <a:prstGeom prst="rect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38675" y="2486025"/>
            <a:ext cx="619125" cy="619125"/>
          </a:xfrm>
          <a:prstGeom prst="ellipse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8675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8675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14A3C"/>
                </a:solidFill>
                <a:latin typeface="WenQuanYi Micro Hei"/>
                <a:ea typeface="WenQuanYi Micro Hei"/>
              </a:rPr>
              <a:t>节能方案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8675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14A3C"/>
                </a:solidFill>
                <a:latin typeface="WenQuanYi Micro Hei"/>
                <a:ea typeface="WenQuanYi Micro Hei"/>
              </a:rPr>
              <a:t>设计节能措施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14A3C"/>
                </a:solidFill>
                <a:latin typeface="WenQuanYi Micro Hei"/>
                <a:ea typeface="WenQuanYi Micro Hei"/>
              </a:rPr>
              <a:t>与实施范围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38675" y="5334000"/>
            <a:ext cx="2914649" cy="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8058150" y="2228850"/>
            <a:ext cx="3448050" cy="3476625"/>
          </a:xfrm>
          <a:prstGeom prst="rect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4849" y="2486025"/>
            <a:ext cx="619125" cy="619125"/>
          </a:xfrm>
          <a:prstGeom prst="ellipse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4849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4849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14A3C"/>
                </a:solidFill>
                <a:latin typeface="WenQuanYi Micro Hei"/>
                <a:ea typeface="WenQuanYi Micro Hei"/>
              </a:rPr>
              <a:t>环境价值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4849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14A3C"/>
                </a:solidFill>
                <a:latin typeface="WenQuanYi Micro Hei"/>
                <a:ea typeface="WenQuanYi Micro Hei"/>
              </a:rPr>
              <a:t>说明减排效果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14A3C"/>
                </a:solidFill>
                <a:latin typeface="WenQuanYi Micro Hei"/>
                <a:ea typeface="WenQuanYi Micro Hei"/>
              </a:rPr>
              <a:t>与持续收益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24849" y="5334000"/>
            <a:ext cx="2914651" cy="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DF7ED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4A3C"/>
                </a:solidFill>
                <a:latin typeface="WenQuanYi Micro Hei"/>
                <a:ea typeface="WenQuanYi Micro Hei"/>
              </a:rPr>
              <a:t>OPEN OFFICE  /  能源环保·项目方案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4A3C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714375"/>
            <a:ext cx="10744200" cy="5429250"/>
          </a:xfrm>
          <a:prstGeom prst="rect">
            <a:avLst/>
          </a:prstGeom>
          <a:noFill/>
          <a:ln w="19050">
            <a:solidFill>
              <a:srgbClr val="3592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57850" y="1685925"/>
            <a:ext cx="876300" cy="66675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2619375"/>
            <a:ext cx="9525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214A3C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905249"/>
            <a:ext cx="9525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214A3C"/>
                </a:solidFill>
                <a:latin typeface="WenQuanYi Micro Hei"/>
                <a:ea typeface="WenQuanYi Micro Hei"/>
              </a:rPr>
              <a:t>把绿色愿景落实到每一次行动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114925"/>
            <a:ext cx="9525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5926A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能源环保·项目方案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