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21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214A3C"/>
                </a:solidFill>
                <a:latin typeface="WenQuanYi Micro Hei"/>
                <a:ea typeface="WenQuanYi Micro Hei"/>
              </a:rPr>
              <a:t>能源环保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214A3C"/>
                </a:solidFill>
                <a:latin typeface="WenQuanYi Micro Hei"/>
                <a:ea typeface="WenQuanYi Micro Hei"/>
              </a:rPr>
              <a:t>碳管理流程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14A3C"/>
                </a:solidFill>
                <a:latin typeface="WenQuanYi Micro Hei"/>
                <a:ea typeface="WenQuanYi Micro Hei"/>
              </a:rPr>
              <a:t>建立可追踪的减排闭环</a:t>
            </a:r>
          </a:p>
        </p:txBody>
      </p:sp>
      <p:sp>
        <p:nvSpPr>
          <p:cNvPr id="7" name="Oval 6"/>
          <p:cNvSpPr/>
          <p:nvPr/>
        </p:nvSpPr>
        <p:spPr>
          <a:xfrm>
            <a:off x="10224135" y="1245870"/>
            <a:ext cx="544830" cy="544830"/>
          </a:xfrm>
          <a:prstGeom prst="ellipse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258300" y="1964055"/>
            <a:ext cx="0" cy="1139189"/>
          </a:xfrm>
          <a:prstGeom prst="line">
            <a:avLst/>
          </a:prstGeom>
          <a:ln w="38100">
            <a:solidFill>
              <a:srgbClr val="214A3C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9258300" y="1245870"/>
            <a:ext cx="0" cy="544830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8738235" y="1790700"/>
            <a:ext cx="520065" cy="297180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9258300" y="1790700"/>
            <a:ext cx="569595" cy="247649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sp>
        <p:nvSpPr>
          <p:cNvPr id="12" name="Rectangle 11"/>
          <p:cNvSpPr/>
          <p:nvPr/>
        </p:nvSpPr>
        <p:spPr>
          <a:xfrm>
            <a:off x="9852660" y="2261235"/>
            <a:ext cx="1040130" cy="792480"/>
          </a:xfrm>
          <a:prstGeom prst="rect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0199370" y="2261235"/>
            <a:ext cx="0" cy="79248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0546080" y="2261235"/>
            <a:ext cx="0" cy="79248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9852660" y="2657475"/>
            <a:ext cx="1040130" cy="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能源现状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节能方案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环境价值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DF7ED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1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14A3C"/>
                </a:solidFill>
                <a:latin typeface="WenQuanYi Micro Hei"/>
                <a:ea typeface="WenQuanYi Micro Hei"/>
              </a:rPr>
              <a:t>能源环保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14A3C"/>
                </a:solidFill>
                <a:latin typeface="WenQuanYi Micro Hei"/>
                <a:ea typeface="WenQuanYi Micro Hei"/>
              </a:rPr>
              <a:t>建立可追踪的减排闭环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62050" y="2543175"/>
            <a:ext cx="0" cy="2743200"/>
          </a:xfrm>
          <a:prstGeom prst="line">
            <a:avLst/>
          </a:prstGeom>
          <a:ln w="28575">
            <a:solidFill>
              <a:srgbClr val="35926A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876300" y="2409825"/>
            <a:ext cx="571500" cy="571500"/>
          </a:xfrm>
          <a:prstGeom prst="ellipse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246697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9750" y="2238375"/>
            <a:ext cx="9696450" cy="990599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6450" y="240982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14A3C"/>
                </a:solidFill>
                <a:latin typeface="WenQuanYi Micro Hei"/>
                <a:ea typeface="WenQuanYi Micro Hei"/>
              </a:rPr>
              <a:t>盘查基线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575" y="2419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4A3C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575" y="275272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4A3C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14" name="Oval 13"/>
          <p:cNvSpPr/>
          <p:nvPr/>
        </p:nvSpPr>
        <p:spPr>
          <a:xfrm>
            <a:off x="876300" y="3600450"/>
            <a:ext cx="571500" cy="571500"/>
          </a:xfrm>
          <a:prstGeom prst="ellipse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300" y="3657600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9750" y="3429000"/>
            <a:ext cx="9696450" cy="990599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6450" y="3600450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14A3C"/>
                </a:solidFill>
                <a:latin typeface="WenQuanYi Micro Hei"/>
                <a:ea typeface="WenQuanYi Micro Hei"/>
              </a:rPr>
              <a:t>执行改造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2575" y="3609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4A3C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2575" y="3943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4A3C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20" name="Oval 19"/>
          <p:cNvSpPr/>
          <p:nvPr/>
        </p:nvSpPr>
        <p:spPr>
          <a:xfrm>
            <a:off x="876300" y="4791075"/>
            <a:ext cx="571500" cy="571500"/>
          </a:xfrm>
          <a:prstGeom prst="ellipse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300" y="484822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9750" y="4619625"/>
            <a:ext cx="9696450" cy="990599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76450" y="479107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14A3C"/>
                </a:solidFill>
                <a:latin typeface="WenQuanYi Micro Hei"/>
                <a:ea typeface="WenQuanYi Micro Hei"/>
              </a:rPr>
              <a:t>监测优化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2575" y="480060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4A3C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2575" y="5133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4A3C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DF7ED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4A3C"/>
                </a:solidFill>
                <a:latin typeface="WenQuanYi Micro Hei"/>
                <a:ea typeface="WenQuanYi Micro Hei"/>
              </a:rPr>
              <a:t>OPEN OFFICE  /  能源环保·碳管理流程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4A3C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21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74570" y="2291715"/>
            <a:ext cx="565785" cy="565785"/>
          </a:xfrm>
          <a:prstGeom prst="ellipse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271587" y="3037522"/>
            <a:ext cx="0" cy="1183005"/>
          </a:xfrm>
          <a:prstGeom prst="line">
            <a:avLst/>
          </a:prstGeom>
          <a:ln w="38100">
            <a:solidFill>
              <a:srgbClr val="EDF7ED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 flipV="1">
            <a:off x="1271587" y="2291715"/>
            <a:ext cx="0" cy="565785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H="1">
            <a:off x="731519" y="2857500"/>
            <a:ext cx="540068" cy="308610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271587" y="2857500"/>
            <a:ext cx="591503" cy="257175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sp>
        <p:nvSpPr>
          <p:cNvPr id="9" name="Rectangle 8"/>
          <p:cNvSpPr/>
          <p:nvPr/>
        </p:nvSpPr>
        <p:spPr>
          <a:xfrm>
            <a:off x="1888807" y="3346132"/>
            <a:ext cx="1080135" cy="822960"/>
          </a:xfrm>
          <a:prstGeom prst="rect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248852" y="3346132"/>
            <a:ext cx="0" cy="82296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2608897" y="3346132"/>
            <a:ext cx="0" cy="82296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888807" y="3757612"/>
            <a:ext cx="1080135" cy="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214A3C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214A3C"/>
                </a:solidFill>
                <a:latin typeface="WenQuanYi Micro Hei"/>
                <a:ea typeface="WenQuanYi Micro Hei"/>
              </a:rPr>
              <a:t>把绿色愿景落实到每一次行动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5926A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能源环保·碳管理流程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