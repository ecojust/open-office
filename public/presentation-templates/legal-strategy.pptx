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3B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法律咨询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合规策略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4F1EA"/>
                </a:solidFill>
                <a:latin typeface="WenQuanYi Micro Hei"/>
                <a:ea typeface="WenQuanYi Micro Hei"/>
              </a:rPr>
              <a:t>以专业判断守护稳健发展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4F1EA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48850" y="2235708"/>
            <a:ext cx="0" cy="2098547"/>
          </a:xfrm>
          <a:prstGeom prst="line">
            <a:avLst/>
          </a:prstGeom>
          <a:ln w="38100">
            <a:solidFill>
              <a:srgbClr val="F4F1EA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974455" y="2731198"/>
            <a:ext cx="1748790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9324213" y="4334255"/>
            <a:ext cx="1049274" cy="174879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8566404" y="2731198"/>
            <a:ext cx="408051" cy="845249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974455" y="2731198"/>
            <a:ext cx="408051" cy="845249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566404" y="3576447"/>
            <a:ext cx="816102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5" name="Oval 14"/>
          <p:cNvSpPr/>
          <p:nvPr/>
        </p:nvSpPr>
        <p:spPr>
          <a:xfrm>
            <a:off x="8814149" y="2294001"/>
            <a:ext cx="320611" cy="320611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10315194" y="2731198"/>
            <a:ext cx="408051" cy="845249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0723245" y="2731198"/>
            <a:ext cx="408051" cy="845249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0315194" y="3576447"/>
            <a:ext cx="816102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9" name="Oval 18"/>
          <p:cNvSpPr/>
          <p:nvPr/>
        </p:nvSpPr>
        <p:spPr>
          <a:xfrm>
            <a:off x="10562939" y="2294001"/>
            <a:ext cx="320611" cy="320611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1EA"/>
                </a:solidFill>
                <a:latin typeface="WenQuanYi Micro Hei"/>
                <a:ea typeface="WenQuanYi Micro Hei"/>
              </a:rPr>
              <a:t>OPEN OFFICE  /  战略规划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63B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63B42"/>
                </a:solidFill>
                <a:latin typeface="WenQuanYi Micro Hei"/>
                <a:ea typeface="WenQuanYi Micro Hei"/>
              </a:rPr>
              <a:t>法律咨询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以专业判断守护稳健发展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19325"/>
            <a:ext cx="3143250" cy="3362325"/>
          </a:xfrm>
          <a:prstGeom prst="rect">
            <a:avLst/>
          </a:prstGeom>
          <a:solidFill>
            <a:srgbClr val="363B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2543175"/>
            <a:ext cx="26098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FFFFF"/>
                </a:solidFill>
                <a:latin typeface="WenQuanYi Micro Hei"/>
                <a:ea typeface="WenQuanYi Micro Hei"/>
              </a:rPr>
              <a:t>共同目标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90875"/>
            <a:ext cx="2609850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4F1EA"/>
                </a:solidFill>
                <a:latin typeface="WenQuanYi Micro Hei"/>
                <a:ea typeface="WenQuanYi Micro Hei"/>
              </a:rPr>
              <a:t>明确目标人群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4F1EA"/>
                </a:solidFill>
                <a:latin typeface="WenQuanYi Micro Hei"/>
                <a:ea typeface="WenQuanYi Micro Hei"/>
              </a:rPr>
              <a:t>定义成功标准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4F1EA"/>
                </a:solidFill>
                <a:latin typeface="WenQuanYi Micro Hei"/>
                <a:ea typeface="WenQuanYi Micro Hei"/>
              </a:rPr>
              <a:t>聚焦优先行动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0999" y="2257425"/>
            <a:ext cx="7315200" cy="942975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600" y="240982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8A7754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275" y="238125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63B42"/>
                </a:solidFill>
                <a:latin typeface="WenQuanYi Micro Hei"/>
                <a:ea typeface="WenQuanYi Micro Hei"/>
              </a:rPr>
              <a:t>事实梳理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275" y="276225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63B42"/>
                </a:solidFill>
                <a:latin typeface="WenQuanYi Micro Hei"/>
                <a:ea typeface="WenQuanYi Micro Hei"/>
              </a:rPr>
              <a:t>厘清业务场景与事实材料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0999" y="3371850"/>
            <a:ext cx="7315200" cy="942975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3524250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8A7754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275" y="3495675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63B42"/>
                </a:solidFill>
                <a:latin typeface="WenQuanYi Micro Hei"/>
                <a:ea typeface="WenQuanYi Micro Hei"/>
              </a:rPr>
              <a:t>规则分析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275" y="3876674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63B42"/>
                </a:solidFill>
                <a:latin typeface="WenQuanYi Micro Hei"/>
                <a:ea typeface="WenQuanYi Micro Hei"/>
              </a:rPr>
              <a:t>识别适用规则与风险边界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0999" y="4486275"/>
            <a:ext cx="7315200" cy="942975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9600" y="463867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8A7754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275" y="461010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63B42"/>
                </a:solidFill>
                <a:latin typeface="WenQuanYi Micro Hei"/>
                <a:ea typeface="WenQuanYi Micro Hei"/>
              </a:rPr>
              <a:t>行动建议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275" y="499110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63B42"/>
                </a:solidFill>
                <a:latin typeface="WenQuanYi Micro Hei"/>
                <a:ea typeface="WenQuanYi Micro Hei"/>
              </a:rPr>
              <a:t>提出可执行的应对与分工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4F1EA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63B42"/>
                </a:solidFill>
                <a:latin typeface="WenQuanYi Micro Hei"/>
                <a:ea typeface="WenQuanYi Micro Hei"/>
              </a:rPr>
              <a:t>OPEN OFFICE  /  法律咨询·合规策略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63B42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363B42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363B42"/>
                </a:solidFill>
                <a:latin typeface="WenQuanYi Micro Hei"/>
                <a:ea typeface="WenQuanYi Micro Hei"/>
              </a:rPr>
              <a:t>以清晰的规则，支持稳健的决策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8A7754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法律咨询·合规策略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