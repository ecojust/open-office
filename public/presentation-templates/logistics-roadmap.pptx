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33D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19100" cy="6858000"/>
          </a:xfrm>
          <a:prstGeom prst="rect">
            <a:avLst/>
          </a:prstGeom>
          <a:solidFill>
            <a:srgbClr val="3574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1562100"/>
            <a:ext cx="7334250" cy="169640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378"/>
              </a:lnSpc>
              <a:spcBef>
                <a:spcPts val="0"/>
              </a:spcBef>
              <a:spcAft>
                <a:spcPts val="0"/>
              </a:spcAft>
            </a:pPr>
            <a:r>
              <a:rPr sz="4725" b="1">
                <a:solidFill>
                  <a:srgbClr val="FFFFFF"/>
                </a:solidFill>
                <a:latin typeface="WenQuanYi Micro Hei"/>
                <a:ea typeface="WenQuanYi Micro Hei"/>
              </a:rPr>
              <a:t>交通物流</a:t>
            </a:r>
          </a:p>
          <a:p>
            <a:pPr algn="l">
              <a:lnSpc>
                <a:spcPts val="6378"/>
              </a:lnSpc>
              <a:spcBef>
                <a:spcPts val="0"/>
              </a:spcBef>
              <a:spcAft>
                <a:spcPts val="0"/>
              </a:spcAft>
            </a:pPr>
            <a:r>
              <a:rPr sz="4725" b="1">
                <a:solidFill>
                  <a:srgbClr val="FFFFFF"/>
                </a:solidFill>
                <a:latin typeface="WenQuanYi Micro Hei"/>
                <a:ea typeface="WenQuanYi Micro Hei"/>
              </a:rPr>
              <a:t>运力计划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95675"/>
            <a:ext cx="7191375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EAF2FB"/>
                </a:solidFill>
                <a:latin typeface="WenQuanYi Micro Hei"/>
                <a:ea typeface="WenQuanYi Micro Hei"/>
              </a:rPr>
              <a:t>以协同运力应对新需求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04875" y="4610100"/>
            <a:ext cx="6715125" cy="0"/>
          </a:xfrm>
          <a:prstGeom prst="line">
            <a:avLst/>
          </a:prstGeom>
          <a:ln w="19050">
            <a:solidFill>
              <a:srgbClr val="3574B4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914400" y="5286375"/>
            <a:ext cx="7191375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AF2FB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857869" y="2527173"/>
            <a:ext cx="1923669" cy="0"/>
          </a:xfrm>
          <a:prstGeom prst="line">
            <a:avLst/>
          </a:prstGeom>
          <a:ln w="38100">
            <a:solidFill>
              <a:srgbClr val="3574B4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10781538" y="2527173"/>
            <a:ext cx="0" cy="1632204"/>
          </a:xfrm>
          <a:prstGeom prst="line">
            <a:avLst/>
          </a:prstGeom>
          <a:ln w="38100">
            <a:solidFill>
              <a:srgbClr val="3574B4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8857869" y="4159377"/>
            <a:ext cx="1923669" cy="0"/>
          </a:xfrm>
          <a:prstGeom prst="line">
            <a:avLst/>
          </a:prstGeom>
          <a:ln w="38100">
            <a:solidFill>
              <a:srgbClr val="3574B4"/>
            </a:solidFill>
          </a:ln>
          <a:effectLst/>
        </p:spPr>
      </p:cxnSp>
      <p:sp>
        <p:nvSpPr>
          <p:cNvPr id="12" name="Oval 11"/>
          <p:cNvSpPr/>
          <p:nvPr/>
        </p:nvSpPr>
        <p:spPr>
          <a:xfrm>
            <a:off x="8653843" y="2323147"/>
            <a:ext cx="408051" cy="408051"/>
          </a:xfrm>
          <a:prstGeom prst="ellipse">
            <a:avLst/>
          </a:prstGeom>
          <a:solidFill>
            <a:srgbClr val="EAF2FB"/>
          </a:solidFill>
          <a:ln w="19050">
            <a:solidFill>
              <a:srgbClr val="3574B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77512" y="2323147"/>
            <a:ext cx="408051" cy="408051"/>
          </a:xfrm>
          <a:prstGeom prst="ellipse">
            <a:avLst/>
          </a:prstGeom>
          <a:solidFill>
            <a:srgbClr val="EAF2FB"/>
          </a:solidFill>
          <a:ln w="19050">
            <a:solidFill>
              <a:srgbClr val="3574B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53843" y="3955351"/>
            <a:ext cx="408051" cy="408051"/>
          </a:xfrm>
          <a:prstGeom prst="ellipse">
            <a:avLst/>
          </a:prstGeom>
          <a:solidFill>
            <a:srgbClr val="EAF2FB"/>
          </a:solidFill>
          <a:ln w="19050">
            <a:solidFill>
              <a:srgbClr val="3574B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265920" y="3110102"/>
            <a:ext cx="990981" cy="699516"/>
          </a:xfrm>
          <a:prstGeom prst="rect">
            <a:avLst/>
          </a:prstGeom>
          <a:solidFill>
            <a:srgbClr val="EAF2FB"/>
          </a:solidFill>
          <a:ln w="19050">
            <a:solidFill>
              <a:srgbClr val="EAF2F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9761410" y="3110102"/>
            <a:ext cx="0" cy="699517"/>
          </a:xfrm>
          <a:prstGeom prst="line">
            <a:avLst/>
          </a:prstGeom>
          <a:ln w="19050">
            <a:solidFill>
              <a:srgbClr val="EAF2FB"/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9265920" y="3314128"/>
            <a:ext cx="990981" cy="0"/>
          </a:xfrm>
          <a:prstGeom prst="line">
            <a:avLst/>
          </a:prstGeom>
          <a:ln w="19050">
            <a:solidFill>
              <a:srgbClr val="EAF2FB"/>
            </a:solidFill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914400" y="581025"/>
            <a:ext cx="9525000" cy="256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AF2FB"/>
                </a:solidFill>
                <a:latin typeface="WenQuanYi Micro Hei"/>
                <a:ea typeface="WenQuanYi Micro Hei"/>
              </a:rPr>
              <a:t>OPEN OFFICE  /  计划与路线图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3574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233D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233D5B"/>
                </a:solidFill>
                <a:latin typeface="WenQuanYi Micro Hei"/>
                <a:ea typeface="WenQuanYi Micro Hei"/>
              </a:rPr>
              <a:t>交通物流 / 阶段目标与交付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33D5B"/>
                </a:solidFill>
                <a:latin typeface="WenQuanYi Micro Hei"/>
                <a:ea typeface="WenQuanYi Micro Hei"/>
              </a:rPr>
              <a:t>以协同运力应对新需求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23975" y="3067050"/>
            <a:ext cx="9477375" cy="0"/>
          </a:xfrm>
          <a:prstGeom prst="line">
            <a:avLst/>
          </a:prstGeom>
          <a:ln w="38100">
            <a:solidFill>
              <a:srgbClr val="3574B4"/>
            </a:solidFill>
          </a:ln>
          <a:effectLst/>
        </p:spPr>
      </p:cxnSp>
      <p:sp>
        <p:nvSpPr>
          <p:cNvPr id="8" name="Oval 7"/>
          <p:cNvSpPr/>
          <p:nvPr/>
        </p:nvSpPr>
        <p:spPr>
          <a:xfrm>
            <a:off x="1800225" y="2657475"/>
            <a:ext cx="819150" cy="819150"/>
          </a:xfrm>
          <a:prstGeom prst="ellipse">
            <a:avLst/>
          </a:prstGeom>
          <a:solidFill>
            <a:srgbClr val="3574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00225" y="2867025"/>
            <a:ext cx="8191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WenQuanYi Micro Hei"/>
                <a:ea typeface="WenQuanYi Micro 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050" y="2190750"/>
            <a:ext cx="325755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33D5B"/>
                </a:solidFill>
                <a:latin typeface="WenQuanYi Micro Hei"/>
                <a:ea typeface="WenQuanYi Micro Hei"/>
              </a:rPr>
              <a:t>近期 / 夯实基础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781425"/>
            <a:ext cx="3448050" cy="17526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19549"/>
            <a:ext cx="29908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33D5B"/>
                </a:solidFill>
                <a:latin typeface="WenQuanYi Micro Hei"/>
                <a:ea typeface="WenQuanYi Micro Hei"/>
              </a:rPr>
              <a:t>集货分拣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4543425"/>
            <a:ext cx="2952750" cy="7362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33D5B"/>
                </a:solidFill>
                <a:latin typeface="WenQuanYi Micro Hei"/>
                <a:ea typeface="WenQuanYi Micro Hei"/>
              </a:rPr>
              <a:t>关键交付：待填写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33D5B"/>
                </a:solidFill>
                <a:latin typeface="WenQuanYi Micro Hei"/>
                <a:ea typeface="WenQuanYi Micro Hei"/>
              </a:rPr>
              <a:t>负责人 / 完成日期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0" y="2657475"/>
            <a:ext cx="819150" cy="819150"/>
          </a:xfrm>
          <a:prstGeom prst="ellipse">
            <a:avLst/>
          </a:prstGeom>
          <a:solidFill>
            <a:srgbClr val="3574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0" y="2867025"/>
            <a:ext cx="8191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WenQuanYi Micro Hei"/>
                <a:ea typeface="WenQuanYi Micro 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7225" y="2190750"/>
            <a:ext cx="325755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33D5B"/>
                </a:solidFill>
                <a:latin typeface="WenQuanYi Micro Hei"/>
                <a:ea typeface="WenQuanYi Micro Hei"/>
              </a:rPr>
              <a:t>中期 / 验证推进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71975" y="3781425"/>
            <a:ext cx="3448050" cy="17526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0575" y="4019549"/>
            <a:ext cx="29908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33D5B"/>
                </a:solidFill>
                <a:latin typeface="WenQuanYi Micro Hei"/>
                <a:ea typeface="WenQuanYi Micro Hei"/>
              </a:rPr>
              <a:t>干线运输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0100" y="4543425"/>
            <a:ext cx="2952750" cy="7362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33D5B"/>
                </a:solidFill>
                <a:latin typeface="WenQuanYi Micro Hei"/>
                <a:ea typeface="WenQuanYi Micro Hei"/>
              </a:rPr>
              <a:t>关键交付：待填写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33D5B"/>
                </a:solidFill>
                <a:latin typeface="WenQuanYi Micro Hei"/>
                <a:ea typeface="WenQuanYi Micro Hei"/>
              </a:rPr>
              <a:t>负责人 / 完成日期</a:t>
            </a:r>
          </a:p>
        </p:txBody>
      </p:sp>
      <p:sp>
        <p:nvSpPr>
          <p:cNvPr id="20" name="Oval 19"/>
          <p:cNvSpPr/>
          <p:nvPr/>
        </p:nvSpPr>
        <p:spPr>
          <a:xfrm>
            <a:off x="9172575" y="2657475"/>
            <a:ext cx="819150" cy="819150"/>
          </a:xfrm>
          <a:prstGeom prst="ellipse">
            <a:avLst/>
          </a:prstGeom>
          <a:solidFill>
            <a:srgbClr val="3574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72575" y="2867025"/>
            <a:ext cx="8191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WenQuanYi Micro Hei"/>
                <a:ea typeface="WenQuanYi Micro He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3399" y="2190750"/>
            <a:ext cx="325755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33D5B"/>
                </a:solidFill>
                <a:latin typeface="WenQuanYi Micro Hei"/>
                <a:ea typeface="WenQuanYi Micro Hei"/>
              </a:rPr>
              <a:t>远期 / 持续优化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58150" y="3781425"/>
            <a:ext cx="3448050" cy="17526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86750" y="4019549"/>
            <a:ext cx="29908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33D5B"/>
                </a:solidFill>
                <a:latin typeface="WenQuanYi Micro Hei"/>
                <a:ea typeface="WenQuanYi Micro Hei"/>
              </a:rPr>
              <a:t>末端交付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6274" y="4543425"/>
            <a:ext cx="2952750" cy="7362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33D5B"/>
                </a:solidFill>
                <a:latin typeface="WenQuanYi Micro Hei"/>
                <a:ea typeface="WenQuanYi Micro Hei"/>
              </a:rPr>
              <a:t>关键交付：待填写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33D5B"/>
                </a:solidFill>
                <a:latin typeface="WenQuanYi Micro Hei"/>
                <a:ea typeface="WenQuanYi Micro Hei"/>
              </a:rPr>
              <a:t>负责人 / 完成日期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EAF2FB"/>
            </a:solidFill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33D5B"/>
                </a:solidFill>
                <a:latin typeface="WenQuanYi Micro Hei"/>
                <a:ea typeface="WenQuanYi Micro Hei"/>
              </a:rPr>
              <a:t>OPEN OFFICE  /  交通物流·运力计划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33D5B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76775"/>
            <a:ext cx="12192000" cy="2181225"/>
          </a:xfrm>
          <a:prstGeom prst="rect">
            <a:avLst/>
          </a:prstGeom>
          <a:solidFill>
            <a:srgbClr val="233D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5383530" y="908685"/>
            <a:ext cx="1383029" cy="0"/>
          </a:xfrm>
          <a:prstGeom prst="line">
            <a:avLst/>
          </a:prstGeom>
          <a:ln w="38100">
            <a:solidFill>
              <a:srgbClr val="3574B4"/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>
            <a:off x="6766559" y="908685"/>
            <a:ext cx="0" cy="1173479"/>
          </a:xfrm>
          <a:prstGeom prst="line">
            <a:avLst/>
          </a:prstGeom>
          <a:ln w="38100">
            <a:solidFill>
              <a:srgbClr val="3574B4"/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>
            <a:off x="5383530" y="2082164"/>
            <a:ext cx="1383029" cy="0"/>
          </a:xfrm>
          <a:prstGeom prst="line">
            <a:avLst/>
          </a:prstGeom>
          <a:ln w="38100">
            <a:solidFill>
              <a:srgbClr val="3574B4"/>
            </a:solidFill>
          </a:ln>
          <a:effectLst/>
        </p:spPr>
      </p:cxnSp>
      <p:sp>
        <p:nvSpPr>
          <p:cNvPr id="7" name="Oval 6"/>
          <p:cNvSpPr/>
          <p:nvPr/>
        </p:nvSpPr>
        <p:spPr>
          <a:xfrm>
            <a:off x="5236845" y="762000"/>
            <a:ext cx="293370" cy="293370"/>
          </a:xfrm>
          <a:prstGeom prst="ellipse">
            <a:avLst/>
          </a:prstGeom>
          <a:solidFill>
            <a:srgbClr val="EAF2FB"/>
          </a:solidFill>
          <a:ln w="19050">
            <a:solidFill>
              <a:srgbClr val="3574B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619875" y="762000"/>
            <a:ext cx="293370" cy="293370"/>
          </a:xfrm>
          <a:prstGeom prst="ellipse">
            <a:avLst/>
          </a:prstGeom>
          <a:solidFill>
            <a:srgbClr val="EAF2FB"/>
          </a:solidFill>
          <a:ln w="19050">
            <a:solidFill>
              <a:srgbClr val="3574B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236845" y="1935480"/>
            <a:ext cx="293370" cy="293370"/>
          </a:xfrm>
          <a:prstGeom prst="ellipse">
            <a:avLst/>
          </a:prstGeom>
          <a:solidFill>
            <a:srgbClr val="EAF2FB"/>
          </a:solidFill>
          <a:ln w="19050">
            <a:solidFill>
              <a:srgbClr val="3574B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76900" y="1327784"/>
            <a:ext cx="712470" cy="502919"/>
          </a:xfrm>
          <a:prstGeom prst="rect">
            <a:avLst/>
          </a:prstGeom>
          <a:solidFill>
            <a:srgbClr val="EAF2FB"/>
          </a:solidFill>
          <a:ln w="19050">
            <a:solidFill>
              <a:srgbClr val="233D5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6033135" y="1327784"/>
            <a:ext cx="0" cy="502921"/>
          </a:xfrm>
          <a:prstGeom prst="line">
            <a:avLst/>
          </a:prstGeom>
          <a:ln w="19050">
            <a:solidFill>
              <a:srgbClr val="233D5B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5676900" y="1474470"/>
            <a:ext cx="712470" cy="0"/>
          </a:xfrm>
          <a:prstGeom prst="line">
            <a:avLst/>
          </a:prstGeom>
          <a:ln w="19050">
            <a:solidFill>
              <a:srgbClr val="233D5B"/>
            </a:solidFill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1143000" y="2714625"/>
            <a:ext cx="9906000" cy="13439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403"/>
              </a:lnSpc>
              <a:spcBef>
                <a:spcPts val="0"/>
              </a:spcBef>
              <a:spcAft>
                <a:spcPts val="0"/>
              </a:spcAft>
            </a:pPr>
            <a:r>
              <a:rPr sz="6225" b="1">
                <a:solidFill>
                  <a:srgbClr val="233D5B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914775"/>
            <a:ext cx="990600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3574B4"/>
                </a:solidFill>
                <a:latin typeface="WenQuanYi Micro Hei"/>
                <a:ea typeface="WenQuanYi Micro Hei"/>
              </a:rPr>
              <a:t>谢谢观看  /  期待交流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381625"/>
            <a:ext cx="9906000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FFFFFF"/>
                </a:solidFill>
                <a:latin typeface="WenQuanYi Micro Hei"/>
                <a:ea typeface="WenQuanYi Micro Hei"/>
              </a:rPr>
              <a:t>连接每一站，让交付更有把握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交通物流·运力计划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