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2950"/>
            <a:ext cx="12192000" cy="2305050"/>
          </a:xfrm>
          <a:prstGeom prst="rect">
            <a:avLst/>
          </a:prstGeom>
          <a:solidFill>
            <a:srgbClr val="573F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19150"/>
            <a:ext cx="723900" cy="66675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3975"/>
            <a:ext cx="7239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573F2C"/>
                </a:solidFill>
                <a:latin typeface="WenQuanYi Micro Hei"/>
                <a:ea typeface="WenQuanYi Micro Hei"/>
              </a:rPr>
              <a:t>餐饮服务</a:t>
            </a:r>
          </a:p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573F2C"/>
                </a:solidFill>
                <a:latin typeface="WenQuanYi Micro Hei"/>
                <a:ea typeface="WenQuanYi Micro Hei"/>
              </a:rPr>
              <a:t>出餐流程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14725"/>
            <a:ext cx="7239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73F2C"/>
                </a:solidFill>
                <a:latin typeface="WenQuanYi Micro Hei"/>
                <a:ea typeface="WenQuanYi Micro Hei"/>
              </a:rPr>
              <a:t>从备料到出品保持一致</a:t>
            </a:r>
          </a:p>
        </p:txBody>
      </p:sp>
      <p:sp>
        <p:nvSpPr>
          <p:cNvPr id="7" name="Oval 6"/>
          <p:cNvSpPr/>
          <p:nvPr/>
        </p:nvSpPr>
        <p:spPr>
          <a:xfrm>
            <a:off x="9233535" y="1567815"/>
            <a:ext cx="1312545" cy="1312545"/>
          </a:xfrm>
          <a:prstGeom prst="ellipse">
            <a:avLst/>
          </a:prstGeom>
          <a:solidFill>
            <a:srgbClr val="FFF5E9"/>
          </a:solidFill>
          <a:ln w="28575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31655" y="1765934"/>
            <a:ext cx="916305" cy="916305"/>
          </a:xfrm>
          <a:prstGeom prst="ellipse">
            <a:avLst/>
          </a:prstGeom>
          <a:noFill/>
          <a:ln w="19050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936355" y="1518285"/>
            <a:ext cx="0" cy="1609724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8812530" y="1394460"/>
            <a:ext cx="0" cy="619125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8936355" y="1394460"/>
            <a:ext cx="0" cy="619125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9060180" y="1394460"/>
            <a:ext cx="0" cy="619125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8812530" y="2013585"/>
            <a:ext cx="247650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0818494" y="1443990"/>
            <a:ext cx="0" cy="1684019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669905" y="1443990"/>
            <a:ext cx="0" cy="79248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0669905" y="2236470"/>
            <a:ext cx="148589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7429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 / 客群定位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770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 / 产品出品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24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 / 门店服务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" y="5991225"/>
            <a:ext cx="9525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5E9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73F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73F2C"/>
                </a:solidFill>
                <a:latin typeface="WenQuanYi Micro Hei"/>
                <a:ea typeface="WenQuanYi Micro Hei"/>
              </a:rPr>
              <a:t>餐饮服务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73F2C"/>
                </a:solidFill>
                <a:latin typeface="WenQuanYi Micro Hei"/>
                <a:ea typeface="WenQuanYi Micro Hei"/>
              </a:rPr>
              <a:t>从备料到出品保持一致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62050" y="2543175"/>
            <a:ext cx="0" cy="2743200"/>
          </a:xfrm>
          <a:prstGeom prst="line">
            <a:avLst/>
          </a:prstGeom>
          <a:ln w="28575">
            <a:solidFill>
              <a:srgbClr val="BD703B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876300" y="2409825"/>
            <a:ext cx="571500" cy="571500"/>
          </a:xfrm>
          <a:prstGeom prst="ellipse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246697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9750" y="2238375"/>
            <a:ext cx="9696450" cy="990599"/>
          </a:xfrm>
          <a:prstGeom prst="rect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6450" y="240982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573F2C"/>
                </a:solidFill>
                <a:latin typeface="WenQuanYi Micro Hei"/>
                <a:ea typeface="WenQuanYi Micro Hei"/>
              </a:rPr>
              <a:t>食材验收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2575" y="2419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3F2C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575" y="275272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3F2C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14" name="Oval 13"/>
          <p:cNvSpPr/>
          <p:nvPr/>
        </p:nvSpPr>
        <p:spPr>
          <a:xfrm>
            <a:off x="876300" y="3600450"/>
            <a:ext cx="571500" cy="571500"/>
          </a:xfrm>
          <a:prstGeom prst="ellipse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300" y="3657600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9750" y="3429000"/>
            <a:ext cx="9696450" cy="990599"/>
          </a:xfrm>
          <a:prstGeom prst="rect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6450" y="3600450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573F2C"/>
                </a:solidFill>
                <a:latin typeface="WenQuanYi Micro Hei"/>
                <a:ea typeface="WenQuanYi Micro Hei"/>
              </a:rPr>
              <a:t>标准制作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2575" y="3609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3F2C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2575" y="3943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3F2C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20" name="Oval 19"/>
          <p:cNvSpPr/>
          <p:nvPr/>
        </p:nvSpPr>
        <p:spPr>
          <a:xfrm>
            <a:off x="876300" y="4791075"/>
            <a:ext cx="571500" cy="571500"/>
          </a:xfrm>
          <a:prstGeom prst="ellipse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300" y="484822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9750" y="4619625"/>
            <a:ext cx="9696450" cy="990599"/>
          </a:xfrm>
          <a:prstGeom prst="rect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76450" y="479107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573F2C"/>
                </a:solidFill>
                <a:latin typeface="WenQuanYi Micro Hei"/>
                <a:ea typeface="WenQuanYi Micro Hei"/>
              </a:rPr>
              <a:t>出餐服务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2575" y="480060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3F2C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2575" y="5133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3F2C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FF5E9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73F2C"/>
                </a:solidFill>
                <a:latin typeface="WenQuanYi Micro Hei"/>
                <a:ea typeface="WenQuanYi Micro Hei"/>
              </a:rPr>
              <a:t>OPEN OFFICE  /  餐饮服务·出餐流程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73F2C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573F2C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573F2C"/>
                </a:solidFill>
                <a:latin typeface="WenQuanYi Micro Hei"/>
                <a:ea typeface="WenQuanYi Micro Hei"/>
              </a:rPr>
              <a:t>把日常滋味，做成值得回来的理由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BD703B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餐饮服务·出餐流程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