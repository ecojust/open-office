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4A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3D95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1562100"/>
            <a:ext cx="7334250" cy="16964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文旅酒店</a:t>
            </a:r>
          </a:p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服务旅程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95675"/>
            <a:ext cx="719137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EBF8F5"/>
                </a:solidFill>
                <a:latin typeface="WenQuanYi Micro Hei"/>
                <a:ea typeface="WenQuanYi Micro Hei"/>
              </a:rPr>
              <a:t>设计旅程中的每一次相遇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04875" y="4610100"/>
            <a:ext cx="6715125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914400" y="5286375"/>
            <a:ext cx="7191375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BF8F5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9" name="Oval 8"/>
          <p:cNvSpPr/>
          <p:nvPr/>
        </p:nvSpPr>
        <p:spPr>
          <a:xfrm>
            <a:off x="10315194" y="2264854"/>
            <a:ext cx="582930" cy="582930"/>
          </a:xfrm>
          <a:prstGeom prst="ellipse">
            <a:avLst/>
          </a:prstGeom>
          <a:solidFill>
            <a:srgbClr val="EBF8F5"/>
          </a:solidFill>
          <a:ln w="19050">
            <a:solidFill>
              <a:srgbClr val="3D95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8624697" y="2702052"/>
            <a:ext cx="757809" cy="1282446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9382506" y="2702052"/>
            <a:ext cx="786955" cy="1282446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V="1">
            <a:off x="9703117" y="3022663"/>
            <a:ext cx="699516" cy="961835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0402633" y="3022663"/>
            <a:ext cx="612077" cy="961835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8857869" y="4246816"/>
            <a:ext cx="1981962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8857869" y="4407122"/>
            <a:ext cx="1981962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8857869" y="4567428"/>
            <a:ext cx="1981962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914400" y="5810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BF8F5"/>
                </a:solidFill>
                <a:latin typeface="WenQuanYi Micro Hei"/>
                <a:ea typeface="WenQuanYi Micro Hei"/>
              </a:rPr>
              <a:t>OPEN OFFICE  /  流程与方法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3D95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84A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84A56"/>
                </a:solidFill>
                <a:latin typeface="WenQuanYi Micro Hei"/>
                <a:ea typeface="WenQuanYi Micro Hei"/>
              </a:rPr>
              <a:t>文旅酒店 / 关键流程与协作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设计旅程中的每一次相遇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95575"/>
            <a:ext cx="3448050" cy="2286000"/>
          </a:xfrm>
          <a:prstGeom prst="rect">
            <a:avLst/>
          </a:prstGeom>
          <a:solidFill>
            <a:srgbClr val="EBF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925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84A56"/>
                </a:solidFill>
                <a:latin typeface="WenQuanYi Micro Hei"/>
                <a:ea typeface="WenQuanYi Micro Hei"/>
              </a:rPr>
              <a:t>行前准备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10" name="Oval 9"/>
          <p:cNvSpPr/>
          <p:nvPr/>
        </p:nvSpPr>
        <p:spPr>
          <a:xfrm>
            <a:off x="2066924" y="2095499"/>
            <a:ext cx="666750" cy="666750"/>
          </a:xfrm>
          <a:prstGeom prst="ellipse">
            <a:avLst/>
          </a:prstGeom>
          <a:solidFill>
            <a:srgbClr val="3D95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66924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33849" y="3848099"/>
            <a:ext cx="180976" cy="0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4371975" y="2695575"/>
            <a:ext cx="3448050" cy="2286000"/>
          </a:xfrm>
          <a:prstGeom prst="rect">
            <a:avLst/>
          </a:prstGeom>
          <a:solidFill>
            <a:srgbClr val="EBF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0100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84A56"/>
                </a:solidFill>
                <a:latin typeface="WenQuanYi Micro Hei"/>
                <a:ea typeface="WenQuanYi Micro Hei"/>
              </a:rPr>
              <a:t>在地体验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16" name="Oval 15"/>
          <p:cNvSpPr/>
          <p:nvPr/>
        </p:nvSpPr>
        <p:spPr>
          <a:xfrm>
            <a:off x="5753100" y="2095499"/>
            <a:ext cx="666750" cy="666750"/>
          </a:xfrm>
          <a:prstGeom prst="ellipse">
            <a:avLst/>
          </a:prstGeom>
          <a:solidFill>
            <a:srgbClr val="3D95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53100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20025" y="3848099"/>
            <a:ext cx="180975" cy="0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8058150" y="2695575"/>
            <a:ext cx="3448050" cy="2286000"/>
          </a:xfrm>
          <a:prstGeom prst="rect">
            <a:avLst/>
          </a:prstGeom>
          <a:solidFill>
            <a:srgbClr val="EBF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6274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84A56"/>
                </a:solidFill>
                <a:latin typeface="WenQuanYi Micro Hei"/>
                <a:ea typeface="WenQuanYi Micro Hei"/>
              </a:rPr>
              <a:t>返程回访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274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22" name="Oval 21"/>
          <p:cNvSpPr/>
          <p:nvPr/>
        </p:nvSpPr>
        <p:spPr>
          <a:xfrm>
            <a:off x="9439275" y="2095499"/>
            <a:ext cx="666750" cy="666750"/>
          </a:xfrm>
          <a:prstGeom prst="ellipse">
            <a:avLst/>
          </a:prstGeom>
          <a:solidFill>
            <a:srgbClr val="3D95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9275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425" y="5381625"/>
            <a:ext cx="1047750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4A56"/>
                </a:solidFill>
                <a:latin typeface="WenQuanYi Micro Hei"/>
                <a:ea typeface="WenQuanYi Micro Hei"/>
              </a:rPr>
              <a:t>协作约定：统一标准、记录问题、明确反馈与升级路径。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BF8F5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84A56"/>
                </a:solidFill>
                <a:latin typeface="WenQuanYi Micro Hei"/>
                <a:ea typeface="WenQuanYi Micro Hei"/>
              </a:rPr>
              <a:t>OPEN OFFICE  /  文旅酒店·服务旅程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84A56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90949" cy="6858000"/>
          </a:xfrm>
          <a:prstGeom prst="rect">
            <a:avLst/>
          </a:prstGeom>
          <a:solidFill>
            <a:srgbClr val="284A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326005" y="2420302"/>
            <a:ext cx="514350" cy="514350"/>
          </a:xfrm>
          <a:prstGeom prst="ellipse">
            <a:avLst/>
          </a:prstGeom>
          <a:solidFill>
            <a:srgbClr val="EBF8F5"/>
          </a:solidFill>
          <a:ln w="19050">
            <a:solidFill>
              <a:srgbClr val="3D95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834390" y="2806065"/>
            <a:ext cx="668655" cy="1131569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1503045" y="2806065"/>
            <a:ext cx="694372" cy="1131569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 flipV="1">
            <a:off x="1785937" y="3088957"/>
            <a:ext cx="617220" cy="848677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2403157" y="3088957"/>
            <a:ext cx="540068" cy="848677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040130" y="4169092"/>
            <a:ext cx="1748789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040130" y="4310538"/>
            <a:ext cx="1748789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1040130" y="4451984"/>
            <a:ext cx="1748789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4362450" y="2085975"/>
            <a:ext cx="7143750" cy="1263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97"/>
              </a:lnSpc>
              <a:spcBef>
                <a:spcPts val="0"/>
              </a:spcBef>
              <a:spcAft>
                <a:spcPts val="0"/>
              </a:spcAft>
            </a:pPr>
            <a:r>
              <a:rPr sz="5850" b="1">
                <a:solidFill>
                  <a:srgbClr val="284A56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0550" y="3381375"/>
            <a:ext cx="7105650" cy="4748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284A56"/>
                </a:solidFill>
                <a:latin typeface="WenQuanYi Micro Hei"/>
                <a:ea typeface="WenQuanYi Micro Hei"/>
              </a:rPr>
              <a:t>下一段美好旅程，从这里出发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91025" y="4648200"/>
            <a:ext cx="6991350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4400550" y="5095875"/>
            <a:ext cx="6953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959C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文旅酒店·服务旅程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