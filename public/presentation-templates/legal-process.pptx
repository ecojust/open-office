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3B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9100" cy="6858000"/>
          </a:xfrm>
          <a:prstGeom prst="rect">
            <a:avLst/>
          </a:prstGeom>
          <a:solidFill>
            <a:srgbClr val="8A77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1562100"/>
            <a:ext cx="7334250" cy="16964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378"/>
              </a:lnSpc>
              <a:spcBef>
                <a:spcPts val="0"/>
              </a:spcBef>
              <a:spcAft>
                <a:spcPts val="0"/>
              </a:spcAft>
            </a:pPr>
            <a:r>
              <a:rPr sz="4725" b="1">
                <a:solidFill>
                  <a:srgbClr val="FFFFFF"/>
                </a:solidFill>
                <a:latin typeface="WenQuanYi Micro Hei"/>
                <a:ea typeface="WenQuanYi Micro Hei"/>
              </a:rPr>
              <a:t>法律咨询</a:t>
            </a:r>
          </a:p>
          <a:p>
            <a:pPr algn="l">
              <a:lnSpc>
                <a:spcPts val="6378"/>
              </a:lnSpc>
              <a:spcBef>
                <a:spcPts val="0"/>
              </a:spcBef>
              <a:spcAft>
                <a:spcPts val="0"/>
              </a:spcAft>
            </a:pPr>
            <a:r>
              <a:rPr sz="4725" b="1">
                <a:solidFill>
                  <a:srgbClr val="FFFFFF"/>
                </a:solidFill>
                <a:latin typeface="WenQuanYi Micro Hei"/>
                <a:ea typeface="WenQuanYi Micro Hei"/>
              </a:rPr>
              <a:t>审查流程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95675"/>
            <a:ext cx="719137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F4F1EA"/>
                </a:solidFill>
                <a:latin typeface="WenQuanYi Micro Hei"/>
                <a:ea typeface="WenQuanYi Micro Hei"/>
              </a:rPr>
              <a:t>建立有据可循的审查机制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04875" y="4610100"/>
            <a:ext cx="6715125" cy="0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914400" y="5286375"/>
            <a:ext cx="7191375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4F1EA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848850" y="2235708"/>
            <a:ext cx="0" cy="2098547"/>
          </a:xfrm>
          <a:prstGeom prst="line">
            <a:avLst/>
          </a:prstGeom>
          <a:ln w="38100">
            <a:solidFill>
              <a:srgbClr val="F4F1EA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8974455" y="2731198"/>
            <a:ext cx="1748790" cy="0"/>
          </a:xfrm>
          <a:prstGeom prst="line">
            <a:avLst/>
          </a:prstGeom>
          <a:ln w="38100">
            <a:solidFill>
              <a:srgbClr val="8A7754"/>
            </a:solidFill>
          </a:ln>
          <a:effectLst/>
        </p:spPr>
      </p:cxnSp>
      <p:sp>
        <p:nvSpPr>
          <p:cNvPr id="11" name="Rectangle 10"/>
          <p:cNvSpPr/>
          <p:nvPr/>
        </p:nvSpPr>
        <p:spPr>
          <a:xfrm>
            <a:off x="9324213" y="4334255"/>
            <a:ext cx="1049274" cy="174879"/>
          </a:xfrm>
          <a:prstGeom prst="rect">
            <a:avLst/>
          </a:prstGeom>
          <a:solidFill>
            <a:srgbClr val="8A77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8566404" y="2731198"/>
            <a:ext cx="408051" cy="845249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8974455" y="2731198"/>
            <a:ext cx="408051" cy="845249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8566404" y="3576447"/>
            <a:ext cx="816102" cy="0"/>
          </a:xfrm>
          <a:prstGeom prst="line">
            <a:avLst/>
          </a:prstGeom>
          <a:ln w="38100">
            <a:solidFill>
              <a:srgbClr val="8A7754"/>
            </a:solidFill>
          </a:ln>
          <a:effectLst/>
        </p:spPr>
      </p:cxnSp>
      <p:sp>
        <p:nvSpPr>
          <p:cNvPr id="15" name="Oval 14"/>
          <p:cNvSpPr/>
          <p:nvPr/>
        </p:nvSpPr>
        <p:spPr>
          <a:xfrm>
            <a:off x="8814149" y="2294001"/>
            <a:ext cx="320611" cy="320611"/>
          </a:xfrm>
          <a:prstGeom prst="ellipse">
            <a:avLst/>
          </a:prstGeom>
          <a:solidFill>
            <a:srgbClr val="F4F1EA"/>
          </a:solidFill>
          <a:ln w="19050">
            <a:solidFill>
              <a:srgbClr val="8A77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H="1">
            <a:off x="10315194" y="2731198"/>
            <a:ext cx="408051" cy="845249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10723245" y="2731198"/>
            <a:ext cx="408051" cy="845249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10315194" y="3576447"/>
            <a:ext cx="816102" cy="0"/>
          </a:xfrm>
          <a:prstGeom prst="line">
            <a:avLst/>
          </a:prstGeom>
          <a:ln w="38100">
            <a:solidFill>
              <a:srgbClr val="8A7754"/>
            </a:solidFill>
          </a:ln>
          <a:effectLst/>
        </p:spPr>
      </p:cxnSp>
      <p:sp>
        <p:nvSpPr>
          <p:cNvPr id="19" name="Oval 18"/>
          <p:cNvSpPr/>
          <p:nvPr/>
        </p:nvSpPr>
        <p:spPr>
          <a:xfrm>
            <a:off x="10562939" y="2294001"/>
            <a:ext cx="320611" cy="320611"/>
          </a:xfrm>
          <a:prstGeom prst="ellipse">
            <a:avLst/>
          </a:prstGeom>
          <a:solidFill>
            <a:srgbClr val="F4F1EA"/>
          </a:solidFill>
          <a:ln w="19050">
            <a:solidFill>
              <a:srgbClr val="8A77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810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4F1EA"/>
                </a:solidFill>
                <a:latin typeface="WenQuanYi Micro Hei"/>
                <a:ea typeface="WenQuanYi Micro Hei"/>
              </a:rPr>
              <a:t>OPEN OFFICE  /  流程与方法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8A77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363B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363B42"/>
                </a:solidFill>
                <a:latin typeface="WenQuanYi Micro Hei"/>
                <a:ea typeface="WenQuanYi Micro Hei"/>
              </a:rPr>
              <a:t>法律咨询 / 关键流程与协作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63B42"/>
                </a:solidFill>
                <a:latin typeface="WenQuanYi Micro Hei"/>
                <a:ea typeface="WenQuanYi Micro Hei"/>
              </a:rPr>
              <a:t>建立有据可循的审查机制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95575"/>
            <a:ext cx="3448050" cy="2286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925" y="2952750"/>
            <a:ext cx="29718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63B42"/>
                </a:solidFill>
                <a:latin typeface="WenQuanYi Micro Hei"/>
                <a:ea typeface="WenQuanYi Micro Hei"/>
              </a:rPr>
              <a:t>材料收集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552825"/>
            <a:ext cx="2971800" cy="10663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63B42"/>
                </a:solidFill>
                <a:latin typeface="WenQuanYi Micro Hei"/>
                <a:ea typeface="WenQuanYi Micro Hei"/>
              </a:rPr>
              <a:t>输入：填写所需信息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63B42"/>
                </a:solidFill>
                <a:latin typeface="WenQuanYi Micro Hei"/>
                <a:ea typeface="WenQuanYi Micro Hei"/>
              </a:rPr>
              <a:t>负责：指定协作角色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63B42"/>
                </a:solidFill>
                <a:latin typeface="WenQuanYi Micro Hei"/>
                <a:ea typeface="WenQuanYi Micro Hei"/>
              </a:rPr>
              <a:t>输出：明确交付标准</a:t>
            </a:r>
          </a:p>
        </p:txBody>
      </p:sp>
      <p:sp>
        <p:nvSpPr>
          <p:cNvPr id="10" name="Oval 9"/>
          <p:cNvSpPr/>
          <p:nvPr/>
        </p:nvSpPr>
        <p:spPr>
          <a:xfrm>
            <a:off x="2066924" y="2095499"/>
            <a:ext cx="666750" cy="666750"/>
          </a:xfrm>
          <a:prstGeom prst="ellipse">
            <a:avLst/>
          </a:prstGeom>
          <a:solidFill>
            <a:srgbClr val="8A77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66924" y="2190750"/>
            <a:ext cx="6667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33849" y="3848099"/>
            <a:ext cx="180976" cy="0"/>
          </a:xfrm>
          <a:prstGeom prst="line">
            <a:avLst/>
          </a:prstGeom>
          <a:ln w="28575">
            <a:solidFill>
              <a:srgbClr val="8A7754"/>
            </a:solidFill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4371975" y="2695575"/>
            <a:ext cx="3448050" cy="2286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0100" y="2952750"/>
            <a:ext cx="29718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63B42"/>
                </a:solidFill>
                <a:latin typeface="WenQuanYi Micro Hei"/>
                <a:ea typeface="WenQuanYi Micro Hei"/>
              </a:rPr>
              <a:t>专业审查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552825"/>
            <a:ext cx="2971800" cy="10663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63B42"/>
                </a:solidFill>
                <a:latin typeface="WenQuanYi Micro Hei"/>
                <a:ea typeface="WenQuanYi Micro Hei"/>
              </a:rPr>
              <a:t>输入：填写所需信息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63B42"/>
                </a:solidFill>
                <a:latin typeface="WenQuanYi Micro Hei"/>
                <a:ea typeface="WenQuanYi Micro Hei"/>
              </a:rPr>
              <a:t>负责：指定协作角色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63B42"/>
                </a:solidFill>
                <a:latin typeface="WenQuanYi Micro Hei"/>
                <a:ea typeface="WenQuanYi Micro Hei"/>
              </a:rPr>
              <a:t>输出：明确交付标准</a:t>
            </a:r>
          </a:p>
        </p:txBody>
      </p:sp>
      <p:sp>
        <p:nvSpPr>
          <p:cNvPr id="16" name="Oval 15"/>
          <p:cNvSpPr/>
          <p:nvPr/>
        </p:nvSpPr>
        <p:spPr>
          <a:xfrm>
            <a:off x="5753100" y="2095499"/>
            <a:ext cx="666750" cy="666750"/>
          </a:xfrm>
          <a:prstGeom prst="ellipse">
            <a:avLst/>
          </a:prstGeom>
          <a:solidFill>
            <a:srgbClr val="8A77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53100" y="2190750"/>
            <a:ext cx="6667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20025" y="3848099"/>
            <a:ext cx="180975" cy="0"/>
          </a:xfrm>
          <a:prstGeom prst="line">
            <a:avLst/>
          </a:prstGeom>
          <a:ln w="28575">
            <a:solidFill>
              <a:srgbClr val="8A7754"/>
            </a:solidFill>
          </a:ln>
          <a:effectLst/>
        </p:spPr>
      </p:cxnSp>
      <p:sp>
        <p:nvSpPr>
          <p:cNvPr id="19" name="Rectangle 18"/>
          <p:cNvSpPr/>
          <p:nvPr/>
        </p:nvSpPr>
        <p:spPr>
          <a:xfrm>
            <a:off x="8058150" y="2695575"/>
            <a:ext cx="3448050" cy="2286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6274" y="2952750"/>
            <a:ext cx="29718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63B42"/>
                </a:solidFill>
                <a:latin typeface="WenQuanYi Micro Hei"/>
                <a:ea typeface="WenQuanYi Micro Hei"/>
              </a:rPr>
              <a:t>意见反馈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274" y="3552825"/>
            <a:ext cx="2971800" cy="10663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63B42"/>
                </a:solidFill>
                <a:latin typeface="WenQuanYi Micro Hei"/>
                <a:ea typeface="WenQuanYi Micro Hei"/>
              </a:rPr>
              <a:t>输入：填写所需信息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63B42"/>
                </a:solidFill>
                <a:latin typeface="WenQuanYi Micro Hei"/>
                <a:ea typeface="WenQuanYi Micro Hei"/>
              </a:rPr>
              <a:t>负责：指定协作角色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63B42"/>
                </a:solidFill>
                <a:latin typeface="WenQuanYi Micro Hei"/>
                <a:ea typeface="WenQuanYi Micro Hei"/>
              </a:rPr>
              <a:t>输出：明确交付标准</a:t>
            </a:r>
          </a:p>
        </p:txBody>
      </p:sp>
      <p:sp>
        <p:nvSpPr>
          <p:cNvPr id="22" name="Oval 21"/>
          <p:cNvSpPr/>
          <p:nvPr/>
        </p:nvSpPr>
        <p:spPr>
          <a:xfrm>
            <a:off x="9439275" y="2095499"/>
            <a:ext cx="666750" cy="666750"/>
          </a:xfrm>
          <a:prstGeom prst="ellipse">
            <a:avLst/>
          </a:prstGeom>
          <a:solidFill>
            <a:srgbClr val="8A77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39275" y="2190750"/>
            <a:ext cx="6667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425" y="5381625"/>
            <a:ext cx="1047750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63B42"/>
                </a:solidFill>
                <a:latin typeface="WenQuanYi Micro Hei"/>
                <a:ea typeface="WenQuanYi Micro Hei"/>
              </a:rPr>
              <a:t>协作约定：统一标准、记录问题、明确反馈与升级路径。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4F1EA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63B42"/>
                </a:solidFill>
                <a:latin typeface="WenQuanYi Micro Hei"/>
                <a:ea typeface="WenQuanYi Micro Hei"/>
              </a:rPr>
              <a:t>OPEN OFFICE  /  法律咨询·审查流程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63B42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43975" y="-933449"/>
            <a:ext cx="4162424" cy="4162424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4686300"/>
            <a:ext cx="4048124" cy="4048124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33600"/>
            <a:ext cx="9906000" cy="13925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707"/>
              </a:lnSpc>
              <a:spcBef>
                <a:spcPts val="0"/>
              </a:spcBef>
              <a:spcAft>
                <a:spcPts val="0"/>
              </a:spcAft>
            </a:pPr>
            <a:r>
              <a:rPr sz="6450" b="1">
                <a:solidFill>
                  <a:srgbClr val="363B42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3438525"/>
            <a:ext cx="762000" cy="57150"/>
          </a:xfrm>
          <a:prstGeom prst="rect">
            <a:avLst/>
          </a:prstGeom>
          <a:solidFill>
            <a:srgbClr val="8A77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981450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363B42"/>
                </a:solidFill>
                <a:latin typeface="WenQuanYi Micro Hei"/>
                <a:ea typeface="WenQuanYi Micro Hei"/>
              </a:rPr>
              <a:t>以清晰的规则，支持稳健的决策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324475"/>
            <a:ext cx="9906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8A7754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法律咨询·审查流程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