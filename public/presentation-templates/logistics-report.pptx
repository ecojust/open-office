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05775" y="0"/>
            <a:ext cx="4086225" cy="6858000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96249" y="0"/>
            <a:ext cx="123824" cy="6858000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935974" y="2550033"/>
            <a:ext cx="204939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10985373" y="2550033"/>
            <a:ext cx="0" cy="1738884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8935974" y="4288917"/>
            <a:ext cx="2049399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718613" y="2332672"/>
            <a:ext cx="434721" cy="434721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68012" y="2332672"/>
            <a:ext cx="434721" cy="434721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18613" y="4071556"/>
            <a:ext cx="434721" cy="434721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70695" y="3171062"/>
            <a:ext cx="1055751" cy="745236"/>
          </a:xfrm>
          <a:prstGeom prst="rect">
            <a:avLst/>
          </a:prstGeom>
          <a:solidFill>
            <a:srgbClr val="EAF2FB"/>
          </a:solidFill>
          <a:ln w="19050">
            <a:solidFill>
              <a:srgbClr val="EAF2F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898570" y="3171062"/>
            <a:ext cx="0" cy="745236"/>
          </a:xfrm>
          <a:prstGeom prst="line">
            <a:avLst/>
          </a:prstGeom>
          <a:ln w="19050">
            <a:solidFill>
              <a:srgbClr val="EAF2F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370695" y="3388423"/>
            <a:ext cx="1055751" cy="0"/>
          </a:xfrm>
          <a:prstGeom prst="line">
            <a:avLst/>
          </a:prstGeom>
          <a:ln w="19050">
            <a:solidFill>
              <a:srgbClr val="EAF2FB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685800" y="1619250"/>
            <a:ext cx="7048500" cy="1644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33D5B"/>
                </a:solidFill>
                <a:latin typeface="WenQuanYi Micro Hei"/>
                <a:ea typeface="WenQuanYi Micro Hei"/>
              </a:rPr>
              <a:t>交通物流</a:t>
            </a:r>
          </a:p>
          <a:p>
            <a:pPr algn="l">
              <a:lnSpc>
                <a:spcPts val="6176"/>
              </a:lnSpc>
              <a:spcBef>
                <a:spcPts val="0"/>
              </a:spcBef>
              <a:spcAft>
                <a:spcPts val="0"/>
              </a:spcAft>
            </a:pPr>
            <a:r>
              <a:rPr sz="4575" b="1">
                <a:solidFill>
                  <a:srgbClr val="233D5B"/>
                </a:solidFill>
                <a:latin typeface="WenQuanYi Micro Hei"/>
                <a:ea typeface="WenQuanYi Micro Hei"/>
              </a:rPr>
              <a:t>运营分析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476625"/>
            <a:ext cx="695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233D5B"/>
                </a:solidFill>
                <a:latin typeface="WenQuanYi Micro Hei"/>
                <a:ea typeface="WenQuanYi Micro Hei"/>
              </a:rPr>
              <a:t>从运营数据发现改善点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5353050"/>
            <a:ext cx="6667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33D5B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574B4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33D5B"/>
                </a:solidFill>
                <a:latin typeface="WenQuanYi Micro Hei"/>
                <a:ea typeface="WenQuanYi Micro Hei"/>
              </a:rPr>
              <a:t>交通物流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从运营数据发现改善点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133600"/>
            <a:ext cx="3448050" cy="116205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25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准时到达率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574B4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133600"/>
            <a:ext cx="3448050" cy="116205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0100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装载利用率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574B4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8150" y="2133600"/>
            <a:ext cx="3448050" cy="116205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6274" y="2314575"/>
            <a:ext cx="295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订单履约率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4" y="268605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574B4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3638550"/>
            <a:ext cx="5334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33D5B"/>
                </a:solidFill>
                <a:latin typeface="WenQuanYi Micro Hei"/>
                <a:ea typeface="WenQuanYi Micro Hei"/>
              </a:rPr>
              <a:t>趋势示意 · 请替换为真实数据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2950" y="5581650"/>
            <a:ext cx="5000625" cy="0"/>
          </a:xfrm>
          <a:prstGeom prst="line">
            <a:avLst/>
          </a:prstGeom>
          <a:ln w="9525">
            <a:solidFill>
              <a:srgbClr val="233D5B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952500" y="5029200"/>
            <a:ext cx="504825" cy="55245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85950" y="4743450"/>
            <a:ext cx="504825" cy="8382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4867275"/>
            <a:ext cx="504825" cy="714375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52850" y="4400550"/>
            <a:ext cx="504825" cy="11811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6300" y="4162424"/>
            <a:ext cx="504825" cy="1419225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2225" y="38004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01  网络节点：补充关键观察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2225" y="44100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02  运力协同：补充关键观察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2225" y="5019675"/>
            <a:ext cx="4981575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33D5B"/>
                </a:solidFill>
                <a:latin typeface="WenQuanYi Micro Hei"/>
                <a:ea typeface="WenQuanYi Micro Hei"/>
              </a:rPr>
              <a:t>03  履约体验：补充关键观察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AF2FB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3D5B"/>
                </a:solidFill>
                <a:latin typeface="WenQuanYi Micro Hei"/>
                <a:ea typeface="WenQuanYi Micro Hei"/>
              </a:rPr>
              <a:t>OPEN OFFICE  /  交通物流·运营分析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33D5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3D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357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124950" y="1476375"/>
            <a:ext cx="1571625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10696575" y="1476375"/>
            <a:ext cx="0" cy="133350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9124950" y="2809875"/>
            <a:ext cx="1571625" cy="0"/>
          </a:xfrm>
          <a:prstGeom prst="line">
            <a:avLst/>
          </a:prstGeom>
          <a:ln w="38100">
            <a:solidFill>
              <a:srgbClr val="3574B4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8958262" y="1309687"/>
            <a:ext cx="333375" cy="333375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29887" y="1309687"/>
            <a:ext cx="333375" cy="333375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58262" y="2643187"/>
            <a:ext cx="333375" cy="333375"/>
          </a:xfrm>
          <a:prstGeom prst="ellipse">
            <a:avLst/>
          </a:prstGeom>
          <a:solidFill>
            <a:srgbClr val="EAF2FB"/>
          </a:solidFill>
          <a:ln w="19050">
            <a:solidFill>
              <a:srgbClr val="3574B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58325" y="1952624"/>
            <a:ext cx="809625" cy="571500"/>
          </a:xfrm>
          <a:prstGeom prst="rect">
            <a:avLst/>
          </a:prstGeom>
          <a:solidFill>
            <a:srgbClr val="EAF2FB"/>
          </a:solidFill>
          <a:ln w="19050">
            <a:solidFill>
              <a:srgbClr val="EAF2F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863137" y="1952624"/>
            <a:ext cx="0" cy="571501"/>
          </a:xfrm>
          <a:prstGeom prst="line">
            <a:avLst/>
          </a:prstGeom>
          <a:ln w="19050">
            <a:solidFill>
              <a:srgbClr val="EAF2F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9458325" y="2119312"/>
            <a:ext cx="809625" cy="0"/>
          </a:xfrm>
          <a:prstGeom prst="line">
            <a:avLst/>
          </a:prstGeom>
          <a:ln w="19050">
            <a:solidFill>
              <a:srgbClr val="EAF2FB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EAF2FB"/>
                </a:solidFill>
                <a:latin typeface="WenQuanYi Micro Hei"/>
                <a:ea typeface="WenQuanYi Micro Hei"/>
              </a:rPr>
              <a:t>连接每一站，让交付更有把握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3574B4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EAF2FB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交通物流·运营分析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