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交通物流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运输方案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AF2FB"/>
                </a:solidFill>
                <a:latin typeface="WenQuanYi Micro Hei"/>
                <a:ea typeface="WenQuanYi Micro Hei"/>
              </a:rPr>
              <a:t>为每一次交付设计路线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3574B4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AF2F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57869" y="2527173"/>
            <a:ext cx="192366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81538" y="2527173"/>
            <a:ext cx="0" cy="1632204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857869" y="4159377"/>
            <a:ext cx="192366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12" name="Oval 11"/>
          <p:cNvSpPr/>
          <p:nvPr/>
        </p:nvSpPr>
        <p:spPr>
          <a:xfrm>
            <a:off x="8653843" y="2323147"/>
            <a:ext cx="408051" cy="40805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77512" y="2323147"/>
            <a:ext cx="408051" cy="40805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53843" y="3955351"/>
            <a:ext cx="408051" cy="40805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65920" y="3110102"/>
            <a:ext cx="990981" cy="699516"/>
          </a:xfrm>
          <a:prstGeom prst="rect">
            <a:avLst/>
          </a:prstGeom>
          <a:solidFill>
            <a:srgbClr val="EAF2FB"/>
          </a:solidFill>
          <a:ln w="19050">
            <a:solidFill>
              <a:srgbClr val="EAF2F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761410" y="3110102"/>
            <a:ext cx="0" cy="699517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9265920" y="3314128"/>
            <a:ext cx="990981" cy="0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2FB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33D5B"/>
                </a:solidFill>
                <a:latin typeface="WenQuanYi Micro Hei"/>
                <a:ea typeface="WenQuanYi Micro Hei"/>
              </a:rPr>
              <a:t>交通物流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为每一次交付设计路线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644015" y="3140392"/>
            <a:ext cx="1791652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3435667" y="3140392"/>
            <a:ext cx="0" cy="152019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644015" y="4660582"/>
            <a:ext cx="1791652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1453991" y="2950368"/>
            <a:ext cx="380047" cy="3800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45643" y="2950368"/>
            <a:ext cx="380047" cy="3800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53991" y="4470558"/>
            <a:ext cx="380047" cy="3800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4062" y="3683317"/>
            <a:ext cx="922972" cy="651509"/>
          </a:xfrm>
          <a:prstGeom prst="rect">
            <a:avLst/>
          </a:prstGeom>
          <a:solidFill>
            <a:srgbClr val="FFFFFF"/>
          </a:solidFill>
          <a:ln w="19050">
            <a:solidFill>
              <a:srgbClr val="233D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485548" y="3683317"/>
            <a:ext cx="0" cy="651510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2024062" y="3873341"/>
            <a:ext cx="922973" cy="0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33D5B"/>
                </a:solidFill>
                <a:latin typeface="WenQuanYi Micro Hei"/>
                <a:ea typeface="WenQuanYi Micro Hei"/>
              </a:rPr>
              <a:t>网络节点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梳理服务区域与关键枢纽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3574B4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33D5B"/>
                </a:solidFill>
                <a:latin typeface="WenQuanYi Micro Hei"/>
                <a:ea typeface="WenQuanYi Micro Hei"/>
              </a:rPr>
              <a:t>运力协同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匹配运输资源与需求节奏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3574B4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33D5B"/>
                </a:solidFill>
                <a:latin typeface="WenQuanYi Micro Hei"/>
                <a:ea typeface="WenQuanYi Micro Hei"/>
              </a:rPr>
              <a:t>履约体验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定义时效标准与异常处理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2FB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OPEN OFFICE  /  交通物流·运输方案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233D5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33D5B"/>
                </a:solidFill>
                <a:latin typeface="WenQuanYi Micro Hei"/>
                <a:ea typeface="WenQuanYi Micro Hei"/>
              </a:rPr>
              <a:t>连接每一站，让交付更有把握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574B4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交通物流·运输方案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