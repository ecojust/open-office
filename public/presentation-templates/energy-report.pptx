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867775" y="-685800"/>
            <a:ext cx="4095750" cy="4095750"/>
          </a:xfrm>
          <a:prstGeom prst="ellipse">
            <a:avLst/>
          </a:prstGeom>
          <a:solidFill>
            <a:srgbClr val="EDF7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14425" y="4410075"/>
            <a:ext cx="3381375" cy="3381375"/>
          </a:xfrm>
          <a:prstGeom prst="ellipse">
            <a:avLst/>
          </a:prstGeom>
          <a:solidFill>
            <a:srgbClr val="EDF7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19850" y="714375"/>
            <a:ext cx="523874" cy="523874"/>
          </a:xfrm>
          <a:prstGeom prst="ellipse">
            <a:avLst/>
          </a:prstGeom>
          <a:solidFill>
            <a:srgbClr val="EDF7ED"/>
          </a:solidFill>
          <a:ln w="19050">
            <a:solidFill>
              <a:srgbClr val="35926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5491162" y="1404937"/>
            <a:ext cx="0" cy="1095375"/>
          </a:xfrm>
          <a:prstGeom prst="line">
            <a:avLst/>
          </a:prstGeom>
          <a:ln w="38100">
            <a:solidFill>
              <a:srgbClr val="214A3C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 flipV="1">
            <a:off x="5491162" y="714375"/>
            <a:ext cx="0" cy="523875"/>
          </a:xfrm>
          <a:prstGeom prst="line">
            <a:avLst/>
          </a:prstGeom>
          <a:ln w="38100">
            <a:solidFill>
              <a:srgbClr val="35926A"/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 flipH="1">
            <a:off x="4991100" y="1238250"/>
            <a:ext cx="500062" cy="285750"/>
          </a:xfrm>
          <a:prstGeom prst="line">
            <a:avLst/>
          </a:prstGeom>
          <a:ln w="38100">
            <a:solidFill>
              <a:srgbClr val="35926A"/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>
            <a:off x="5491162" y="1238250"/>
            <a:ext cx="547688" cy="238125"/>
          </a:xfrm>
          <a:prstGeom prst="line">
            <a:avLst/>
          </a:prstGeom>
          <a:ln w="38100">
            <a:solidFill>
              <a:srgbClr val="35926A"/>
            </a:solidFill>
          </a:ln>
          <a:effectLst/>
        </p:spPr>
      </p:cxnSp>
      <p:sp>
        <p:nvSpPr>
          <p:cNvPr id="10" name="Rectangle 9"/>
          <p:cNvSpPr/>
          <p:nvPr/>
        </p:nvSpPr>
        <p:spPr>
          <a:xfrm>
            <a:off x="6062662" y="1690687"/>
            <a:ext cx="1000125" cy="762000"/>
          </a:xfrm>
          <a:prstGeom prst="rect">
            <a:avLst/>
          </a:prstGeom>
          <a:solidFill>
            <a:srgbClr val="EDF7ED"/>
          </a:solidFill>
          <a:ln w="19050">
            <a:solidFill>
              <a:srgbClr val="35926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6396037" y="1690687"/>
            <a:ext cx="0" cy="762000"/>
          </a:xfrm>
          <a:prstGeom prst="line">
            <a:avLst/>
          </a:prstGeom>
          <a:ln w="19050">
            <a:solidFill>
              <a:srgbClr val="35926A"/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>
            <a:off x="6729412" y="1690687"/>
            <a:ext cx="0" cy="762000"/>
          </a:xfrm>
          <a:prstGeom prst="line">
            <a:avLst/>
          </a:prstGeom>
          <a:ln w="19050">
            <a:solidFill>
              <a:srgbClr val="35926A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6062662" y="2071687"/>
            <a:ext cx="1000125" cy="0"/>
          </a:xfrm>
          <a:prstGeom prst="line">
            <a:avLst/>
          </a:prstGeom>
          <a:ln w="19050">
            <a:solidFill>
              <a:srgbClr val="35926A"/>
            </a:solidFill>
          </a:ln>
          <a:effectLst/>
        </p:spPr>
      </p:cxnSp>
      <p:sp>
        <p:nvSpPr>
          <p:cNvPr id="14" name="TextBox 13"/>
          <p:cNvSpPr txBox="1"/>
          <p:nvPr/>
        </p:nvSpPr>
        <p:spPr>
          <a:xfrm>
            <a:off x="1143000" y="3095625"/>
            <a:ext cx="9906000" cy="85820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366"/>
              </a:lnSpc>
              <a:spcBef>
                <a:spcPts val="0"/>
              </a:spcBef>
              <a:spcAft>
                <a:spcPts val="0"/>
              </a:spcAft>
            </a:pPr>
            <a:r>
              <a:rPr sz="3975" b="1">
                <a:solidFill>
                  <a:srgbClr val="214A3C"/>
                </a:solidFill>
                <a:latin typeface="WenQuanYi Micro Hei"/>
                <a:ea typeface="WenQuanYi Micro Hei"/>
              </a:rPr>
              <a:t>能源环保·能效报告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038600"/>
            <a:ext cx="990600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0">
                <a:solidFill>
                  <a:srgbClr val="214A3C"/>
                </a:solidFill>
                <a:latin typeface="WenQuanYi Micro Hei"/>
                <a:ea typeface="WenQuanYi Micro Hei"/>
              </a:rPr>
              <a:t>用能效数据验证改变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29275" y="4791075"/>
            <a:ext cx="933449" cy="47625"/>
          </a:xfrm>
          <a:prstGeom prst="rect">
            <a:avLst/>
          </a:prstGeom>
          <a:solidFill>
            <a:srgbClr val="3592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5448300"/>
            <a:ext cx="9906000" cy="3076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14A3C"/>
                </a:solidFill>
                <a:latin typeface="WenQuanYi Micro Hei"/>
                <a:ea typeface="WenQuanYi Micro Hei"/>
              </a:rPr>
              <a:t>汇报人：你的名字  /  日期：20XX.XX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3900" y="542925"/>
            <a:ext cx="9525000" cy="256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35926A"/>
                </a:solidFill>
                <a:latin typeface="WenQuanYi Micro Hei"/>
                <a:ea typeface="WenQuanYi Micro Hei"/>
              </a:rPr>
              <a:t>OPEN OFFICE  /  数据与成果汇报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71500"/>
            <a:ext cx="361950" cy="66675"/>
          </a:xfrm>
          <a:prstGeom prst="rect">
            <a:avLst/>
          </a:prstGeom>
          <a:solidFill>
            <a:srgbClr val="3592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5375" y="571500"/>
            <a:ext cx="114300" cy="66675"/>
          </a:xfrm>
          <a:prstGeom prst="rect">
            <a:avLst/>
          </a:prstGeom>
          <a:solidFill>
            <a:srgbClr val="214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876300"/>
            <a:ext cx="10820400" cy="6962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53"/>
              </a:lnSpc>
              <a:spcBef>
                <a:spcPts val="0"/>
              </a:spcBef>
              <a:spcAft>
                <a:spcPts val="0"/>
              </a:spcAft>
            </a:pPr>
            <a:r>
              <a:rPr sz="3225" b="1">
                <a:solidFill>
                  <a:srgbClr val="214A3C"/>
                </a:solidFill>
                <a:latin typeface="WenQuanYi Micro Hei"/>
                <a:ea typeface="WenQuanYi Micro Hei"/>
              </a:rPr>
              <a:t>能源环保 / 关键成果与观察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4375" y="1495425"/>
            <a:ext cx="10668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14A3C"/>
                </a:solidFill>
                <a:latin typeface="WenQuanYi Micro Hei"/>
                <a:ea typeface="WenQuanYi Micro Hei"/>
              </a:rPr>
              <a:t>用能效数据验证改变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238375"/>
            <a:ext cx="4057650" cy="3495675"/>
          </a:xfrm>
          <a:prstGeom prst="rect">
            <a:avLst/>
          </a:prstGeom>
          <a:solidFill>
            <a:srgbClr val="214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550" y="2562225"/>
            <a:ext cx="348615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WenQuanYi Micro Hei"/>
                <a:ea typeface="WenQuanYi Micro Hei"/>
              </a:rPr>
              <a:t>本期成果摘要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075" y="3200400"/>
            <a:ext cx="3457575" cy="1259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105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EDF7ED"/>
                </a:solidFill>
                <a:latin typeface="WenQuanYi Micro Hei"/>
                <a:ea typeface="WenQuanYi Micro Hei"/>
              </a:rPr>
              <a:t>在这里填写核心结论</a:t>
            </a:r>
          </a:p>
          <a:p>
            <a:pPr algn="l">
              <a:lnSpc>
                <a:spcPts val="3105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EDF7ED"/>
                </a:solidFill>
                <a:latin typeface="WenQuanYi Micro Hei"/>
                <a:ea typeface="WenQuanYi Micro Hei"/>
              </a:rPr>
              <a:t>说明变化与关键原因</a:t>
            </a:r>
          </a:p>
          <a:p>
            <a:pPr algn="l">
              <a:lnSpc>
                <a:spcPts val="3105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EDF7ED"/>
                </a:solidFill>
                <a:latin typeface="WenQuanYi Micro Hei"/>
                <a:ea typeface="WenQuanYi Micro Hei"/>
              </a:rPr>
              <a:t>提出下一步改善动作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95875" y="2238375"/>
            <a:ext cx="6410325" cy="1047749"/>
          </a:xfrm>
          <a:prstGeom prst="rect">
            <a:avLst/>
          </a:prstGeom>
          <a:solidFill>
            <a:srgbClr val="EDF7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34000" y="2419350"/>
            <a:ext cx="3667125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214A3C"/>
                </a:solidFill>
                <a:latin typeface="WenQuanYi Micro Hei"/>
                <a:ea typeface="WenQuanYi Micro Hei"/>
              </a:rPr>
              <a:t>综合能耗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53050" y="2838450"/>
            <a:ext cx="3752850" cy="2947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21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14A3C"/>
                </a:solidFill>
                <a:latin typeface="WenQuanYi Micro Hei"/>
                <a:ea typeface="WenQuanYi Micro Hei"/>
              </a:rPr>
              <a:t>口径 / 周期 / 对比基准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58300" y="2495550"/>
            <a:ext cx="1962150" cy="5019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138"/>
              </a:lnSpc>
              <a:spcBef>
                <a:spcPts val="0"/>
              </a:spcBef>
              <a:spcAft>
                <a:spcPts val="0"/>
              </a:spcAft>
            </a:pPr>
            <a:r>
              <a:rPr sz="2325" b="1">
                <a:solidFill>
                  <a:srgbClr val="35926A"/>
                </a:solidFill>
                <a:latin typeface="WenQuanYi Micro Hei"/>
                <a:ea typeface="WenQuanYi Micro Hei"/>
              </a:rPr>
              <a:t>待填写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95875" y="3448050"/>
            <a:ext cx="6410325" cy="1047749"/>
          </a:xfrm>
          <a:prstGeom prst="rect">
            <a:avLst/>
          </a:prstGeom>
          <a:solidFill>
            <a:srgbClr val="EDF7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34000" y="3629025"/>
            <a:ext cx="3667125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214A3C"/>
                </a:solidFill>
                <a:latin typeface="WenQuanYi Micro Hei"/>
                <a:ea typeface="WenQuanYi Micro Hei"/>
              </a:rPr>
              <a:t>清洁能源占比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53050" y="4048124"/>
            <a:ext cx="3752850" cy="2947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21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14A3C"/>
                </a:solidFill>
                <a:latin typeface="WenQuanYi Micro Hei"/>
                <a:ea typeface="WenQuanYi Micro Hei"/>
              </a:rPr>
              <a:t>口径 / 周期 / 对比基准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8300" y="3705224"/>
            <a:ext cx="1962150" cy="5019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138"/>
              </a:lnSpc>
              <a:spcBef>
                <a:spcPts val="0"/>
              </a:spcBef>
              <a:spcAft>
                <a:spcPts val="0"/>
              </a:spcAft>
            </a:pPr>
            <a:r>
              <a:rPr sz="2325" b="1">
                <a:solidFill>
                  <a:srgbClr val="35926A"/>
                </a:solidFill>
                <a:latin typeface="WenQuanYi Micro Hei"/>
                <a:ea typeface="WenQuanYi Micro Hei"/>
              </a:rPr>
              <a:t>待填写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95875" y="4657725"/>
            <a:ext cx="6410325" cy="1047749"/>
          </a:xfrm>
          <a:prstGeom prst="rect">
            <a:avLst/>
          </a:prstGeom>
          <a:solidFill>
            <a:srgbClr val="EDF7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34000" y="4838700"/>
            <a:ext cx="3667125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214A3C"/>
                </a:solidFill>
                <a:latin typeface="WenQuanYi Micro Hei"/>
                <a:ea typeface="WenQuanYi Micro Hei"/>
              </a:rPr>
              <a:t>减排进度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53050" y="5257800"/>
            <a:ext cx="3752850" cy="2947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21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14A3C"/>
                </a:solidFill>
                <a:latin typeface="WenQuanYi Micro Hei"/>
                <a:ea typeface="WenQuanYi Micro Hei"/>
              </a:rPr>
              <a:t>口径 / 周期 / 对比基准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58300" y="4914900"/>
            <a:ext cx="1962150" cy="5019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138"/>
              </a:lnSpc>
              <a:spcBef>
                <a:spcPts val="0"/>
              </a:spcBef>
              <a:spcAft>
                <a:spcPts val="0"/>
              </a:spcAft>
            </a:pPr>
            <a:r>
              <a:rPr sz="2325" b="1">
                <a:solidFill>
                  <a:srgbClr val="35926A"/>
                </a:solidFill>
                <a:latin typeface="WenQuanYi Micro Hei"/>
                <a:ea typeface="WenQuanYi Micro Hei"/>
              </a:rPr>
              <a:t>待填写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85800" y="6200775"/>
            <a:ext cx="10820400" cy="0"/>
          </a:xfrm>
          <a:prstGeom prst="line">
            <a:avLst/>
          </a:prstGeom>
          <a:ln w="9525">
            <a:solidFill>
              <a:srgbClr val="EDF7ED"/>
            </a:solidFill>
          </a:ln>
          <a:effectLst/>
        </p:spPr>
      </p:cxnSp>
      <p:sp>
        <p:nvSpPr>
          <p:cNvPr id="23" name="TextBox 22"/>
          <p:cNvSpPr txBox="1"/>
          <p:nvPr/>
        </p:nvSpPr>
        <p:spPr>
          <a:xfrm>
            <a:off x="685800" y="6334125"/>
            <a:ext cx="762000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4A3C"/>
                </a:solidFill>
                <a:latin typeface="WenQuanYi Micro Hei"/>
                <a:ea typeface="WenQuanYi Micro Hei"/>
              </a:rPr>
              <a:t>OPEN OFFICE  /  能源环保·能效报告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39450" y="6334125"/>
            <a:ext cx="66675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4A3C"/>
                </a:solidFill>
                <a:latin typeface="WenQuanYi Micro Hei"/>
                <a:ea typeface="WenQuanYi Micro Hei"/>
              </a:rP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76775"/>
            <a:ext cx="12192000" cy="2181225"/>
          </a:xfrm>
          <a:prstGeom prst="rect">
            <a:avLst/>
          </a:prstGeom>
          <a:solidFill>
            <a:srgbClr val="214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389370" y="615315"/>
            <a:ext cx="461010" cy="461010"/>
          </a:xfrm>
          <a:prstGeom prst="ellipse">
            <a:avLst/>
          </a:prstGeom>
          <a:solidFill>
            <a:srgbClr val="EDF7ED"/>
          </a:solidFill>
          <a:ln w="19050">
            <a:solidFill>
              <a:srgbClr val="35926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572125" y="1223010"/>
            <a:ext cx="0" cy="963930"/>
          </a:xfrm>
          <a:prstGeom prst="line">
            <a:avLst/>
          </a:prstGeom>
          <a:ln w="38100">
            <a:solidFill>
              <a:srgbClr val="214A3C"/>
            </a:solidFill>
          </a:ln>
          <a:effectLst/>
        </p:spPr>
      </p:cxnSp>
      <p:cxnSp>
        <p:nvCxnSpPr>
          <p:cNvPr id="6" name="Connector 5"/>
          <p:cNvCxnSpPr/>
          <p:nvPr/>
        </p:nvCxnSpPr>
        <p:spPr>
          <a:xfrm flipV="1">
            <a:off x="5572125" y="615315"/>
            <a:ext cx="0" cy="461010"/>
          </a:xfrm>
          <a:prstGeom prst="line">
            <a:avLst/>
          </a:prstGeom>
          <a:ln w="38100">
            <a:solidFill>
              <a:srgbClr val="35926A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 flipH="1">
            <a:off x="5132070" y="1076325"/>
            <a:ext cx="440055" cy="251459"/>
          </a:xfrm>
          <a:prstGeom prst="line">
            <a:avLst/>
          </a:prstGeom>
          <a:ln w="38100">
            <a:solidFill>
              <a:srgbClr val="35926A"/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>
            <a:off x="5572125" y="1076325"/>
            <a:ext cx="481965" cy="209550"/>
          </a:xfrm>
          <a:prstGeom prst="line">
            <a:avLst/>
          </a:prstGeom>
          <a:ln w="38100">
            <a:solidFill>
              <a:srgbClr val="35926A"/>
            </a:solidFill>
          </a:ln>
          <a:effectLst/>
        </p:spPr>
      </p:cxnSp>
      <p:sp>
        <p:nvSpPr>
          <p:cNvPr id="9" name="Rectangle 8"/>
          <p:cNvSpPr/>
          <p:nvPr/>
        </p:nvSpPr>
        <p:spPr>
          <a:xfrm>
            <a:off x="6075045" y="1474470"/>
            <a:ext cx="880109" cy="670560"/>
          </a:xfrm>
          <a:prstGeom prst="rect">
            <a:avLst/>
          </a:prstGeom>
          <a:solidFill>
            <a:srgbClr val="EDF7ED"/>
          </a:solidFill>
          <a:ln w="19050">
            <a:solidFill>
              <a:srgbClr val="35926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6368415" y="1474470"/>
            <a:ext cx="0" cy="670560"/>
          </a:xfrm>
          <a:prstGeom prst="line">
            <a:avLst/>
          </a:prstGeom>
          <a:ln w="19050">
            <a:solidFill>
              <a:srgbClr val="35926A"/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>
            <a:off x="6661785" y="1474470"/>
            <a:ext cx="0" cy="670560"/>
          </a:xfrm>
          <a:prstGeom prst="line">
            <a:avLst/>
          </a:prstGeom>
          <a:ln w="19050">
            <a:solidFill>
              <a:srgbClr val="35926A"/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>
            <a:off x="6075045" y="1809750"/>
            <a:ext cx="880110" cy="0"/>
          </a:xfrm>
          <a:prstGeom prst="line">
            <a:avLst/>
          </a:prstGeom>
          <a:ln w="19050">
            <a:solidFill>
              <a:srgbClr val="35926A"/>
            </a:solidFill>
          </a:ln>
          <a:effectLst/>
        </p:spPr>
      </p:cxnSp>
      <p:sp>
        <p:nvSpPr>
          <p:cNvPr id="13" name="TextBox 12"/>
          <p:cNvSpPr txBox="1"/>
          <p:nvPr/>
        </p:nvSpPr>
        <p:spPr>
          <a:xfrm>
            <a:off x="1143000" y="2714625"/>
            <a:ext cx="9906000" cy="13439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8403"/>
              </a:lnSpc>
              <a:spcBef>
                <a:spcPts val="0"/>
              </a:spcBef>
              <a:spcAft>
                <a:spcPts val="0"/>
              </a:spcAft>
            </a:pPr>
            <a:r>
              <a:rPr sz="6225" b="1">
                <a:solidFill>
                  <a:srgbClr val="214A3C"/>
                </a:solidFill>
                <a:latin typeface="WenQuanYi Micro Hei"/>
                <a:ea typeface="WenQuanYi Micro Hei"/>
              </a:rPr>
              <a:t>Open Office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914775"/>
            <a:ext cx="9906000" cy="3724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35926A"/>
                </a:solidFill>
                <a:latin typeface="WenQuanYi Micro Hei"/>
                <a:ea typeface="WenQuanYi Micro Hei"/>
              </a:rPr>
              <a:t>谢谢观看  /  期待交流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5381625"/>
            <a:ext cx="9906000" cy="43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733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FFFFFF"/>
                </a:solidFill>
                <a:latin typeface="WenQuanYi Micro Hei"/>
                <a:ea typeface="WenQuanYi Micro Hei"/>
              </a:rPr>
              <a:t>把绿色愿景落实到每一次行动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n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pen Office">
      <a:maj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ajorFont>
      <a:min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Open Office</Application>
  <PresentationFormat>Widescreen</PresentationFormat>
  <Slides>3</Slides>
  <Notes>0</Notes>
  <HiddenSlides>0</HiddenSlides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能源环保·能效报告</dc:title>
  <dc:subject>Open Office 原创演示模板</dc:subject>
  <dc:creator>Open Office</dc:creator>
  <cp:keywords/>
  <dc:description>Original editable vector artwork; generated by generate-presentation-templates.py.</dc:description>
  <cp:lastModifiedBy>Open Office</cp:lastModifiedBy>
  <cp:revision>1</cp:revision>
  <dcterms:created xsi:type="dcterms:W3CDTF">2026-01-01T00:00:00Z</dcterms:created>
  <dcterms:modified xsi:type="dcterms:W3CDTF">2026-01-01T00:00:00Z</dcterms:modified>
  <cp:category/>
</cp:coreProperties>
</file>