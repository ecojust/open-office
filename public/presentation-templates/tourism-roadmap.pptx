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05775" y="0"/>
            <a:ext cx="4086225" cy="6858000"/>
          </a:xfrm>
          <a:prstGeom prst="rect">
            <a:avLst/>
          </a:prstGeom>
          <a:solidFill>
            <a:srgbClr val="284A5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96249" y="0"/>
            <a:ext cx="123824" cy="6858000"/>
          </a:xfrm>
          <a:prstGeom prst="rect">
            <a:avLst/>
          </a:prstGeom>
          <a:solidFill>
            <a:srgbClr val="3D95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88549" y="2270569"/>
            <a:ext cx="621030" cy="621030"/>
          </a:xfrm>
          <a:prstGeom prst="ellipse">
            <a:avLst/>
          </a:prstGeom>
          <a:solidFill>
            <a:srgbClr val="EBF8F5"/>
          </a:solidFill>
          <a:ln w="19050">
            <a:solidFill>
              <a:srgbClr val="3D95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 flipV="1">
            <a:off x="8687562" y="2736342"/>
            <a:ext cx="807339" cy="1366266"/>
          </a:xfrm>
          <a:prstGeom prst="line">
            <a:avLst/>
          </a:prstGeom>
          <a:ln w="28575">
            <a:solidFill>
              <a:srgbClr val="3D959C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9494901" y="2736342"/>
            <a:ext cx="838390" cy="1366266"/>
          </a:xfrm>
          <a:prstGeom prst="line">
            <a:avLst/>
          </a:prstGeom>
          <a:ln w="28575">
            <a:solidFill>
              <a:srgbClr val="3D959C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 flipV="1">
            <a:off x="9836467" y="3077908"/>
            <a:ext cx="745236" cy="1024700"/>
          </a:xfrm>
          <a:prstGeom prst="line">
            <a:avLst/>
          </a:prstGeom>
          <a:ln w="28575">
            <a:solidFill>
              <a:srgbClr val="3D959C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10581703" y="3077908"/>
            <a:ext cx="652082" cy="1024700"/>
          </a:xfrm>
          <a:prstGeom prst="line">
            <a:avLst/>
          </a:prstGeom>
          <a:ln w="28575">
            <a:solidFill>
              <a:srgbClr val="3D959C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8935974" y="4382071"/>
            <a:ext cx="2111501" cy="0"/>
          </a:xfrm>
          <a:prstGeom prst="line">
            <a:avLst/>
          </a:prstGeom>
          <a:ln w="19050">
            <a:solidFill>
              <a:srgbClr val="3D959C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8935974" y="4552854"/>
            <a:ext cx="2111501" cy="0"/>
          </a:xfrm>
          <a:prstGeom prst="line">
            <a:avLst/>
          </a:prstGeom>
          <a:ln w="19050">
            <a:solidFill>
              <a:srgbClr val="3D959C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8935974" y="4723638"/>
            <a:ext cx="2111501" cy="0"/>
          </a:xfrm>
          <a:prstGeom prst="line">
            <a:avLst/>
          </a:prstGeom>
          <a:ln w="19050">
            <a:solidFill>
              <a:srgbClr val="3D959C"/>
            </a:solidFill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685800" y="1619250"/>
            <a:ext cx="7048500" cy="16449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6176"/>
              </a:lnSpc>
              <a:spcBef>
                <a:spcPts val="0"/>
              </a:spcBef>
              <a:spcAft>
                <a:spcPts val="0"/>
              </a:spcAft>
            </a:pPr>
            <a:r>
              <a:rPr sz="4575" b="1">
                <a:solidFill>
                  <a:srgbClr val="284A56"/>
                </a:solidFill>
                <a:latin typeface="WenQuanYi Micro Hei"/>
                <a:ea typeface="WenQuanYi Micro Hei"/>
              </a:rPr>
              <a:t>文旅酒店</a:t>
            </a:r>
          </a:p>
          <a:p>
            <a:pPr algn="l">
              <a:lnSpc>
                <a:spcPts val="6176"/>
              </a:lnSpc>
              <a:spcBef>
                <a:spcPts val="0"/>
              </a:spcBef>
              <a:spcAft>
                <a:spcPts val="0"/>
              </a:spcAft>
            </a:pPr>
            <a:r>
              <a:rPr sz="4575" b="1">
                <a:solidFill>
                  <a:srgbClr val="284A56"/>
                </a:solidFill>
                <a:latin typeface="WenQuanYi Micro Hei"/>
                <a:ea typeface="WenQuanYi Micro Hei"/>
              </a:rPr>
              <a:t>活动日程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3900" y="3476625"/>
            <a:ext cx="69532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284A56"/>
                </a:solidFill>
                <a:latin typeface="WenQuanYi Micro Hei"/>
                <a:ea typeface="WenQuanYi Micro Hei"/>
              </a:rPr>
              <a:t>把美好安排在每一天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900" y="5353050"/>
            <a:ext cx="66675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84A56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900" y="542925"/>
            <a:ext cx="9525000" cy="256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D959C"/>
                </a:solidFill>
                <a:latin typeface="WenQuanYi Micro Hei"/>
                <a:ea typeface="WenQuanYi Micro Hei"/>
              </a:rPr>
              <a:t>OPEN OFFICE  /  计划与路线图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3D95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284A5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284A56"/>
                </a:solidFill>
                <a:latin typeface="WenQuanYi Micro Hei"/>
                <a:ea typeface="WenQuanYi Micro Hei"/>
              </a:rPr>
              <a:t>文旅酒店 / 阶段目标与交付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84A56"/>
                </a:solidFill>
                <a:latin typeface="WenQuanYi Micro Hei"/>
                <a:ea typeface="WenQuanYi Micro Hei"/>
              </a:rPr>
              <a:t>把美好安排在每一天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23975" y="3067050"/>
            <a:ext cx="9477375" cy="0"/>
          </a:xfrm>
          <a:prstGeom prst="line">
            <a:avLst/>
          </a:prstGeom>
          <a:ln w="38100">
            <a:solidFill>
              <a:srgbClr val="3D959C"/>
            </a:solidFill>
          </a:ln>
          <a:effectLst/>
        </p:spPr>
      </p:cxnSp>
      <p:sp>
        <p:nvSpPr>
          <p:cNvPr id="8" name="Oval 7"/>
          <p:cNvSpPr/>
          <p:nvPr/>
        </p:nvSpPr>
        <p:spPr>
          <a:xfrm>
            <a:off x="1800225" y="2657475"/>
            <a:ext cx="819150" cy="819150"/>
          </a:xfrm>
          <a:prstGeom prst="ellipse">
            <a:avLst/>
          </a:prstGeom>
          <a:solidFill>
            <a:srgbClr val="3D95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00225" y="2867025"/>
            <a:ext cx="8191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WenQuanYi Micro Hei"/>
                <a:ea typeface="WenQuanYi Micro 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050" y="2190750"/>
            <a:ext cx="3257550" cy="3724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284A56"/>
                </a:solidFill>
                <a:latin typeface="WenQuanYi Micro Hei"/>
                <a:ea typeface="WenQuanYi Micro Hei"/>
              </a:rPr>
              <a:t>近期 / 夯实基础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781425"/>
            <a:ext cx="3448050" cy="1752600"/>
          </a:xfrm>
          <a:prstGeom prst="rect">
            <a:avLst/>
          </a:prstGeom>
          <a:solidFill>
            <a:srgbClr val="EBF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19549"/>
            <a:ext cx="29908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84A56"/>
                </a:solidFill>
                <a:latin typeface="WenQuanYi Micro Hei"/>
                <a:ea typeface="WenQuanYi Micro Hei"/>
              </a:rPr>
              <a:t>行前准备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4543425"/>
            <a:ext cx="2952750" cy="7362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84A56"/>
                </a:solidFill>
                <a:latin typeface="WenQuanYi Micro Hei"/>
                <a:ea typeface="WenQuanYi Micro Hei"/>
              </a:rPr>
              <a:t>关键交付：待填写</a:t>
            </a:r>
          </a:p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84A56"/>
                </a:solidFill>
                <a:latin typeface="WenQuanYi Micro Hei"/>
                <a:ea typeface="WenQuanYi Micro Hei"/>
              </a:rPr>
              <a:t>负责人 / 完成日期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0" y="2657475"/>
            <a:ext cx="819150" cy="819150"/>
          </a:xfrm>
          <a:prstGeom prst="ellipse">
            <a:avLst/>
          </a:prstGeom>
          <a:solidFill>
            <a:srgbClr val="3D95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0" y="2867025"/>
            <a:ext cx="8191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WenQuanYi Micro Hei"/>
                <a:ea typeface="WenQuanYi Micro 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7225" y="2190750"/>
            <a:ext cx="3257550" cy="3724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284A56"/>
                </a:solidFill>
                <a:latin typeface="WenQuanYi Micro Hei"/>
                <a:ea typeface="WenQuanYi Micro Hei"/>
              </a:rPr>
              <a:t>中期 / 验证推进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71975" y="3781425"/>
            <a:ext cx="3448050" cy="1752600"/>
          </a:xfrm>
          <a:prstGeom prst="rect">
            <a:avLst/>
          </a:prstGeom>
          <a:solidFill>
            <a:srgbClr val="EBF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00575" y="4019549"/>
            <a:ext cx="29908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84A56"/>
                </a:solidFill>
                <a:latin typeface="WenQuanYi Micro Hei"/>
                <a:ea typeface="WenQuanYi Micro Hei"/>
              </a:rPr>
              <a:t>在地体验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0100" y="4543425"/>
            <a:ext cx="2952750" cy="7362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84A56"/>
                </a:solidFill>
                <a:latin typeface="WenQuanYi Micro Hei"/>
                <a:ea typeface="WenQuanYi Micro Hei"/>
              </a:rPr>
              <a:t>关键交付：待填写</a:t>
            </a:r>
          </a:p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84A56"/>
                </a:solidFill>
                <a:latin typeface="WenQuanYi Micro Hei"/>
                <a:ea typeface="WenQuanYi Micro Hei"/>
              </a:rPr>
              <a:t>负责人 / 完成日期</a:t>
            </a:r>
          </a:p>
        </p:txBody>
      </p:sp>
      <p:sp>
        <p:nvSpPr>
          <p:cNvPr id="20" name="Oval 19"/>
          <p:cNvSpPr/>
          <p:nvPr/>
        </p:nvSpPr>
        <p:spPr>
          <a:xfrm>
            <a:off x="9172575" y="2657475"/>
            <a:ext cx="819150" cy="819150"/>
          </a:xfrm>
          <a:prstGeom prst="ellipse">
            <a:avLst/>
          </a:prstGeom>
          <a:solidFill>
            <a:srgbClr val="3D95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72575" y="2867025"/>
            <a:ext cx="8191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WenQuanYi Micro Hei"/>
                <a:ea typeface="WenQuanYi Micro He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3399" y="2190750"/>
            <a:ext cx="3257550" cy="3724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284A56"/>
                </a:solidFill>
                <a:latin typeface="WenQuanYi Micro Hei"/>
                <a:ea typeface="WenQuanYi Micro Hei"/>
              </a:rPr>
              <a:t>远期 / 持续优化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58150" y="3781425"/>
            <a:ext cx="3448050" cy="1752600"/>
          </a:xfrm>
          <a:prstGeom prst="rect">
            <a:avLst/>
          </a:prstGeom>
          <a:solidFill>
            <a:srgbClr val="EBF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86750" y="4019549"/>
            <a:ext cx="29908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84A56"/>
                </a:solidFill>
                <a:latin typeface="WenQuanYi Micro Hei"/>
                <a:ea typeface="WenQuanYi Micro Hei"/>
              </a:rPr>
              <a:t>返程回访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6274" y="4543425"/>
            <a:ext cx="2952750" cy="7362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84A56"/>
                </a:solidFill>
                <a:latin typeface="WenQuanYi Micro Hei"/>
                <a:ea typeface="WenQuanYi Micro Hei"/>
              </a:rPr>
              <a:t>关键交付：待填写</a:t>
            </a:r>
          </a:p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84A56"/>
                </a:solidFill>
                <a:latin typeface="WenQuanYi Micro Hei"/>
                <a:ea typeface="WenQuanYi Micro Hei"/>
              </a:rPr>
              <a:t>负责人 / 完成日期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EBF8F5"/>
            </a:solidFill>
          </a:ln>
          <a:effectLst/>
        </p:spPr>
      </p:cxnSp>
      <p:sp>
        <p:nvSpPr>
          <p:cNvPr id="27" name="TextBox 26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84A56"/>
                </a:solidFill>
                <a:latin typeface="WenQuanYi Micro Hei"/>
                <a:ea typeface="WenQuanYi Micro Hei"/>
              </a:rPr>
              <a:t>OPEN OFFICE  /  文旅酒店·活动日程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84A56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43975" y="-933449"/>
            <a:ext cx="4162424" cy="4162424"/>
          </a:xfrm>
          <a:prstGeom prst="ellipse">
            <a:avLst/>
          </a:prstGeom>
          <a:solidFill>
            <a:srgbClr val="EBF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4686300"/>
            <a:ext cx="4048124" cy="4048124"/>
          </a:xfrm>
          <a:prstGeom prst="ellipse">
            <a:avLst/>
          </a:prstGeom>
          <a:solidFill>
            <a:srgbClr val="EBF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133600"/>
            <a:ext cx="9906000" cy="13925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8707"/>
              </a:lnSpc>
              <a:spcBef>
                <a:spcPts val="0"/>
              </a:spcBef>
              <a:spcAft>
                <a:spcPts val="0"/>
              </a:spcAft>
            </a:pPr>
            <a:r>
              <a:rPr sz="6450" b="1">
                <a:solidFill>
                  <a:srgbClr val="284A56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0" y="3438525"/>
            <a:ext cx="762000" cy="57150"/>
          </a:xfrm>
          <a:prstGeom prst="rect">
            <a:avLst/>
          </a:prstGeom>
          <a:solidFill>
            <a:srgbClr val="3D95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981450"/>
            <a:ext cx="9906000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284A56"/>
                </a:solidFill>
                <a:latin typeface="WenQuanYi Micro Hei"/>
                <a:ea typeface="WenQuanYi Micro Hei"/>
              </a:rPr>
              <a:t>下一段美好旅程，从这里出发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5324475"/>
            <a:ext cx="9906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3D959C"/>
                </a:solidFill>
                <a:latin typeface="WenQuanYi Micro Hei"/>
                <a:ea typeface="WenQuanYi Micro Hei"/>
              </a:rPr>
              <a:t>谢谢观看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文旅酒店·活动日程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