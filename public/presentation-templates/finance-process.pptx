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9225" y="1928812"/>
            <a:ext cx="333375" cy="57150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4537" y="1595437"/>
            <a:ext cx="333375" cy="904875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19850" y="1166812"/>
            <a:ext cx="333375" cy="133350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5181600" y="1309687"/>
            <a:ext cx="642937" cy="23812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824537" y="1309687"/>
            <a:ext cx="452438" cy="14287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6276975" y="857250"/>
            <a:ext cx="690562" cy="595312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610350" y="857250"/>
            <a:ext cx="357187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967537" y="857250"/>
            <a:ext cx="0" cy="357187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金融服务·风控框架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63A53"/>
                </a:solidFill>
                <a:latin typeface="WenQuanYi Micro Hei"/>
                <a:ea typeface="WenQuanYi Micro Hei"/>
              </a:rPr>
              <a:t>建立全流程风险管理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63A53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B8540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63A53"/>
                </a:solidFill>
                <a:latin typeface="WenQuanYi Micro Hei"/>
                <a:ea typeface="WenQuanYi Micro Hei"/>
              </a:rPr>
              <a:t>建立全流程风险管理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2050" y="2543175"/>
            <a:ext cx="0" cy="2743200"/>
          </a:xfrm>
          <a:prstGeom prst="line">
            <a:avLst/>
          </a:prstGeom>
          <a:ln w="28575">
            <a:solidFill>
              <a:srgbClr val="AB8540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6300" y="2409825"/>
            <a:ext cx="571500" cy="571500"/>
          </a:xfrm>
          <a:prstGeom prst="ellipse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246697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9750" y="2238375"/>
            <a:ext cx="9696450" cy="990599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6450" y="240982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63A53"/>
                </a:solidFill>
                <a:latin typeface="WenQuanYi Micro Hei"/>
                <a:ea typeface="WenQuanYi Micro Hei"/>
              </a:rPr>
              <a:t>识别评估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2575" y="2419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A53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2575" y="275272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A53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14" name="Oval 13"/>
          <p:cNvSpPr/>
          <p:nvPr/>
        </p:nvSpPr>
        <p:spPr>
          <a:xfrm>
            <a:off x="876300" y="3600450"/>
            <a:ext cx="571500" cy="571500"/>
          </a:xfrm>
          <a:prstGeom prst="ellipse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6300" y="3657600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9750" y="3429000"/>
            <a:ext cx="9696450" cy="990599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6450" y="3600450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63A53"/>
                </a:solidFill>
                <a:latin typeface="WenQuanYi Micro Hei"/>
                <a:ea typeface="WenQuanYi Micro Hei"/>
              </a:rPr>
              <a:t>分层管理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2575" y="3609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A53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2575" y="394335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A53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sp>
        <p:nvSpPr>
          <p:cNvPr id="20" name="Oval 19"/>
          <p:cNvSpPr/>
          <p:nvPr/>
        </p:nvSpPr>
        <p:spPr>
          <a:xfrm>
            <a:off x="876300" y="4791075"/>
            <a:ext cx="571500" cy="571500"/>
          </a:xfrm>
          <a:prstGeom prst="ellipse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4848225"/>
            <a:ext cx="571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9750" y="4619625"/>
            <a:ext cx="9696450" cy="990599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6450" y="4791075"/>
            <a:ext cx="28670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63A53"/>
                </a:solidFill>
                <a:latin typeface="WenQuanYi Micro Hei"/>
                <a:ea typeface="WenQuanYi Micro Hei"/>
              </a:rPr>
              <a:t>监测复盘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2575" y="4800600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A53"/>
                </a:solidFill>
                <a:latin typeface="WenQuanYi Micro Hei"/>
                <a:ea typeface="WenQuanYi Micro Hei"/>
              </a:rPr>
              <a:t>责任角色：待填写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575" y="5133975"/>
            <a:ext cx="58007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63A53"/>
                </a:solidFill>
                <a:latin typeface="WenQuanYi Micro Hei"/>
                <a:ea typeface="WenQuanYi Micro Hei"/>
              </a:rPr>
              <a:t>输入材料 → 执行动作 → 交付标准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6F2E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OPEN OFFICE  /  金融服务·风控框架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263A53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63A53"/>
                </a:solidFill>
                <a:latin typeface="WenQuanYi Micro Hei"/>
                <a:ea typeface="WenQuanYi Micro Hei"/>
              </a:rPr>
              <a:t>让稳健成为长期价值的起点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AB8540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金融服务·风控框架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