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05775" y="0"/>
            <a:ext cx="4086225" cy="6858000"/>
          </a:xfrm>
          <a:prstGeom prst="rect">
            <a:avLst/>
          </a:prstGeom>
          <a:solidFill>
            <a:srgbClr val="1726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6249" y="0"/>
            <a:ext cx="123824" cy="6858000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7562" y="2301621"/>
            <a:ext cx="869442" cy="652081"/>
          </a:xfrm>
          <a:prstGeom prst="rect">
            <a:avLst/>
          </a:prstGeom>
          <a:solidFill>
            <a:srgbClr val="EDF0FD"/>
          </a:solidFill>
          <a:ln w="19050">
            <a:solidFill>
              <a:srgbClr val="5468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11768" y="2441352"/>
            <a:ext cx="341566" cy="77628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811768" y="2674239"/>
            <a:ext cx="589978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sp>
        <p:nvSpPr>
          <p:cNvPr id="8" name="Rectangle 7"/>
          <p:cNvSpPr/>
          <p:nvPr/>
        </p:nvSpPr>
        <p:spPr>
          <a:xfrm>
            <a:off x="10271188" y="2301621"/>
            <a:ext cx="869442" cy="652081"/>
          </a:xfrm>
          <a:prstGeom prst="rect">
            <a:avLst/>
          </a:prstGeom>
          <a:solidFill>
            <a:srgbClr val="EDF0FD"/>
          </a:solidFill>
          <a:ln w="19050">
            <a:solidFill>
              <a:srgbClr val="5468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395394" y="2441352"/>
            <a:ext cx="341566" cy="77628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395394" y="2674239"/>
            <a:ext cx="589979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sp>
        <p:nvSpPr>
          <p:cNvPr id="11" name="Rectangle 10"/>
          <p:cNvSpPr/>
          <p:nvPr/>
        </p:nvSpPr>
        <p:spPr>
          <a:xfrm>
            <a:off x="9494901" y="3823144"/>
            <a:ext cx="869442" cy="652081"/>
          </a:xfrm>
          <a:prstGeom prst="rect">
            <a:avLst/>
          </a:prstGeom>
          <a:solidFill>
            <a:srgbClr val="EDF0FD"/>
          </a:solidFill>
          <a:ln w="19050">
            <a:solidFill>
              <a:srgbClr val="5468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19107" y="3962876"/>
            <a:ext cx="341566" cy="77628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619107" y="4195762"/>
            <a:ext cx="589978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557004" y="2627661"/>
            <a:ext cx="714184" cy="0"/>
          </a:xfrm>
          <a:prstGeom prst="line">
            <a:avLst/>
          </a:prstGeom>
          <a:ln w="28575">
            <a:solidFill>
              <a:srgbClr val="5468CE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9122283" y="2953702"/>
            <a:ext cx="807339" cy="869442"/>
          </a:xfrm>
          <a:prstGeom prst="line">
            <a:avLst/>
          </a:prstGeom>
          <a:ln w="28575">
            <a:solidFill>
              <a:srgbClr val="5468CE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 flipH="1">
            <a:off x="9929622" y="2953702"/>
            <a:ext cx="776287" cy="869442"/>
          </a:xfrm>
          <a:prstGeom prst="line">
            <a:avLst/>
          </a:prstGeom>
          <a:ln w="28575">
            <a:solidFill>
              <a:srgbClr val="5468CE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685800" y="1619250"/>
            <a:ext cx="7048500" cy="1644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1">
                <a:solidFill>
                  <a:srgbClr val="172650"/>
                </a:solidFill>
                <a:latin typeface="WenQuanYi Micro Hei"/>
                <a:ea typeface="WenQuanYi Micro Hei"/>
              </a:rPr>
              <a:t>软件科技</a:t>
            </a:r>
          </a:p>
          <a:p>
            <a:pPr algn="l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1">
                <a:solidFill>
                  <a:srgbClr val="172650"/>
                </a:solidFill>
                <a:latin typeface="WenQuanYi Micro Hei"/>
                <a:ea typeface="WenQuanYi Micro Hei"/>
              </a:rPr>
              <a:t>系统架构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3476625"/>
            <a:ext cx="695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172650"/>
                </a:solidFill>
                <a:latin typeface="WenQuanYi Micro Hei"/>
                <a:ea typeface="WenQuanYi Micro Hei"/>
              </a:rPr>
              <a:t>构建可靠的服务体系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5353050"/>
            <a:ext cx="6667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72650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468CE"/>
                </a:solidFill>
                <a:latin typeface="WenQuanYi Micro Hei"/>
                <a:ea typeface="WenQuanYi Micro Hei"/>
              </a:rPr>
              <a:t>OPEN OFFICE  /  流程与方法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1726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172650"/>
                </a:solidFill>
                <a:latin typeface="WenQuanYi Micro Hei"/>
                <a:ea typeface="WenQuanYi Micro Hei"/>
              </a:rPr>
              <a:t>软件科技 / 关键流程与协作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2650"/>
                </a:solidFill>
                <a:latin typeface="WenQuanYi Micro Hei"/>
                <a:ea typeface="WenQuanYi Micro Hei"/>
              </a:rPr>
              <a:t>构建可靠的服务体系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95575"/>
            <a:ext cx="3448050" cy="2286000"/>
          </a:xfrm>
          <a:prstGeom prst="rect">
            <a:avLst/>
          </a:prstGeom>
          <a:solidFill>
            <a:srgbClr val="EDF0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925" y="2952750"/>
            <a:ext cx="29718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2650"/>
                </a:solidFill>
                <a:latin typeface="WenQuanYi Micro Hei"/>
                <a:ea typeface="WenQuanYi Micro Hei"/>
              </a:rPr>
              <a:t>需求验证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552825"/>
            <a:ext cx="2971800" cy="10663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2650"/>
                </a:solidFill>
                <a:latin typeface="WenQuanYi Micro Hei"/>
                <a:ea typeface="WenQuanYi Micro Hei"/>
              </a:rPr>
              <a:t>输入：填写所需信息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2650"/>
                </a:solidFill>
                <a:latin typeface="WenQuanYi Micro Hei"/>
                <a:ea typeface="WenQuanYi Micro Hei"/>
              </a:rPr>
              <a:t>负责：指定协作角色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2650"/>
                </a:solidFill>
                <a:latin typeface="WenQuanYi Micro Hei"/>
                <a:ea typeface="WenQuanYi Micro Hei"/>
              </a:rPr>
              <a:t>输出：明确交付标准</a:t>
            </a:r>
          </a:p>
        </p:txBody>
      </p:sp>
      <p:sp>
        <p:nvSpPr>
          <p:cNvPr id="10" name="Oval 9"/>
          <p:cNvSpPr/>
          <p:nvPr/>
        </p:nvSpPr>
        <p:spPr>
          <a:xfrm>
            <a:off x="2066924" y="2095499"/>
            <a:ext cx="666750" cy="666750"/>
          </a:xfrm>
          <a:prstGeom prst="ellipse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66924" y="2190750"/>
            <a:ext cx="6667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33849" y="3848099"/>
            <a:ext cx="180976" cy="0"/>
          </a:xfrm>
          <a:prstGeom prst="line">
            <a:avLst/>
          </a:prstGeom>
          <a:ln w="28575">
            <a:solidFill>
              <a:srgbClr val="5468CE"/>
            </a:solidFill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4371975" y="2695575"/>
            <a:ext cx="3448050" cy="2286000"/>
          </a:xfrm>
          <a:prstGeom prst="rect">
            <a:avLst/>
          </a:prstGeom>
          <a:solidFill>
            <a:srgbClr val="EDF0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0100" y="2952750"/>
            <a:ext cx="29718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2650"/>
                </a:solidFill>
                <a:latin typeface="WenQuanYi Micro Hei"/>
                <a:ea typeface="WenQuanYi Micro Hei"/>
              </a:rPr>
              <a:t>版本迭代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552825"/>
            <a:ext cx="2971800" cy="10663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2650"/>
                </a:solidFill>
                <a:latin typeface="WenQuanYi Micro Hei"/>
                <a:ea typeface="WenQuanYi Micro Hei"/>
              </a:rPr>
              <a:t>输入：填写所需信息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2650"/>
                </a:solidFill>
                <a:latin typeface="WenQuanYi Micro Hei"/>
                <a:ea typeface="WenQuanYi Micro Hei"/>
              </a:rPr>
              <a:t>负责：指定协作角色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2650"/>
                </a:solidFill>
                <a:latin typeface="WenQuanYi Micro Hei"/>
                <a:ea typeface="WenQuanYi Micro Hei"/>
              </a:rPr>
              <a:t>输出：明确交付标准</a:t>
            </a:r>
          </a:p>
        </p:txBody>
      </p:sp>
      <p:sp>
        <p:nvSpPr>
          <p:cNvPr id="16" name="Oval 15"/>
          <p:cNvSpPr/>
          <p:nvPr/>
        </p:nvSpPr>
        <p:spPr>
          <a:xfrm>
            <a:off x="5753100" y="2095499"/>
            <a:ext cx="666750" cy="666750"/>
          </a:xfrm>
          <a:prstGeom prst="ellipse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53100" y="2190750"/>
            <a:ext cx="6667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20025" y="3848099"/>
            <a:ext cx="180975" cy="0"/>
          </a:xfrm>
          <a:prstGeom prst="line">
            <a:avLst/>
          </a:prstGeom>
          <a:ln w="28575">
            <a:solidFill>
              <a:srgbClr val="5468CE"/>
            </a:solidFill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8058150" y="2695575"/>
            <a:ext cx="3448050" cy="2286000"/>
          </a:xfrm>
          <a:prstGeom prst="rect">
            <a:avLst/>
          </a:prstGeom>
          <a:solidFill>
            <a:srgbClr val="EDF0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6274" y="2952750"/>
            <a:ext cx="29718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2650"/>
                </a:solidFill>
                <a:latin typeface="WenQuanYi Micro Hei"/>
                <a:ea typeface="WenQuanYi Micro Hei"/>
              </a:rPr>
              <a:t>规模交付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274" y="3552825"/>
            <a:ext cx="2971800" cy="10663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2650"/>
                </a:solidFill>
                <a:latin typeface="WenQuanYi Micro Hei"/>
                <a:ea typeface="WenQuanYi Micro Hei"/>
              </a:rPr>
              <a:t>输入：填写所需信息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2650"/>
                </a:solidFill>
                <a:latin typeface="WenQuanYi Micro Hei"/>
                <a:ea typeface="WenQuanYi Micro Hei"/>
              </a:rPr>
              <a:t>负责：指定协作角色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2650"/>
                </a:solidFill>
                <a:latin typeface="WenQuanYi Micro Hei"/>
                <a:ea typeface="WenQuanYi Micro Hei"/>
              </a:rPr>
              <a:t>输出：明确交付标准</a:t>
            </a:r>
          </a:p>
        </p:txBody>
      </p:sp>
      <p:sp>
        <p:nvSpPr>
          <p:cNvPr id="22" name="Oval 21"/>
          <p:cNvSpPr/>
          <p:nvPr/>
        </p:nvSpPr>
        <p:spPr>
          <a:xfrm>
            <a:off x="9439275" y="2095499"/>
            <a:ext cx="666750" cy="666750"/>
          </a:xfrm>
          <a:prstGeom prst="ellipse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39275" y="2190750"/>
            <a:ext cx="6667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425" y="5381625"/>
            <a:ext cx="1047750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650"/>
                </a:solidFill>
                <a:latin typeface="WenQuanYi Micro Hei"/>
                <a:ea typeface="WenQuanYi Micro Hei"/>
              </a:rPr>
              <a:t>协作约定：统一标准、记录问题、明确反馈与升级路径。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DF0FD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2650"/>
                </a:solidFill>
                <a:latin typeface="WenQuanYi Micro Hei"/>
                <a:ea typeface="WenQuanYi Micro Hei"/>
              </a:rPr>
              <a:t>OPEN OFFICE  /  软件科技·系统架构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2650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90949" cy="6858000"/>
          </a:xfrm>
          <a:prstGeom prst="rect">
            <a:avLst/>
          </a:prstGeom>
          <a:solidFill>
            <a:srgbClr val="1726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4390" y="2446020"/>
            <a:ext cx="720090" cy="540067"/>
          </a:xfrm>
          <a:prstGeom prst="rect">
            <a:avLst/>
          </a:prstGeom>
          <a:solidFill>
            <a:srgbClr val="EDF0FD"/>
          </a:solidFill>
          <a:ln w="19050">
            <a:solidFill>
              <a:srgbClr val="5468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7260" y="2561748"/>
            <a:ext cx="282892" cy="64293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37260" y="2754629"/>
            <a:ext cx="488632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sp>
        <p:nvSpPr>
          <p:cNvPr id="7" name="Rectangle 6"/>
          <p:cNvSpPr/>
          <p:nvPr/>
        </p:nvSpPr>
        <p:spPr>
          <a:xfrm>
            <a:off x="2145982" y="2446020"/>
            <a:ext cx="720090" cy="540067"/>
          </a:xfrm>
          <a:prstGeom prst="rect">
            <a:avLst/>
          </a:prstGeom>
          <a:solidFill>
            <a:srgbClr val="EDF0FD"/>
          </a:solidFill>
          <a:ln w="19050">
            <a:solidFill>
              <a:srgbClr val="5468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48852" y="2561748"/>
            <a:ext cx="282892" cy="64293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2248852" y="2754629"/>
            <a:ext cx="488633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sp>
        <p:nvSpPr>
          <p:cNvPr id="10" name="Rectangle 9"/>
          <p:cNvSpPr/>
          <p:nvPr/>
        </p:nvSpPr>
        <p:spPr>
          <a:xfrm>
            <a:off x="1503045" y="3706177"/>
            <a:ext cx="720090" cy="540067"/>
          </a:xfrm>
          <a:prstGeom prst="rect">
            <a:avLst/>
          </a:prstGeom>
          <a:solidFill>
            <a:srgbClr val="EDF0FD"/>
          </a:solidFill>
          <a:ln w="19050">
            <a:solidFill>
              <a:srgbClr val="5468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05914" y="3821906"/>
            <a:ext cx="282892" cy="64293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605914" y="4014787"/>
            <a:ext cx="488633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1554480" y="2716053"/>
            <a:ext cx="591502" cy="0"/>
          </a:xfrm>
          <a:prstGeom prst="line">
            <a:avLst/>
          </a:prstGeom>
          <a:ln w="28575">
            <a:solidFill>
              <a:srgbClr val="5468CE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194435" y="2986087"/>
            <a:ext cx="668655" cy="720090"/>
          </a:xfrm>
          <a:prstGeom prst="line">
            <a:avLst/>
          </a:prstGeom>
          <a:ln w="28575">
            <a:solidFill>
              <a:srgbClr val="5468CE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 flipH="1">
            <a:off x="1863090" y="2986087"/>
            <a:ext cx="642937" cy="720090"/>
          </a:xfrm>
          <a:prstGeom prst="line">
            <a:avLst/>
          </a:prstGeom>
          <a:ln w="28575">
            <a:solidFill>
              <a:srgbClr val="5468CE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4362450" y="2085975"/>
            <a:ext cx="7143750" cy="12630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97"/>
              </a:lnSpc>
              <a:spcBef>
                <a:spcPts val="0"/>
              </a:spcBef>
              <a:spcAft>
                <a:spcPts val="0"/>
              </a:spcAft>
            </a:pPr>
            <a:r>
              <a:rPr sz="5850" b="1">
                <a:solidFill>
                  <a:srgbClr val="172650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0550" y="3381375"/>
            <a:ext cx="7105650" cy="4748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172650"/>
                </a:solidFill>
                <a:latin typeface="WenQuanYi Micro Hei"/>
                <a:ea typeface="WenQuanYi Micro Hei"/>
              </a:rPr>
              <a:t>让技术成为解决问题的力量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91025" y="4648200"/>
            <a:ext cx="6991350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4400550" y="5095875"/>
            <a:ext cx="6953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468CE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软件科技·系统架构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