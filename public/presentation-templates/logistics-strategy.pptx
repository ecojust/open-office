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2450" y="962024"/>
            <a:ext cx="3333750" cy="4476750"/>
          </a:xfrm>
          <a:prstGeom prst="rect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0100" y="1209675"/>
            <a:ext cx="2838450" cy="398145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992362" y="2398966"/>
            <a:ext cx="1653349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10645711" y="2398966"/>
            <a:ext cx="0" cy="1402842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8992362" y="3801808"/>
            <a:ext cx="1653349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8817006" y="2223611"/>
            <a:ext cx="350710" cy="35071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70356" y="2223611"/>
            <a:ext cx="350710" cy="35071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17006" y="3626453"/>
            <a:ext cx="350710" cy="35071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43072" y="2899981"/>
            <a:ext cx="851725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233D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768935" y="2899981"/>
            <a:ext cx="0" cy="601218"/>
          </a:xfrm>
          <a:prstGeom prst="line">
            <a:avLst/>
          </a:prstGeom>
          <a:ln w="19050">
            <a:solidFill>
              <a:srgbClr val="233D5B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343072" y="3075336"/>
            <a:ext cx="851726" cy="0"/>
          </a:xfrm>
          <a:prstGeom prst="line">
            <a:avLst/>
          </a:prstGeom>
          <a:ln w="19050">
            <a:solidFill>
              <a:srgbClr val="233D5B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685800" y="1333500"/>
            <a:ext cx="6838949" cy="0"/>
          </a:xfrm>
          <a:prstGeom prst="line">
            <a:avLst/>
          </a:prstGeom>
          <a:ln w="19050">
            <a:solidFill>
              <a:srgbClr val="3574B4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85800" y="1809750"/>
            <a:ext cx="7048500" cy="15935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233D5B"/>
                </a:solidFill>
                <a:latin typeface="WenQuanYi Micro Hei"/>
                <a:ea typeface="WenQuanYi Micro Hei"/>
              </a:rPr>
              <a:t>交通物流</a:t>
            </a:r>
          </a:p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233D5B"/>
                </a:solidFill>
                <a:latin typeface="WenQuanYi Micro Hei"/>
                <a:ea typeface="WenQuanYi Micro Hei"/>
              </a:rPr>
              <a:t>网络规划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" y="3705224"/>
            <a:ext cx="70485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D5B"/>
                </a:solidFill>
                <a:latin typeface="WenQuanYi Micro Hei"/>
                <a:ea typeface="WenQuanYi Micro Hei"/>
              </a:rPr>
              <a:t>让连接更加高效可靠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4591050"/>
            <a:ext cx="6838949" cy="0"/>
          </a:xfrm>
          <a:prstGeom prst="line">
            <a:avLst/>
          </a:prstGeom>
          <a:ln w="9525">
            <a:solidFill>
              <a:srgbClr val="3574B4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14375" y="5219700"/>
            <a:ext cx="7048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33D5B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574B4"/>
                </a:solidFill>
                <a:latin typeface="WenQuanYi Micro Hei"/>
                <a:ea typeface="WenQuanYi Micro Hei"/>
              </a:rPr>
              <a:t>OPEN OFFICE  /  战略规划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33D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33D5B"/>
                </a:solidFill>
                <a:latin typeface="WenQuanYi Micro Hei"/>
                <a:ea typeface="WenQuanYi Micro Hei"/>
              </a:rPr>
              <a:t>交通物流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让连接更加高效可靠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19325"/>
            <a:ext cx="3143250" cy="3362325"/>
          </a:xfrm>
          <a:prstGeom prst="rect">
            <a:avLst/>
          </a:prstGeom>
          <a:solidFill>
            <a:srgbClr val="233D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" y="2543175"/>
            <a:ext cx="26098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FFFFFF"/>
                </a:solidFill>
                <a:latin typeface="WenQuanYi Micro Hei"/>
                <a:ea typeface="WenQuanYi Micro Hei"/>
              </a:rPr>
              <a:t>共同目标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190875"/>
            <a:ext cx="2609850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AF2FB"/>
                </a:solidFill>
                <a:latin typeface="WenQuanYi Micro Hei"/>
                <a:ea typeface="WenQuanYi Micro Hei"/>
              </a:rPr>
              <a:t>明确目标人群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AF2FB"/>
                </a:solidFill>
                <a:latin typeface="WenQuanYi Micro Hei"/>
                <a:ea typeface="WenQuanYi Micro Hei"/>
              </a:rPr>
              <a:t>定义成功标准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AF2FB"/>
                </a:solidFill>
                <a:latin typeface="WenQuanYi Micro Hei"/>
                <a:ea typeface="WenQuanYi Micro Hei"/>
              </a:rPr>
              <a:t>聚焦优先行动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0999" y="2257425"/>
            <a:ext cx="7315200" cy="942975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600" y="240982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574B4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275" y="238125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33D5B"/>
                </a:solidFill>
                <a:latin typeface="WenQuanYi Micro Hei"/>
                <a:ea typeface="WenQuanYi Micro Hei"/>
              </a:rPr>
              <a:t>网络节点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275" y="276225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3D5B"/>
                </a:solidFill>
                <a:latin typeface="WenQuanYi Micro Hei"/>
                <a:ea typeface="WenQuanYi Micro Hei"/>
              </a:rPr>
              <a:t>梳理服务区域与关键枢纽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0999" y="3371850"/>
            <a:ext cx="7315200" cy="942975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3524250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574B4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275" y="3495675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33D5B"/>
                </a:solidFill>
                <a:latin typeface="WenQuanYi Micro Hei"/>
                <a:ea typeface="WenQuanYi Micro Hei"/>
              </a:rPr>
              <a:t>运力协同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275" y="3876674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3D5B"/>
                </a:solidFill>
                <a:latin typeface="WenQuanYi Micro Hei"/>
                <a:ea typeface="WenQuanYi Micro Hei"/>
              </a:rPr>
              <a:t>匹配运输资源与需求节奏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0999" y="4486275"/>
            <a:ext cx="7315200" cy="942975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9600" y="463867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574B4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275" y="461010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33D5B"/>
                </a:solidFill>
                <a:latin typeface="WenQuanYi Micro Hei"/>
                <a:ea typeface="WenQuanYi Micro Hei"/>
              </a:rPr>
              <a:t>履约体验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275" y="499110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3D5B"/>
                </a:solidFill>
                <a:latin typeface="WenQuanYi Micro Hei"/>
                <a:ea typeface="WenQuanYi Micro Hei"/>
              </a:rPr>
              <a:t>定义时效标准与异常处理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AF2FB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33D5B"/>
                </a:solidFill>
                <a:latin typeface="WenQuanYi Micro Hei"/>
                <a:ea typeface="WenQuanYi Micro Hei"/>
              </a:rPr>
              <a:t>OPEN OFFICE  /  交通物流·网络规划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33D5B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233D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040130" y="2651760"/>
            <a:ext cx="1697355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>
            <a:off x="2737485" y="2651760"/>
            <a:ext cx="0" cy="144018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1040130" y="4091940"/>
            <a:ext cx="1697355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sp>
        <p:nvSpPr>
          <p:cNvPr id="7" name="Oval 6"/>
          <p:cNvSpPr/>
          <p:nvPr/>
        </p:nvSpPr>
        <p:spPr>
          <a:xfrm>
            <a:off x="860107" y="2471737"/>
            <a:ext cx="360045" cy="360045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57462" y="2471737"/>
            <a:ext cx="360045" cy="360045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0107" y="3911917"/>
            <a:ext cx="360045" cy="360045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00175" y="3166110"/>
            <a:ext cx="874395" cy="617219"/>
          </a:xfrm>
          <a:prstGeom prst="rect">
            <a:avLst/>
          </a:prstGeom>
          <a:solidFill>
            <a:srgbClr val="EAF2FB"/>
          </a:solidFill>
          <a:ln w="19050">
            <a:solidFill>
              <a:srgbClr val="EAF2F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837372" y="3166110"/>
            <a:ext cx="0" cy="617220"/>
          </a:xfrm>
          <a:prstGeom prst="line">
            <a:avLst/>
          </a:prstGeom>
          <a:ln w="19050">
            <a:solidFill>
              <a:srgbClr val="EAF2FB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400175" y="3346132"/>
            <a:ext cx="874395" cy="0"/>
          </a:xfrm>
          <a:prstGeom prst="line">
            <a:avLst/>
          </a:prstGeom>
          <a:ln w="19050">
            <a:solidFill>
              <a:srgbClr val="EAF2FB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233D5B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233D5B"/>
                </a:solidFill>
                <a:latin typeface="WenQuanYi Micro Hei"/>
                <a:ea typeface="WenQuanYi Micro Hei"/>
              </a:rPr>
              <a:t>连接每一站，让交付更有把握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3574B4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574B4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交通物流·网络规划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