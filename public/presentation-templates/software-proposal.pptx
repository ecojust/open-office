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91956" y="2198560"/>
            <a:ext cx="701421" cy="526065"/>
          </a:xfrm>
          <a:prstGeom prst="rect">
            <a:avLst/>
          </a:prstGeom>
          <a:solidFill>
            <a:srgbClr val="FFFFFF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2159" y="2311288"/>
            <a:ext cx="275558" cy="62626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892159" y="2499169"/>
            <a:ext cx="475964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10069544" y="2198560"/>
            <a:ext cx="701421" cy="526065"/>
          </a:xfrm>
          <a:prstGeom prst="rect">
            <a:avLst/>
          </a:prstGeom>
          <a:solidFill>
            <a:srgbClr val="FFFFFF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69747" y="2311288"/>
            <a:ext cx="275558" cy="62626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169747" y="2499169"/>
            <a:ext cx="475964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9443275" y="3426047"/>
            <a:ext cx="701421" cy="526065"/>
          </a:xfrm>
          <a:prstGeom prst="rect">
            <a:avLst/>
          </a:prstGeom>
          <a:solidFill>
            <a:srgbClr val="FFFFFF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43478" y="3538775"/>
            <a:ext cx="275558" cy="62626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43478" y="3726656"/>
            <a:ext cx="475964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493376" y="2461593"/>
            <a:ext cx="576168" cy="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9142666" y="2724626"/>
            <a:ext cx="651320" cy="701421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 flipH="1">
            <a:off x="9793986" y="2724626"/>
            <a:ext cx="626268" cy="701421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172650"/>
                </a:solidFill>
                <a:latin typeface="WenQuanYi Micro Hei"/>
                <a:ea typeface="WenQuanYi Micro Hei"/>
              </a:rPr>
              <a:t>软件科技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172650"/>
                </a:solidFill>
                <a:latin typeface="WenQuanYi Micro Hei"/>
                <a:ea typeface="WenQuanYi Micro Hei"/>
              </a:rPr>
              <a:t>产品发布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650"/>
                </a:solidFill>
                <a:latin typeface="WenQuanYi Micro Hei"/>
                <a:ea typeface="WenQuanYi Micro Hei"/>
              </a:rPr>
              <a:t>从用户问题到产品答案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5468CE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72650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468CE"/>
                </a:solidFill>
                <a:latin typeface="WenQuanYi Micro Hei"/>
                <a:ea typeface="WenQuanYi Micro Hei"/>
              </a:rPr>
              <a:t>OPEN OFFICE  /  产品与服务提案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172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172650"/>
                </a:solidFill>
                <a:latin typeface="WenQuanYi Micro Hei"/>
                <a:ea typeface="WenQuanYi Micro Hei"/>
              </a:rPr>
              <a:t>软件科技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从用户问题到产品答案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867150" cy="3476625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26845" y="2923222"/>
            <a:ext cx="760095" cy="570071"/>
          </a:xfrm>
          <a:prstGeom prst="rect">
            <a:avLst/>
          </a:prstGeom>
          <a:solidFill>
            <a:srgbClr val="FFFFFF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35429" y="3045380"/>
            <a:ext cx="298608" cy="67865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35429" y="3248977"/>
            <a:ext cx="515779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2811303" y="2923222"/>
            <a:ext cx="760095" cy="570071"/>
          </a:xfrm>
          <a:prstGeom prst="rect">
            <a:avLst/>
          </a:prstGeom>
          <a:solidFill>
            <a:srgbClr val="FFFFFF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19888" y="3045380"/>
            <a:ext cx="298608" cy="67865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919888" y="3248977"/>
            <a:ext cx="515779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2132647" y="4253388"/>
            <a:ext cx="760095" cy="570071"/>
          </a:xfrm>
          <a:prstGeom prst="rect">
            <a:avLst/>
          </a:prstGeom>
          <a:solidFill>
            <a:srgbClr val="FFFFFF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41232" y="4375546"/>
            <a:ext cx="298608" cy="67865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241232" y="4579143"/>
            <a:ext cx="515779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2186940" y="3208258"/>
            <a:ext cx="624363" cy="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806892" y="3493293"/>
            <a:ext cx="705802" cy="760095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 flipH="1">
            <a:off x="2512694" y="3493293"/>
            <a:ext cx="678657" cy="760095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5000625" y="227647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72650"/>
                </a:solidFill>
                <a:latin typeface="WenQuanYi Micro Hei"/>
                <a:ea typeface="WenQuanYi Micro Hei"/>
              </a:rPr>
              <a:t>用户场景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9675" y="275272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梳理用户任务与关键痛点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00625" y="3190875"/>
            <a:ext cx="6505575" cy="0"/>
          </a:xfrm>
          <a:prstGeom prst="line">
            <a:avLst/>
          </a:prstGeom>
          <a:ln w="9525">
            <a:solidFill>
              <a:srgbClr val="5468CE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5000625" y="3409950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72650"/>
                </a:solidFill>
                <a:latin typeface="WenQuanYi Micro Hei"/>
                <a:ea typeface="WenQuanYi Micro Hei"/>
              </a:rPr>
              <a:t>核心能力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9675" y="3886200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说明核心功能与技术边界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00625" y="4324350"/>
            <a:ext cx="6505575" cy="0"/>
          </a:xfrm>
          <a:prstGeom prst="line">
            <a:avLst/>
          </a:prstGeom>
          <a:ln w="9525">
            <a:solidFill>
              <a:srgbClr val="5468CE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000625" y="454342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72650"/>
                </a:solidFill>
                <a:latin typeface="WenQuanYi Micro Hei"/>
                <a:ea typeface="WenQuanYi Micro Hei"/>
              </a:rPr>
              <a:t>交付价值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9675" y="501967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用可衡量的结果验证价值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DF0FD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2650"/>
                </a:solidFill>
                <a:latin typeface="WenQuanYi Micro Hei"/>
                <a:ea typeface="WenQuanYi Micro Hei"/>
              </a:rPr>
              <a:t>OPEN OFFICE  /  软件科技·产品发布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2650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172650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650"/>
                </a:solidFill>
                <a:latin typeface="WenQuanYi Micro Hei"/>
                <a:ea typeface="WenQuanYi Micro Hei"/>
              </a:rPr>
              <a:t>让技术成为解决问题的力量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468CE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软件科技·产品发布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