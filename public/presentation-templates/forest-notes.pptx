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48600" y="0"/>
            <a:ext cx="4343400" cy="6858000"/>
          </a:xfrm>
          <a:prstGeom prst="rect">
            <a:avLst/>
          </a:prstGeom>
          <a:solidFill>
            <a:srgbClr val="214D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01050" y="952500"/>
            <a:ext cx="1428750" cy="2447925"/>
          </a:xfrm>
          <a:prstGeom prst="ellipse">
            <a:avLst/>
          </a:prstGeom>
          <a:solidFill>
            <a:srgbClr val="A7C7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86950" y="2571750"/>
            <a:ext cx="1666875" cy="2752725"/>
          </a:xfrm>
          <a:prstGeom prst="ellipse">
            <a:avLst/>
          </a:prstGeom>
          <a:solidFill>
            <a:srgbClr val="7DAB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43950" y="4114800"/>
            <a:ext cx="952500" cy="1619250"/>
          </a:xfrm>
          <a:prstGeom prst="ellipse">
            <a:avLst/>
          </a:prstGeom>
          <a:solidFill>
            <a:srgbClr val="C5D8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039350" y="1800225"/>
            <a:ext cx="0" cy="4162425"/>
          </a:xfrm>
          <a:prstGeom prst="line">
            <a:avLst/>
          </a:prstGeom>
          <a:ln w="19050">
            <a:solidFill>
              <a:srgbClr val="DDE7D3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9077325" y="2619375"/>
            <a:ext cx="962025" cy="1085849"/>
          </a:xfrm>
          <a:prstGeom prst="line">
            <a:avLst/>
          </a:prstGeom>
          <a:ln w="19050">
            <a:solidFill>
              <a:srgbClr val="DDE7D3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H="1">
            <a:off x="10039350" y="4000500"/>
            <a:ext cx="752475" cy="857250"/>
          </a:xfrm>
          <a:prstGeom prst="line">
            <a:avLst/>
          </a:prstGeom>
          <a:ln w="19050">
            <a:solidFill>
              <a:srgbClr val="DDE7D3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685800" y="552450"/>
            <a:ext cx="9525000" cy="2690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14D3E"/>
                </a:solidFill>
                <a:latin typeface="WenQuanYi Micro Hei"/>
                <a:ea typeface="WenQuanYi Micro Hei"/>
              </a:rPr>
              <a:t>NATURE / GROWTH / 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9300"/>
            <a:ext cx="6667500" cy="19278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29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214D3E"/>
                </a:solidFill>
                <a:latin typeface="WenQuanYi Micro Hei"/>
                <a:ea typeface="WenQuanYi Micro Hei"/>
              </a:rPr>
              <a:t>让灵感</a:t>
            </a:r>
          </a:p>
          <a:p>
            <a:pPr algn="l">
              <a:lnSpc>
                <a:spcPts val="729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214D3E"/>
                </a:solidFill>
                <a:latin typeface="WenQuanYi Micro Hei"/>
                <a:ea typeface="WenQuanYi Micro Hei"/>
              </a:rPr>
              <a:t>自然生长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425" y="4114800"/>
            <a:ext cx="647700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6C806C"/>
                </a:solidFill>
                <a:latin typeface="WenQuanYi Micro Hei"/>
                <a:ea typeface="WenQuanYi Micro Hei"/>
              </a:rPr>
              <a:t>在这里填写你的演示副标题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425" y="5334000"/>
            <a:ext cx="657225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4D3E"/>
                </a:solidFill>
                <a:latin typeface="WenQuanYi Micro Hei"/>
                <a:ea typeface="WenQuanYi Micro Hei"/>
              </a:rPr>
              <a:t>分享人：你的名字  /  20XX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425" y="6296025"/>
            <a:ext cx="6191250" cy="2433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C806C"/>
                </a:solidFill>
                <a:latin typeface="WenQuanYi Micro Hei"/>
                <a:ea typeface="WenQuanYi Micro Hei"/>
              </a:rPr>
              <a:t>OPEN OFFICE  ·  森林随想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800100"/>
            <a:ext cx="10572750" cy="7448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657"/>
              </a:lnSpc>
              <a:spcBef>
                <a:spcPts val="0"/>
              </a:spcBef>
              <a:spcAft>
                <a:spcPts val="0"/>
              </a:spcAft>
            </a:pPr>
            <a:r>
              <a:rPr sz="3450" b="1">
                <a:solidFill>
                  <a:srgbClr val="214D3E"/>
                </a:solidFill>
                <a:latin typeface="WenQuanYi Micro Hei"/>
                <a:ea typeface="WenQuanYi Micro Hei"/>
              </a:rPr>
              <a:t>在这里填写内容标题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57325"/>
            <a:ext cx="1057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14D3E"/>
                </a:solidFill>
                <a:latin typeface="WenQuanYi Micro Hei"/>
                <a:ea typeface="WenQuanYi Micro Hei"/>
              </a:rPr>
              <a:t>关注长期价值，让每一个行动有所生长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362200"/>
            <a:ext cx="590550" cy="838200"/>
          </a:xfrm>
          <a:prstGeom prst="ellipse">
            <a:avLst/>
          </a:prstGeom>
          <a:solidFill>
            <a:srgbClr val="214D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90599" y="3219450"/>
            <a:ext cx="0" cy="2428875"/>
          </a:xfrm>
          <a:prstGeom prst="line">
            <a:avLst/>
          </a:prstGeom>
          <a:ln w="19050">
            <a:solidFill>
              <a:srgbClr val="BCD0B4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1533525" y="2571750"/>
            <a:ext cx="238125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14D3E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3525" y="2952750"/>
            <a:ext cx="23812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14D3E"/>
                </a:solidFill>
                <a:latin typeface="WenQuanYi Micro Hei"/>
                <a:ea typeface="WenQuanYi Micro Hei"/>
              </a:rPr>
              <a:t>观察与发现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3525" y="3476625"/>
            <a:ext cx="2381250" cy="972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5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14D3E"/>
                </a:solidFill>
                <a:latin typeface="WenQuanYi Micro Hei"/>
                <a:ea typeface="WenQuanYi Micro Hei"/>
              </a:rPr>
              <a:t>写下你的核心观点</a:t>
            </a:r>
          </a:p>
          <a:p>
            <a:pPr algn="l">
              <a:lnSpc>
                <a:spcPts val="235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14D3E"/>
                </a:solidFill>
                <a:latin typeface="WenQuanYi Micro Hei"/>
                <a:ea typeface="WenQuanYi Micro Hei"/>
              </a:rPr>
              <a:t>补充一个具体案例</a:t>
            </a:r>
          </a:p>
          <a:p>
            <a:pPr algn="l">
              <a:lnSpc>
                <a:spcPts val="235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14D3E"/>
                </a:solidFill>
                <a:latin typeface="WenQuanYi Micro Hei"/>
                <a:ea typeface="WenQuanYi Micro Hei"/>
              </a:rPr>
              <a:t>给出可执行的建议</a:t>
            </a:r>
          </a:p>
        </p:txBody>
      </p:sp>
      <p:sp>
        <p:nvSpPr>
          <p:cNvPr id="10" name="Oval 9"/>
          <p:cNvSpPr/>
          <p:nvPr/>
        </p:nvSpPr>
        <p:spPr>
          <a:xfrm>
            <a:off x="4448175" y="2362200"/>
            <a:ext cx="590550" cy="838200"/>
          </a:xfrm>
          <a:prstGeom prst="ellipse">
            <a:avLst/>
          </a:prstGeom>
          <a:solidFill>
            <a:srgbClr val="7DAB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752975" y="3219450"/>
            <a:ext cx="0" cy="2428875"/>
          </a:xfrm>
          <a:prstGeom prst="line">
            <a:avLst/>
          </a:prstGeom>
          <a:ln w="19050">
            <a:solidFill>
              <a:srgbClr val="BCD0B4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5295900" y="2571750"/>
            <a:ext cx="238125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14D3E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5900" y="2952750"/>
            <a:ext cx="23812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14D3E"/>
                </a:solidFill>
                <a:latin typeface="WenQuanYi Micro Hei"/>
                <a:ea typeface="WenQuanYi Micro Hei"/>
              </a:rPr>
              <a:t>行动与改变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5900" y="3476625"/>
            <a:ext cx="2381250" cy="972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5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14D3E"/>
                </a:solidFill>
                <a:latin typeface="WenQuanYi Micro Hei"/>
                <a:ea typeface="WenQuanYi Micro Hei"/>
              </a:rPr>
              <a:t>写下你的核心观点</a:t>
            </a:r>
          </a:p>
          <a:p>
            <a:pPr algn="l">
              <a:lnSpc>
                <a:spcPts val="235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14D3E"/>
                </a:solidFill>
                <a:latin typeface="WenQuanYi Micro Hei"/>
                <a:ea typeface="WenQuanYi Micro Hei"/>
              </a:rPr>
              <a:t>补充一个具体案例</a:t>
            </a:r>
          </a:p>
          <a:p>
            <a:pPr algn="l">
              <a:lnSpc>
                <a:spcPts val="235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14D3E"/>
                </a:solidFill>
                <a:latin typeface="WenQuanYi Micro Hei"/>
                <a:ea typeface="WenQuanYi Micro Hei"/>
              </a:rPr>
              <a:t>给出可执行的建议</a:t>
            </a:r>
          </a:p>
        </p:txBody>
      </p:sp>
      <p:sp>
        <p:nvSpPr>
          <p:cNvPr id="15" name="Oval 14"/>
          <p:cNvSpPr/>
          <p:nvPr/>
        </p:nvSpPr>
        <p:spPr>
          <a:xfrm>
            <a:off x="8210549" y="2362200"/>
            <a:ext cx="590550" cy="838200"/>
          </a:xfrm>
          <a:prstGeom prst="ellipse">
            <a:avLst/>
          </a:prstGeom>
          <a:solidFill>
            <a:srgbClr val="A7C7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8515350" y="3219450"/>
            <a:ext cx="0" cy="2428875"/>
          </a:xfrm>
          <a:prstGeom prst="line">
            <a:avLst/>
          </a:prstGeom>
          <a:ln w="19050">
            <a:solidFill>
              <a:srgbClr val="BCD0B4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9058275" y="2571750"/>
            <a:ext cx="238125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14D3E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8275" y="2952750"/>
            <a:ext cx="23812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14D3E"/>
                </a:solidFill>
                <a:latin typeface="WenQuanYi Micro Hei"/>
                <a:ea typeface="WenQuanYi Micro Hei"/>
              </a:rPr>
              <a:t>持续与成长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8275" y="3476625"/>
            <a:ext cx="2381250" cy="972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5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14D3E"/>
                </a:solidFill>
                <a:latin typeface="WenQuanYi Micro Hei"/>
                <a:ea typeface="WenQuanYi Micro Hei"/>
              </a:rPr>
              <a:t>写下你的核心观点</a:t>
            </a:r>
          </a:p>
          <a:p>
            <a:pPr algn="l">
              <a:lnSpc>
                <a:spcPts val="235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14D3E"/>
                </a:solidFill>
                <a:latin typeface="WenQuanYi Micro Hei"/>
                <a:ea typeface="WenQuanYi Micro Hei"/>
              </a:rPr>
              <a:t>补充一个具体案例</a:t>
            </a:r>
          </a:p>
          <a:p>
            <a:pPr algn="l">
              <a:lnSpc>
                <a:spcPts val="235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14D3E"/>
                </a:solidFill>
                <a:latin typeface="WenQuanYi Micro Hei"/>
                <a:ea typeface="WenQuanYi Micro Hei"/>
              </a:rPr>
              <a:t>给出可执行的建议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D3DECA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806C"/>
                </a:solidFill>
                <a:latin typeface="WenQuanYi Micro Hei"/>
                <a:ea typeface="WenQuanYi Micro Hei"/>
              </a:rPr>
              <a:t>OPEN OFFICE  /  森林随想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806C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4D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9650" y="914400"/>
            <a:ext cx="1752600" cy="3476625"/>
          </a:xfrm>
          <a:prstGeom prst="ellipse">
            <a:avLst/>
          </a:prstGeom>
          <a:solidFill>
            <a:srgbClr val="2B5D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9250" y="2400300"/>
            <a:ext cx="1981199" cy="3571875"/>
          </a:xfrm>
          <a:prstGeom prst="ellipse">
            <a:avLst/>
          </a:prstGeom>
          <a:solidFill>
            <a:srgbClr val="3468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81250" y="2400300"/>
            <a:ext cx="7429500" cy="1424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EDF4E8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81250" y="3724275"/>
            <a:ext cx="7429500" cy="4210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BBD2AE"/>
                </a:solidFill>
                <a:latin typeface="WenQuanYi Micro Hei"/>
                <a:ea typeface="WenQuanYi Micro Hei"/>
              </a:rPr>
              <a:t>愿每个想法，都能生根发芽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森林随想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