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05775" y="0"/>
            <a:ext cx="4086225" cy="6858000"/>
          </a:xfrm>
          <a:prstGeom prst="rect">
            <a:avLst/>
          </a:prstGeom>
          <a:solidFill>
            <a:srgbClr val="5941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6249" y="0"/>
            <a:ext cx="123824" cy="6858000"/>
          </a:xfrm>
          <a:prstGeom prst="rect">
            <a:avLst/>
          </a:prstGeom>
          <a:solidFill>
            <a:srgbClr val="DD8A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7562" y="2550033"/>
            <a:ext cx="1211008" cy="1832038"/>
          </a:xfrm>
          <a:prstGeom prst="rect">
            <a:avLst/>
          </a:prstGeom>
          <a:solidFill>
            <a:srgbClr val="FFF5E5"/>
          </a:solidFill>
          <a:ln w="19050">
            <a:solidFill>
              <a:srgbClr val="DD8A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3828" y="2550033"/>
            <a:ext cx="1211008" cy="1832038"/>
          </a:xfrm>
          <a:prstGeom prst="rect">
            <a:avLst/>
          </a:prstGeom>
          <a:solidFill>
            <a:srgbClr val="FFF5E5"/>
          </a:solidFill>
          <a:ln w="19050">
            <a:solidFill>
              <a:srgbClr val="DD8A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976199" y="2487930"/>
            <a:ext cx="0" cy="2018347"/>
          </a:xfrm>
          <a:prstGeom prst="line">
            <a:avLst/>
          </a:prstGeom>
          <a:ln w="28575">
            <a:solidFill>
              <a:srgbClr val="FFF5E5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8904922" y="2953702"/>
            <a:ext cx="745236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10302240" y="2953702"/>
            <a:ext cx="714184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8904922" y="3248691"/>
            <a:ext cx="745236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10302240" y="3248691"/>
            <a:ext cx="714184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8904922" y="3543681"/>
            <a:ext cx="745236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10302240" y="3543681"/>
            <a:ext cx="714184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8904922" y="3838670"/>
            <a:ext cx="745236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10302240" y="3838670"/>
            <a:ext cx="714184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sp>
        <p:nvSpPr>
          <p:cNvPr id="16" name="Oval 15"/>
          <p:cNvSpPr/>
          <p:nvPr/>
        </p:nvSpPr>
        <p:spPr>
          <a:xfrm>
            <a:off x="10581703" y="2053209"/>
            <a:ext cx="403669" cy="403669"/>
          </a:xfrm>
          <a:prstGeom prst="ellipse">
            <a:avLst/>
          </a:prstGeom>
          <a:solidFill>
            <a:srgbClr val="DD8A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1619250"/>
            <a:ext cx="7048500" cy="1644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176"/>
              </a:lnSpc>
              <a:spcBef>
                <a:spcPts val="0"/>
              </a:spcBef>
              <a:spcAft>
                <a:spcPts val="0"/>
              </a:spcAft>
            </a:pPr>
            <a:r>
              <a:rPr sz="4575" b="1">
                <a:solidFill>
                  <a:srgbClr val="594127"/>
                </a:solidFill>
                <a:latin typeface="WenQuanYi Micro Hei"/>
                <a:ea typeface="WenQuanYi Micro Hei"/>
              </a:rPr>
              <a:t>教育培训</a:t>
            </a:r>
          </a:p>
          <a:p>
            <a:pPr algn="l">
              <a:lnSpc>
                <a:spcPts val="6176"/>
              </a:lnSpc>
              <a:spcBef>
                <a:spcPts val="0"/>
              </a:spcBef>
              <a:spcAft>
                <a:spcPts val="0"/>
              </a:spcAft>
            </a:pPr>
            <a:r>
              <a:rPr sz="4575" b="1">
                <a:solidFill>
                  <a:srgbClr val="594127"/>
                </a:solidFill>
                <a:latin typeface="WenQuanYi Micro Hei"/>
                <a:ea typeface="WenQuanYi Micro Hei"/>
              </a:rPr>
              <a:t>教学成果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3476625"/>
            <a:ext cx="695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594127"/>
                </a:solidFill>
                <a:latin typeface="WenQuanYi Micro Hei"/>
                <a:ea typeface="WenQuanYi Micro Hei"/>
              </a:rPr>
              <a:t>让学习成果清晰可见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" y="5353050"/>
            <a:ext cx="66675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94127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D8A30"/>
                </a:solidFill>
                <a:latin typeface="WenQuanYi Micro Hei"/>
                <a:ea typeface="WenQuanYi Micro Hei"/>
              </a:rPr>
              <a:t>OPEN OFFICE  /  数据与成果汇报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DD8A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5941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594127"/>
                </a:solidFill>
                <a:latin typeface="WenQuanYi Micro Hei"/>
                <a:ea typeface="WenQuanYi Micro Hei"/>
              </a:rPr>
              <a:t>教育培训 / 关键成果与观察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4127"/>
                </a:solidFill>
                <a:latin typeface="WenQuanYi Micro Hei"/>
                <a:ea typeface="WenQuanYi Micro Hei"/>
              </a:rPr>
              <a:t>让学习成果清晰可见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33600"/>
            <a:ext cx="3448050" cy="1162050"/>
          </a:xfrm>
          <a:prstGeom prst="rect">
            <a:avLst/>
          </a:prstGeom>
          <a:solidFill>
            <a:srgbClr val="FFF5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925" y="2314575"/>
            <a:ext cx="29527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4127"/>
                </a:solidFill>
                <a:latin typeface="WenQuanYi Micro Hei"/>
                <a:ea typeface="WenQuanYi Micro Hei"/>
              </a:rPr>
              <a:t>课程完成率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2686050"/>
            <a:ext cx="295275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DD8A30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1975" y="2133600"/>
            <a:ext cx="3448050" cy="1162050"/>
          </a:xfrm>
          <a:prstGeom prst="rect">
            <a:avLst/>
          </a:prstGeom>
          <a:solidFill>
            <a:srgbClr val="FFF5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0100" y="2314575"/>
            <a:ext cx="29527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4127"/>
                </a:solidFill>
                <a:latin typeface="WenQuanYi Micro Hei"/>
                <a:ea typeface="WenQuanYi Micro Hei"/>
              </a:rPr>
              <a:t>能力达成度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2686050"/>
            <a:ext cx="295275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DD8A30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58150" y="2133600"/>
            <a:ext cx="3448050" cy="1162050"/>
          </a:xfrm>
          <a:prstGeom prst="rect">
            <a:avLst/>
          </a:prstGeom>
          <a:solidFill>
            <a:srgbClr val="FFF5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6274" y="2314575"/>
            <a:ext cx="29527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4127"/>
                </a:solidFill>
                <a:latin typeface="WenQuanYi Micro Hei"/>
                <a:ea typeface="WenQuanYi Micro Hei"/>
              </a:rPr>
              <a:t>学习参与度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6274" y="2686050"/>
            <a:ext cx="295275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DD8A30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3638550"/>
            <a:ext cx="5334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94127"/>
                </a:solidFill>
                <a:latin typeface="WenQuanYi Micro Hei"/>
                <a:ea typeface="WenQuanYi Micro Hei"/>
              </a:rPr>
              <a:t>趋势示意 · 请替换为真实数据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2950" y="5581650"/>
            <a:ext cx="5000625" cy="0"/>
          </a:xfrm>
          <a:prstGeom prst="line">
            <a:avLst/>
          </a:prstGeom>
          <a:ln w="9525">
            <a:solidFill>
              <a:srgbClr val="594127"/>
            </a:solidFill>
          </a:ln>
          <a:effectLst/>
        </p:spPr>
      </p:cxnSp>
      <p:sp>
        <p:nvSpPr>
          <p:cNvPr id="18" name="Rectangle 17"/>
          <p:cNvSpPr/>
          <p:nvPr/>
        </p:nvSpPr>
        <p:spPr>
          <a:xfrm>
            <a:off x="952500" y="5029200"/>
            <a:ext cx="504825" cy="552450"/>
          </a:xfrm>
          <a:prstGeom prst="rect">
            <a:avLst/>
          </a:prstGeom>
          <a:solidFill>
            <a:srgbClr val="FFF5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85950" y="4743450"/>
            <a:ext cx="504825" cy="838200"/>
          </a:xfrm>
          <a:prstGeom prst="rect">
            <a:avLst/>
          </a:prstGeom>
          <a:solidFill>
            <a:srgbClr val="FFF5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4867275"/>
            <a:ext cx="504825" cy="714375"/>
          </a:xfrm>
          <a:prstGeom prst="rect">
            <a:avLst/>
          </a:prstGeom>
          <a:solidFill>
            <a:srgbClr val="FFF5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52850" y="4400550"/>
            <a:ext cx="504825" cy="1181100"/>
          </a:xfrm>
          <a:prstGeom prst="rect">
            <a:avLst/>
          </a:prstGeom>
          <a:solidFill>
            <a:srgbClr val="FFF5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86300" y="4162424"/>
            <a:ext cx="504825" cy="1419225"/>
          </a:xfrm>
          <a:prstGeom prst="rect">
            <a:avLst/>
          </a:prstGeom>
          <a:solidFill>
            <a:srgbClr val="DD8A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2225" y="3800475"/>
            <a:ext cx="4981575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4127"/>
                </a:solidFill>
                <a:latin typeface="WenQuanYi Micro Hei"/>
                <a:ea typeface="WenQuanYi Micro Hei"/>
              </a:rPr>
              <a:t>01  学习目标：补充关键观察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2225" y="4410075"/>
            <a:ext cx="4981575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4127"/>
                </a:solidFill>
                <a:latin typeface="WenQuanYi Micro Hei"/>
                <a:ea typeface="WenQuanYi Micro Hei"/>
              </a:rPr>
              <a:t>02  课程内容：补充关键观察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2225" y="5019675"/>
            <a:ext cx="4981575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4127"/>
                </a:solidFill>
                <a:latin typeface="WenQuanYi Micro Hei"/>
                <a:ea typeface="WenQuanYi Micro Hei"/>
              </a:rPr>
              <a:t>03  实践评价：补充关键观察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FF5E5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4127"/>
                </a:solidFill>
                <a:latin typeface="WenQuanYi Micro Hei"/>
                <a:ea typeface="WenQuanYi Micro Hei"/>
              </a:rPr>
              <a:t>OPEN OFFICE  /  教育培训·教学成果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4127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43975" y="-933449"/>
            <a:ext cx="4162424" cy="4162424"/>
          </a:xfrm>
          <a:prstGeom prst="ellipse">
            <a:avLst/>
          </a:prstGeom>
          <a:solidFill>
            <a:srgbClr val="FFF5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4686300"/>
            <a:ext cx="4048124" cy="4048124"/>
          </a:xfrm>
          <a:prstGeom prst="ellipse">
            <a:avLst/>
          </a:prstGeom>
          <a:solidFill>
            <a:srgbClr val="FFF5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33600"/>
            <a:ext cx="9906000" cy="13925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707"/>
              </a:lnSpc>
              <a:spcBef>
                <a:spcPts val="0"/>
              </a:spcBef>
              <a:spcAft>
                <a:spcPts val="0"/>
              </a:spcAft>
            </a:pPr>
            <a:r>
              <a:rPr sz="6450" b="1">
                <a:solidFill>
                  <a:srgbClr val="594127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3438525"/>
            <a:ext cx="762000" cy="57150"/>
          </a:xfrm>
          <a:prstGeom prst="rect">
            <a:avLst/>
          </a:prstGeom>
          <a:solidFill>
            <a:srgbClr val="DD8A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981450"/>
            <a:ext cx="9906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594127"/>
                </a:solidFill>
                <a:latin typeface="WenQuanYi Micro Hei"/>
                <a:ea typeface="WenQuanYi Micro Hei"/>
              </a:rPr>
              <a:t>让每一个好奇心都有方向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324475"/>
            <a:ext cx="9906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DD8A30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教育培训·教学成果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