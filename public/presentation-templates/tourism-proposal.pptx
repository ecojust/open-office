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05775" y="0"/>
            <a:ext cx="4086225" cy="6858000"/>
          </a:xfrm>
          <a:prstGeom prst="rect">
            <a:avLst/>
          </a:prstGeom>
          <a:solidFill>
            <a:srgbClr val="284A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6249" y="0"/>
            <a:ext cx="123824" cy="6858000"/>
          </a:xfrm>
          <a:prstGeom prst="rect">
            <a:avLst/>
          </a:prstGeom>
          <a:solidFill>
            <a:srgbClr val="3D95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88549" y="2270569"/>
            <a:ext cx="621030" cy="621030"/>
          </a:xfrm>
          <a:prstGeom prst="ellipse">
            <a:avLst/>
          </a:prstGeom>
          <a:solidFill>
            <a:srgbClr val="EBF8F5"/>
          </a:solidFill>
          <a:ln w="19050">
            <a:solidFill>
              <a:srgbClr val="3D95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8687562" y="2736342"/>
            <a:ext cx="807339" cy="1366266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9494901" y="2736342"/>
            <a:ext cx="838390" cy="1366266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 flipV="1">
            <a:off x="9836467" y="3077908"/>
            <a:ext cx="745236" cy="1024700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0581703" y="3077908"/>
            <a:ext cx="652082" cy="1024700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8935974" y="4382071"/>
            <a:ext cx="2111501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8935974" y="4552854"/>
            <a:ext cx="2111501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935974" y="4723638"/>
            <a:ext cx="2111501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685800" y="1619250"/>
            <a:ext cx="7048500" cy="1644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284A56"/>
                </a:solidFill>
                <a:latin typeface="WenQuanYi Micro Hei"/>
                <a:ea typeface="WenQuanYi Micro Hei"/>
              </a:rPr>
              <a:t>文旅酒店</a:t>
            </a:r>
          </a:p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284A56"/>
                </a:solidFill>
                <a:latin typeface="WenQuanYi Micro Hei"/>
                <a:ea typeface="WenQuanYi Micro Hei"/>
              </a:rPr>
              <a:t>旅行推介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3476625"/>
            <a:ext cx="695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284A56"/>
                </a:solidFill>
                <a:latin typeface="WenQuanYi Micro Hei"/>
                <a:ea typeface="WenQuanYi Micro Hei"/>
              </a:rPr>
              <a:t>从一段故事开始旅行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5353050"/>
            <a:ext cx="6667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84A56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D959C"/>
                </a:solidFill>
                <a:latin typeface="WenQuanYi Micro Hei"/>
                <a:ea typeface="WenQuanYi Micro Hei"/>
              </a:rPr>
              <a:t>OPEN OFFICE  /  产品与服务提案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3D95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84A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84A56"/>
                </a:solidFill>
                <a:latin typeface="WenQuanYi Micro Hei"/>
                <a:ea typeface="WenQuanYi Micro Hei"/>
              </a:rPr>
              <a:t>文旅酒店 / 价值与方案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从一段故事开始旅行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28850"/>
            <a:ext cx="3867150" cy="3476625"/>
          </a:xfrm>
          <a:prstGeom prst="rect">
            <a:avLst/>
          </a:prstGeom>
          <a:solidFill>
            <a:srgbClr val="EBF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001327" y="2896076"/>
            <a:ext cx="542925" cy="5429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95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1426845" y="3303270"/>
            <a:ext cx="705802" cy="1194435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2132647" y="3303270"/>
            <a:ext cx="732949" cy="1194435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V="1">
            <a:off x="2431256" y="3601878"/>
            <a:ext cx="651510" cy="895827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3082766" y="3601878"/>
            <a:ext cx="570071" cy="895827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644015" y="4742021"/>
            <a:ext cx="1845945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644015" y="4891325"/>
            <a:ext cx="1845945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644015" y="5040630"/>
            <a:ext cx="1845945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000625" y="2276475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284A56"/>
                </a:solidFill>
                <a:latin typeface="WenQuanYi Micro Hei"/>
                <a:ea typeface="WenQuanYi Micro Hei"/>
              </a:rPr>
              <a:t>目的地故事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9675" y="2752725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发掘地方文化与自然特色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00625" y="3190875"/>
            <a:ext cx="6505575" cy="0"/>
          </a:xfrm>
          <a:prstGeom prst="line">
            <a:avLst/>
          </a:prstGeom>
          <a:ln w="9525">
            <a:solidFill>
              <a:srgbClr val="3D959C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5000625" y="3409950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284A56"/>
                </a:solidFill>
                <a:latin typeface="WenQuanYi Micro Hei"/>
                <a:ea typeface="WenQuanYi Micro Hei"/>
              </a:rPr>
              <a:t>体验设计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9675" y="3886200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组织路线与核心体验内容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00625" y="4324350"/>
            <a:ext cx="6505575" cy="0"/>
          </a:xfrm>
          <a:prstGeom prst="line">
            <a:avLst/>
          </a:prstGeom>
          <a:ln w="9525">
            <a:solidFill>
              <a:srgbClr val="3D959C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5000625" y="4543425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284A56"/>
                </a:solidFill>
                <a:latin typeface="WenQuanYi Micro Hei"/>
                <a:ea typeface="WenQuanYi Micro Hei"/>
              </a:rPr>
              <a:t>服务保障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9675" y="5019675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说明接待能力与服务标准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BF8F5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84A56"/>
                </a:solidFill>
                <a:latin typeface="WenQuanYi Micro Hei"/>
                <a:ea typeface="WenQuanYi Micro Hei"/>
              </a:rPr>
              <a:t>OPEN OFFICE  /  文旅酒店·旅行推介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84A56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" y="714375"/>
            <a:ext cx="10744200" cy="5429250"/>
          </a:xfrm>
          <a:prstGeom prst="rect">
            <a:avLst/>
          </a:prstGeom>
          <a:noFill/>
          <a:ln w="19050">
            <a:solidFill>
              <a:srgbClr val="3D95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57850" y="1685925"/>
            <a:ext cx="876300" cy="66675"/>
          </a:xfrm>
          <a:prstGeom prst="rect">
            <a:avLst/>
          </a:prstGeom>
          <a:solidFill>
            <a:srgbClr val="3D95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33500" y="2619375"/>
            <a:ext cx="9525000" cy="13601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505"/>
              </a:lnSpc>
              <a:spcBef>
                <a:spcPts val="0"/>
              </a:spcBef>
              <a:spcAft>
                <a:spcPts val="0"/>
              </a:spcAft>
            </a:pPr>
            <a:r>
              <a:rPr sz="6300" b="0">
                <a:solidFill>
                  <a:srgbClr val="284A56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905249"/>
            <a:ext cx="9525000" cy="4210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284A56"/>
                </a:solidFill>
                <a:latin typeface="WenQuanYi Micro Hei"/>
                <a:ea typeface="WenQuanYi Micro Hei"/>
              </a:rPr>
              <a:t>下一段美好旅程，从这里出发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5114925"/>
            <a:ext cx="9525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959C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文旅酒店·旅行推介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