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867775" y="-685800"/>
            <a:ext cx="4095750" cy="4095750"/>
          </a:xfrm>
          <a:prstGeom prst="ellipse">
            <a:avLst/>
          </a:prstGeom>
          <a:solidFill>
            <a:srgbClr val="FFF5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14425" y="4410075"/>
            <a:ext cx="3381375" cy="3381375"/>
          </a:xfrm>
          <a:prstGeom prst="ellipse">
            <a:avLst/>
          </a:prstGeom>
          <a:solidFill>
            <a:srgbClr val="FFF5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67350" y="1023937"/>
            <a:ext cx="1262062" cy="1262062"/>
          </a:xfrm>
          <a:prstGeom prst="ellipse">
            <a:avLst/>
          </a:prstGeom>
          <a:solidFill>
            <a:srgbClr val="FFF5E9"/>
          </a:solidFill>
          <a:ln w="28575">
            <a:solidFill>
              <a:srgbClr val="BD703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657850" y="1214437"/>
            <a:ext cx="881062" cy="881062"/>
          </a:xfrm>
          <a:prstGeom prst="ellipse">
            <a:avLst/>
          </a:prstGeom>
          <a:noFill/>
          <a:ln w="19050">
            <a:solidFill>
              <a:srgbClr val="BD703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181600" y="976312"/>
            <a:ext cx="0" cy="1547813"/>
          </a:xfrm>
          <a:prstGeom prst="line">
            <a:avLst/>
          </a:prstGeom>
          <a:ln w="38100">
            <a:solidFill>
              <a:srgbClr val="BD703B"/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5062537" y="857250"/>
            <a:ext cx="0" cy="595312"/>
          </a:xfrm>
          <a:prstGeom prst="line">
            <a:avLst/>
          </a:prstGeom>
          <a:ln w="19050">
            <a:solidFill>
              <a:srgbClr val="BD703B"/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>
            <a:off x="5181600" y="857250"/>
            <a:ext cx="0" cy="595312"/>
          </a:xfrm>
          <a:prstGeom prst="line">
            <a:avLst/>
          </a:prstGeom>
          <a:ln w="19050">
            <a:solidFill>
              <a:srgbClr val="BD703B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>
            <a:off x="5300662" y="857250"/>
            <a:ext cx="0" cy="595312"/>
          </a:xfrm>
          <a:prstGeom prst="line">
            <a:avLst/>
          </a:prstGeom>
          <a:ln w="19050">
            <a:solidFill>
              <a:srgbClr val="BD703B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>
            <a:off x="5062537" y="1452562"/>
            <a:ext cx="238125" cy="0"/>
          </a:xfrm>
          <a:prstGeom prst="line">
            <a:avLst/>
          </a:prstGeom>
          <a:ln w="19050">
            <a:solidFill>
              <a:srgbClr val="BD703B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>
            <a:off x="6991350" y="904875"/>
            <a:ext cx="0" cy="1619250"/>
          </a:xfrm>
          <a:prstGeom prst="line">
            <a:avLst/>
          </a:prstGeom>
          <a:ln w="38100">
            <a:solidFill>
              <a:srgbClr val="BD703B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6848475" y="904875"/>
            <a:ext cx="0" cy="762000"/>
          </a:xfrm>
          <a:prstGeom prst="line">
            <a:avLst/>
          </a:prstGeom>
          <a:ln w="19050">
            <a:solidFill>
              <a:srgbClr val="BD703B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6848475" y="1666875"/>
            <a:ext cx="142875" cy="0"/>
          </a:xfrm>
          <a:prstGeom prst="line">
            <a:avLst/>
          </a:prstGeom>
          <a:ln w="19050">
            <a:solidFill>
              <a:srgbClr val="BD703B"/>
            </a:solidFill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1143000" y="3095625"/>
            <a:ext cx="9906000" cy="85820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366"/>
              </a:lnSpc>
              <a:spcBef>
                <a:spcPts val="0"/>
              </a:spcBef>
              <a:spcAft>
                <a:spcPts val="0"/>
              </a:spcAft>
            </a:pPr>
            <a:r>
              <a:rPr sz="3975" b="1">
                <a:solidFill>
                  <a:srgbClr val="573F2C"/>
                </a:solidFill>
                <a:latin typeface="WenQuanYi Micro Hei"/>
                <a:ea typeface="WenQuanYi Micro Hei"/>
              </a:rPr>
              <a:t>餐饮服务·经营周报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038600"/>
            <a:ext cx="990600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0">
                <a:solidFill>
                  <a:srgbClr val="573F2C"/>
                </a:solidFill>
                <a:latin typeface="WenQuanYi Micro Hei"/>
                <a:ea typeface="WenQuanYi Micro Hei"/>
              </a:rPr>
              <a:t>以经营细节改善门店表现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29275" y="4791075"/>
            <a:ext cx="933449" cy="47625"/>
          </a:xfrm>
          <a:prstGeom prst="rect">
            <a:avLst/>
          </a:prstGeom>
          <a:solidFill>
            <a:srgbClr val="BD70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5448300"/>
            <a:ext cx="9906000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73F2C"/>
                </a:solidFill>
                <a:latin typeface="WenQuanYi Micro Hei"/>
                <a:ea typeface="WenQuanYi Micro Hei"/>
              </a:rPr>
              <a:t>汇报人：你的名字  /  日期：20XX.XX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3900" y="542925"/>
            <a:ext cx="9525000" cy="256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BD703B"/>
                </a:solidFill>
                <a:latin typeface="WenQuanYi Micro Hei"/>
                <a:ea typeface="WenQuanYi Micro Hei"/>
              </a:rPr>
              <a:t>OPEN OFFICE  /  数据与成果汇报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71500"/>
            <a:ext cx="361950" cy="66675"/>
          </a:xfrm>
          <a:prstGeom prst="rect">
            <a:avLst/>
          </a:prstGeom>
          <a:solidFill>
            <a:srgbClr val="BD70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5375" y="571500"/>
            <a:ext cx="114300" cy="66675"/>
          </a:xfrm>
          <a:prstGeom prst="rect">
            <a:avLst/>
          </a:prstGeom>
          <a:solidFill>
            <a:srgbClr val="573F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876300"/>
            <a:ext cx="10820400" cy="6962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53"/>
              </a:lnSpc>
              <a:spcBef>
                <a:spcPts val="0"/>
              </a:spcBef>
              <a:spcAft>
                <a:spcPts val="0"/>
              </a:spcAft>
            </a:pPr>
            <a:r>
              <a:rPr sz="3225" b="1">
                <a:solidFill>
                  <a:srgbClr val="573F2C"/>
                </a:solidFill>
                <a:latin typeface="WenQuanYi Micro Hei"/>
                <a:ea typeface="WenQuanYi Micro Hei"/>
              </a:rPr>
              <a:t>餐饮服务 / 关键成果与观察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375" y="1495425"/>
            <a:ext cx="10668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573F2C"/>
                </a:solidFill>
                <a:latin typeface="WenQuanYi Micro Hei"/>
                <a:ea typeface="WenQuanYi Micro Hei"/>
              </a:rPr>
              <a:t>以经营细节改善门店表现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238375"/>
            <a:ext cx="4057650" cy="3495675"/>
          </a:xfrm>
          <a:prstGeom prst="rect">
            <a:avLst/>
          </a:prstGeom>
          <a:solidFill>
            <a:srgbClr val="573F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550" y="2562225"/>
            <a:ext cx="348615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WenQuanYi Micro Hei"/>
                <a:ea typeface="WenQuanYi Micro Hei"/>
              </a:rPr>
              <a:t>本期成果摘要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075" y="3200400"/>
            <a:ext cx="3457575" cy="1259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05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FFF5E9"/>
                </a:solidFill>
                <a:latin typeface="WenQuanYi Micro Hei"/>
                <a:ea typeface="WenQuanYi Micro Hei"/>
              </a:rPr>
              <a:t>在这里填写核心结论</a:t>
            </a:r>
          </a:p>
          <a:p>
            <a:pPr algn="l">
              <a:lnSpc>
                <a:spcPts val="3105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FFF5E9"/>
                </a:solidFill>
                <a:latin typeface="WenQuanYi Micro Hei"/>
                <a:ea typeface="WenQuanYi Micro Hei"/>
              </a:rPr>
              <a:t>说明变化与关键原因</a:t>
            </a:r>
          </a:p>
          <a:p>
            <a:pPr algn="l">
              <a:lnSpc>
                <a:spcPts val="3105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FFF5E9"/>
                </a:solidFill>
                <a:latin typeface="WenQuanYi Micro Hei"/>
                <a:ea typeface="WenQuanYi Micro Hei"/>
              </a:rPr>
              <a:t>提出下一步改善动作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95875" y="2238375"/>
            <a:ext cx="6410325" cy="1047749"/>
          </a:xfrm>
          <a:prstGeom prst="rect">
            <a:avLst/>
          </a:prstGeom>
          <a:solidFill>
            <a:srgbClr val="FFF5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34000" y="2419350"/>
            <a:ext cx="3667125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573F2C"/>
                </a:solidFill>
                <a:latin typeface="WenQuanYi Micro Hei"/>
                <a:ea typeface="WenQuanYi Micro Hei"/>
              </a:rPr>
              <a:t>翻台表现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53050" y="2838450"/>
            <a:ext cx="3752850" cy="2947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21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573F2C"/>
                </a:solidFill>
                <a:latin typeface="WenQuanYi Micro Hei"/>
                <a:ea typeface="WenQuanYi Micro Hei"/>
              </a:rPr>
              <a:t>口径 / 周期 / 对比基准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8300" y="2495550"/>
            <a:ext cx="1962150" cy="5019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38"/>
              </a:lnSpc>
              <a:spcBef>
                <a:spcPts val="0"/>
              </a:spcBef>
              <a:spcAft>
                <a:spcPts val="0"/>
              </a:spcAft>
            </a:pPr>
            <a:r>
              <a:rPr sz="2325" b="1">
                <a:solidFill>
                  <a:srgbClr val="BD703B"/>
                </a:solidFill>
                <a:latin typeface="WenQuanYi Micro Hei"/>
                <a:ea typeface="WenQuanYi Micro Hei"/>
              </a:rPr>
              <a:t>待填写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95875" y="3448050"/>
            <a:ext cx="6410325" cy="1047749"/>
          </a:xfrm>
          <a:prstGeom prst="rect">
            <a:avLst/>
          </a:prstGeom>
          <a:solidFill>
            <a:srgbClr val="FFF5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34000" y="3629025"/>
            <a:ext cx="3667125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573F2C"/>
                </a:solidFill>
                <a:latin typeface="WenQuanYi Micro Hei"/>
                <a:ea typeface="WenQuanYi Micro Hei"/>
              </a:rPr>
              <a:t>出品稳定度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53050" y="4048124"/>
            <a:ext cx="3752850" cy="2947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21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573F2C"/>
                </a:solidFill>
                <a:latin typeface="WenQuanYi Micro Hei"/>
                <a:ea typeface="WenQuanYi Micro Hei"/>
              </a:rPr>
              <a:t>口径 / 周期 / 对比基准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8300" y="3705224"/>
            <a:ext cx="1962150" cy="5019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38"/>
              </a:lnSpc>
              <a:spcBef>
                <a:spcPts val="0"/>
              </a:spcBef>
              <a:spcAft>
                <a:spcPts val="0"/>
              </a:spcAft>
            </a:pPr>
            <a:r>
              <a:rPr sz="2325" b="1">
                <a:solidFill>
                  <a:srgbClr val="BD703B"/>
                </a:solidFill>
                <a:latin typeface="WenQuanYi Micro Hei"/>
                <a:ea typeface="WenQuanYi Micro Hei"/>
              </a:rPr>
              <a:t>待填写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95875" y="4657725"/>
            <a:ext cx="6410325" cy="1047749"/>
          </a:xfrm>
          <a:prstGeom prst="rect">
            <a:avLst/>
          </a:prstGeom>
          <a:solidFill>
            <a:srgbClr val="FFF5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34000" y="4838700"/>
            <a:ext cx="3667125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573F2C"/>
                </a:solidFill>
                <a:latin typeface="WenQuanYi Micro Hei"/>
                <a:ea typeface="WenQuanYi Micro Hei"/>
              </a:rPr>
              <a:t>顾客回访率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53050" y="5257800"/>
            <a:ext cx="3752850" cy="2947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21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573F2C"/>
                </a:solidFill>
                <a:latin typeface="WenQuanYi Micro Hei"/>
                <a:ea typeface="WenQuanYi Micro Hei"/>
              </a:rPr>
              <a:t>口径 / 周期 / 对比基准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58300" y="4914900"/>
            <a:ext cx="1962150" cy="5019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38"/>
              </a:lnSpc>
              <a:spcBef>
                <a:spcPts val="0"/>
              </a:spcBef>
              <a:spcAft>
                <a:spcPts val="0"/>
              </a:spcAft>
            </a:pPr>
            <a:r>
              <a:rPr sz="2325" b="1">
                <a:solidFill>
                  <a:srgbClr val="BD703B"/>
                </a:solidFill>
                <a:latin typeface="WenQuanYi Micro Hei"/>
                <a:ea typeface="WenQuanYi Micro Hei"/>
              </a:rPr>
              <a:t>待填写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85800" y="6200775"/>
            <a:ext cx="10820400" cy="0"/>
          </a:xfrm>
          <a:prstGeom prst="line">
            <a:avLst/>
          </a:prstGeom>
          <a:ln w="9525">
            <a:solidFill>
              <a:srgbClr val="FFF5E9"/>
            </a:solidFill>
          </a:ln>
          <a:effectLst/>
        </p:spPr>
      </p:cxnSp>
      <p:sp>
        <p:nvSpPr>
          <p:cNvPr id="23" name="TextBox 22"/>
          <p:cNvSpPr txBox="1"/>
          <p:nvPr/>
        </p:nvSpPr>
        <p:spPr>
          <a:xfrm>
            <a:off x="685800" y="6334125"/>
            <a:ext cx="762000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73F2C"/>
                </a:solidFill>
                <a:latin typeface="WenQuanYi Micro Hei"/>
                <a:ea typeface="WenQuanYi Micro Hei"/>
              </a:rPr>
              <a:t>OPEN OFFICE  /  餐饮服务·经营周报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39450" y="6334125"/>
            <a:ext cx="66675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73F2C"/>
                </a:solidFill>
                <a:latin typeface="WenQuanYi Micro Hei"/>
                <a:ea typeface="WenQuanYi Micro Hei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90949" cy="6858000"/>
          </a:xfrm>
          <a:prstGeom prst="rect">
            <a:avLst/>
          </a:prstGeom>
          <a:solidFill>
            <a:srgbClr val="573F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245870" y="2626042"/>
            <a:ext cx="1363027" cy="1363027"/>
          </a:xfrm>
          <a:prstGeom prst="ellipse">
            <a:avLst/>
          </a:prstGeom>
          <a:solidFill>
            <a:srgbClr val="FFF5E9"/>
          </a:solidFill>
          <a:ln w="28575">
            <a:solidFill>
              <a:srgbClr val="BD703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51610" y="2831782"/>
            <a:ext cx="951547" cy="951547"/>
          </a:xfrm>
          <a:prstGeom prst="ellipse">
            <a:avLst/>
          </a:prstGeom>
          <a:noFill/>
          <a:ln w="19050">
            <a:solidFill>
              <a:srgbClr val="BD703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937260" y="2574607"/>
            <a:ext cx="0" cy="1671638"/>
          </a:xfrm>
          <a:prstGeom prst="line">
            <a:avLst/>
          </a:prstGeom>
          <a:ln w="38100">
            <a:solidFill>
              <a:srgbClr val="BD703B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808672" y="2446020"/>
            <a:ext cx="0" cy="642937"/>
          </a:xfrm>
          <a:prstGeom prst="line">
            <a:avLst/>
          </a:prstGeom>
          <a:ln w="19050">
            <a:solidFill>
              <a:srgbClr val="BD703B"/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937260" y="2446020"/>
            <a:ext cx="0" cy="642937"/>
          </a:xfrm>
          <a:prstGeom prst="line">
            <a:avLst/>
          </a:prstGeom>
          <a:ln w="19050">
            <a:solidFill>
              <a:srgbClr val="BD703B"/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>
            <a:off x="1065847" y="2446020"/>
            <a:ext cx="0" cy="642937"/>
          </a:xfrm>
          <a:prstGeom prst="line">
            <a:avLst/>
          </a:prstGeom>
          <a:ln w="19050">
            <a:solidFill>
              <a:srgbClr val="BD703B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>
            <a:off x="808672" y="3088957"/>
            <a:ext cx="257175" cy="0"/>
          </a:xfrm>
          <a:prstGeom prst="line">
            <a:avLst/>
          </a:prstGeom>
          <a:ln w="19050">
            <a:solidFill>
              <a:srgbClr val="BD703B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>
            <a:off x="2891790" y="2497454"/>
            <a:ext cx="0" cy="1748791"/>
          </a:xfrm>
          <a:prstGeom prst="line">
            <a:avLst/>
          </a:prstGeom>
          <a:ln w="38100">
            <a:solidFill>
              <a:srgbClr val="BD703B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>
            <a:off x="2737485" y="2497454"/>
            <a:ext cx="0" cy="822961"/>
          </a:xfrm>
          <a:prstGeom prst="line">
            <a:avLst/>
          </a:prstGeom>
          <a:ln w="19050">
            <a:solidFill>
              <a:srgbClr val="BD703B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2737485" y="3320415"/>
            <a:ext cx="154305" cy="0"/>
          </a:xfrm>
          <a:prstGeom prst="line">
            <a:avLst/>
          </a:prstGeom>
          <a:ln w="19050">
            <a:solidFill>
              <a:srgbClr val="BD703B"/>
            </a:solidFill>
          </a:ln>
          <a:effectLst/>
        </p:spPr>
      </p:cxnSp>
      <p:sp>
        <p:nvSpPr>
          <p:cNvPr id="14" name="TextBox 13"/>
          <p:cNvSpPr txBox="1"/>
          <p:nvPr/>
        </p:nvSpPr>
        <p:spPr>
          <a:xfrm>
            <a:off x="4362450" y="2085975"/>
            <a:ext cx="7143750" cy="12630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897"/>
              </a:lnSpc>
              <a:spcBef>
                <a:spcPts val="0"/>
              </a:spcBef>
              <a:spcAft>
                <a:spcPts val="0"/>
              </a:spcAft>
            </a:pPr>
            <a:r>
              <a:rPr sz="5850" b="1">
                <a:solidFill>
                  <a:srgbClr val="573F2C"/>
                </a:solidFill>
                <a:latin typeface="WenQuanYi Micro Hei"/>
                <a:ea typeface="WenQuanYi Micro Hei"/>
              </a:rPr>
              <a:t>Open Office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0550" y="3381375"/>
            <a:ext cx="7105650" cy="47482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38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573F2C"/>
                </a:solidFill>
                <a:latin typeface="WenQuanYi Micro Hei"/>
                <a:ea typeface="WenQuanYi Micro Hei"/>
              </a:rPr>
              <a:t>把日常滋味，做成值得回来的理由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391025" y="4648200"/>
            <a:ext cx="6991350" cy="0"/>
          </a:xfrm>
          <a:prstGeom prst="line">
            <a:avLst/>
          </a:prstGeom>
          <a:ln w="19050">
            <a:solidFill>
              <a:srgbClr val="BD703B"/>
            </a:solidFill>
          </a:ln>
          <a:effectLst/>
        </p:spPr>
      </p:cxnSp>
      <p:sp>
        <p:nvSpPr>
          <p:cNvPr id="17" name="TextBox 16"/>
          <p:cNvSpPr txBox="1"/>
          <p:nvPr/>
        </p:nvSpPr>
        <p:spPr>
          <a:xfrm>
            <a:off x="4400550" y="5095875"/>
            <a:ext cx="695325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BD703B"/>
                </a:solidFill>
                <a:latin typeface="WenQuanYi Micro Hei"/>
                <a:ea typeface="WenQuanYi Micro Hei"/>
              </a:rPr>
              <a:t>谢谢观看  /  期待交流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n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pen Office">
      <a:maj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ajorFont>
      <a:min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Open Office</Application>
  <PresentationFormat>Widescreen</PresentationFormat>
  <Slides>3</Slides>
  <Notes>0</Notes>
  <HiddenSlides>0</HiddenSlides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餐饮服务·经营周报</dc:title>
  <dc:subject>Open Office 原创演示模板</dc:subject>
  <dc:creator>Open Office</dc:creator>
  <cp:keywords/>
  <dc:description>Original editable vector artwork; generated by generate-presentation-templates.py.</dc:description>
  <cp:lastModifiedBy>Open Office</cp:lastModifiedBy>
  <cp:revision>1</cp:revision>
  <dcterms:created xsi:type="dcterms:W3CDTF">2026-01-01T00:00:00Z</dcterms:created>
  <dcterms:modified xsi:type="dcterms:W3CDTF">2026-01-01T00:00:00Z</dcterms:modified>
  <cp:category/>
</cp:coreProperties>
</file>