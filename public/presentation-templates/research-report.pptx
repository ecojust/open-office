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科研创新·研究成果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303E61"/>
                </a:solidFill>
                <a:latin typeface="WenQuanYi Micro Hei"/>
                <a:ea typeface="WenQuanYi Micro Hei"/>
              </a:rPr>
              <a:t>以证据呈现新的发现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678A5"/>
                </a:solidFill>
                <a:latin typeface="WenQuanYi Micro Hei"/>
                <a:ea typeface="WenQuanYi Micro Hei"/>
              </a:rPr>
              <a:t>01  研究问题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678A5"/>
                </a:solidFill>
                <a:latin typeface="WenQuanYi Micro Hei"/>
                <a:ea typeface="WenQuanYi Micro Hei"/>
              </a:rPr>
              <a:t>02  方法设计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678A5"/>
                </a:solidFill>
                <a:latin typeface="WenQuanYi Micro Hei"/>
                <a:ea typeface="WenQuanYi Micro Hei"/>
              </a:rPr>
              <a:t>03  证据结论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20987" y="3203829"/>
            <a:ext cx="721518" cy="288607"/>
          </a:xfrm>
          <a:prstGeom prst="rect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9536430" y="3492436"/>
            <a:ext cx="0" cy="75038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0027062" y="3492436"/>
            <a:ext cx="0" cy="75038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H="1">
            <a:off x="8959215" y="4242816"/>
            <a:ext cx="577215" cy="1038987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027062" y="4242816"/>
            <a:ext cx="663798" cy="1038987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8959215" y="5281803"/>
            <a:ext cx="1731645" cy="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9536430" y="4675727"/>
            <a:ext cx="230886" cy="230886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40480" y="4877752"/>
            <a:ext cx="230886" cy="230886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402252" y="3492436"/>
            <a:ext cx="230886" cy="230886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72632" y="3809904"/>
            <a:ext cx="230886" cy="230886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247822" y="4935474"/>
            <a:ext cx="115443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21" name="TextBox 20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03E61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6678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03E61"/>
                </a:solidFill>
                <a:latin typeface="WenQuanYi Micro Hei"/>
                <a:ea typeface="WenQuanYi Micro Hei"/>
              </a:rPr>
              <a:t>科研创新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03E61"/>
                </a:solidFill>
                <a:latin typeface="WenQuanYi Micro Hei"/>
                <a:ea typeface="WenQuanYi Micro Hei"/>
              </a:rPr>
              <a:t>以证据呈现新的发现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FF1F8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FF1F8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FF1F8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03E61"/>
                </a:solidFill>
                <a:latin typeface="WenQuanYi Micro Hei"/>
                <a:ea typeface="WenQuanYi Micro Hei"/>
              </a:rPr>
              <a:t>样本覆盖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03E61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6678A5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03E61"/>
                </a:solidFill>
                <a:latin typeface="WenQuanYi Micro Hei"/>
                <a:ea typeface="WenQuanYi Micro Hei"/>
              </a:rPr>
              <a:t>实验完成度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03E61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6678A5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EFF1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303E61"/>
                </a:solidFill>
                <a:latin typeface="WenQuanYi Micro Hei"/>
                <a:ea typeface="WenQuanYi Micro Hei"/>
              </a:rPr>
              <a:t>结果一致性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303E61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6678A5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FF1F8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OPEN OFFICE  /  科研创新·研究成果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03E61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76775"/>
            <a:ext cx="12192000" cy="2181225"/>
          </a:xfrm>
          <a:prstGeom prst="rect">
            <a:avLst/>
          </a:prstGeom>
          <a:solidFill>
            <a:srgbClr val="303E6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02630" y="699135"/>
            <a:ext cx="523874" cy="209550"/>
          </a:xfrm>
          <a:prstGeom prst="rect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886450" y="908685"/>
            <a:ext cx="0" cy="54483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6242685" y="908685"/>
            <a:ext cx="0" cy="54483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H="1">
            <a:off x="5467350" y="1453515"/>
            <a:ext cx="419100" cy="75438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6242685" y="1453515"/>
            <a:ext cx="481965" cy="75438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5467350" y="2207895"/>
            <a:ext cx="1257300" cy="0"/>
          </a:xfrm>
          <a:prstGeom prst="line">
            <a:avLst/>
          </a:prstGeom>
          <a:ln w="28575">
            <a:solidFill>
              <a:srgbClr val="6678A5"/>
            </a:solidFill>
          </a:ln>
          <a:effectLst/>
        </p:spPr>
      </p:cxnSp>
      <p:sp>
        <p:nvSpPr>
          <p:cNvPr id="10" name="Oval 9"/>
          <p:cNvSpPr/>
          <p:nvPr/>
        </p:nvSpPr>
        <p:spPr>
          <a:xfrm>
            <a:off x="5886450" y="1767840"/>
            <a:ext cx="167640" cy="16764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79820" y="1914525"/>
            <a:ext cx="167640" cy="16764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15100" y="908685"/>
            <a:ext cx="167640" cy="16764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04485" y="1139190"/>
            <a:ext cx="167640" cy="167640"/>
          </a:xfrm>
          <a:prstGeom prst="ellipse">
            <a:avLst/>
          </a:prstGeom>
          <a:solidFill>
            <a:srgbClr val="EFF1F8"/>
          </a:solidFill>
          <a:ln w="19050">
            <a:solidFill>
              <a:srgbClr val="6678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676900" y="1956435"/>
            <a:ext cx="838200" cy="0"/>
          </a:xfrm>
          <a:prstGeom prst="line">
            <a:avLst/>
          </a:prstGeom>
          <a:ln w="19050">
            <a:solidFill>
              <a:srgbClr val="6678A5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1143000" y="2714625"/>
            <a:ext cx="9906000" cy="13439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403"/>
              </a:lnSpc>
              <a:spcBef>
                <a:spcPts val="0"/>
              </a:spcBef>
              <a:spcAft>
                <a:spcPts val="0"/>
              </a:spcAft>
            </a:pPr>
            <a:r>
              <a:rPr sz="6225" b="1">
                <a:solidFill>
                  <a:srgbClr val="303E61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14775"/>
            <a:ext cx="990600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6678A5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381625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FFFFF"/>
                </a:solidFill>
                <a:latin typeface="WenQuanYi Micro Hei"/>
                <a:ea typeface="WenQuanYi Micro Hei"/>
              </a:rPr>
              <a:t>保持好奇，以证据拓展认知边界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科研创新·研究成果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