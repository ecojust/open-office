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72450" y="962024"/>
            <a:ext cx="3333750" cy="4476750"/>
          </a:xfrm>
          <a:prstGeom prst="rect">
            <a:avLst/>
          </a:prstGeom>
          <a:solidFill>
            <a:srgbClr val="DD8A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20100" y="1209675"/>
            <a:ext cx="2838450" cy="3981450"/>
          </a:xfrm>
          <a:prstGeom prst="rect">
            <a:avLst/>
          </a:prstGeom>
          <a:solidFill>
            <a:srgbClr val="FFF5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791956" y="2398966"/>
            <a:ext cx="976979" cy="1477994"/>
          </a:xfrm>
          <a:prstGeom prst="rect">
            <a:avLst/>
          </a:prstGeom>
          <a:solidFill>
            <a:srgbClr val="FFFFFF"/>
          </a:solidFill>
          <a:ln w="19050">
            <a:solidFill>
              <a:srgbClr val="DD8A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894189" y="2398966"/>
            <a:ext cx="976979" cy="1477994"/>
          </a:xfrm>
          <a:prstGeom prst="rect">
            <a:avLst/>
          </a:prstGeom>
          <a:solidFill>
            <a:srgbClr val="FFFFFF"/>
          </a:solidFill>
          <a:ln w="19050">
            <a:solidFill>
              <a:srgbClr val="DD8A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9831562" y="2348865"/>
            <a:ext cx="0" cy="1628298"/>
          </a:xfrm>
          <a:prstGeom prst="line">
            <a:avLst/>
          </a:prstGeom>
          <a:ln w="28575">
            <a:solidFill>
              <a:srgbClr val="594127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8967311" y="2724626"/>
            <a:ext cx="601218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10094595" y="2724626"/>
            <a:ext cx="576167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8967311" y="2962608"/>
            <a:ext cx="601218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10094595" y="2962608"/>
            <a:ext cx="576167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8967311" y="3200590"/>
            <a:ext cx="601218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10094595" y="3200590"/>
            <a:ext cx="576167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8967311" y="3438572"/>
            <a:ext cx="601218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10094595" y="3438572"/>
            <a:ext cx="576167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sp>
        <p:nvSpPr>
          <p:cNvPr id="16" name="Oval 15"/>
          <p:cNvSpPr/>
          <p:nvPr/>
        </p:nvSpPr>
        <p:spPr>
          <a:xfrm>
            <a:off x="10320051" y="1998154"/>
            <a:ext cx="325659" cy="325659"/>
          </a:xfrm>
          <a:prstGeom prst="ellipse">
            <a:avLst/>
          </a:prstGeom>
          <a:solidFill>
            <a:srgbClr val="DD8A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85800" y="1333500"/>
            <a:ext cx="6838949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685800" y="1809750"/>
            <a:ext cx="7048500" cy="15935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973"/>
              </a:lnSpc>
              <a:spcBef>
                <a:spcPts val="0"/>
              </a:spcBef>
              <a:spcAft>
                <a:spcPts val="0"/>
              </a:spcAft>
            </a:pPr>
            <a:r>
              <a:rPr sz="4425" b="0">
                <a:solidFill>
                  <a:srgbClr val="594127"/>
                </a:solidFill>
                <a:latin typeface="WenQuanYi Micro Hei"/>
                <a:ea typeface="WenQuanYi Micro Hei"/>
              </a:rPr>
              <a:t>教育培训</a:t>
            </a:r>
          </a:p>
          <a:p>
            <a:pPr algn="l">
              <a:lnSpc>
                <a:spcPts val="5973"/>
              </a:lnSpc>
              <a:spcBef>
                <a:spcPts val="0"/>
              </a:spcBef>
              <a:spcAft>
                <a:spcPts val="0"/>
              </a:spcAft>
            </a:pPr>
            <a:r>
              <a:rPr sz="4425" b="0">
                <a:solidFill>
                  <a:srgbClr val="594127"/>
                </a:solidFill>
                <a:latin typeface="WenQuanYi Micro Hei"/>
                <a:ea typeface="WenQuanYi Micro Hei"/>
              </a:rPr>
              <a:t>课程规划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375" y="3705224"/>
            <a:ext cx="704850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94127"/>
                </a:solidFill>
                <a:latin typeface="WenQuanYi Micro Hei"/>
                <a:ea typeface="WenQuanYi Micro Hei"/>
              </a:rPr>
              <a:t>为每一段成长设计路径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4591050"/>
            <a:ext cx="6838949" cy="0"/>
          </a:xfrm>
          <a:prstGeom prst="line">
            <a:avLst/>
          </a:prstGeom>
          <a:ln w="9525">
            <a:solidFill>
              <a:srgbClr val="DD8A30"/>
            </a:solidFill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714375" y="5219700"/>
            <a:ext cx="70485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94127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900" y="5429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DD8A30"/>
                </a:solidFill>
                <a:latin typeface="WenQuanYi Micro Hei"/>
                <a:ea typeface="WenQuanYi Micro Hei"/>
              </a:rPr>
              <a:t>OPEN OFFICE  /  战略规划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DD8A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5941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594127"/>
                </a:solidFill>
                <a:latin typeface="WenQuanYi Micro Hei"/>
                <a:ea typeface="WenQuanYi Micro Hei"/>
              </a:rPr>
              <a:t>教育培训 / 从方向到行动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4127"/>
                </a:solidFill>
                <a:latin typeface="WenQuanYi Micro Hei"/>
                <a:ea typeface="WenQuanYi Micro Hei"/>
              </a:rPr>
              <a:t>为每一段成长设计路径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219325"/>
            <a:ext cx="3143250" cy="3362325"/>
          </a:xfrm>
          <a:prstGeom prst="rect">
            <a:avLst/>
          </a:prstGeom>
          <a:solidFill>
            <a:srgbClr val="5941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2500" y="2543175"/>
            <a:ext cx="260985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FFFFFF"/>
                </a:solidFill>
                <a:latin typeface="WenQuanYi Micro Hei"/>
                <a:ea typeface="WenQuanYi Micro Hei"/>
              </a:rPr>
              <a:t>共同目标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3190875"/>
            <a:ext cx="2609850" cy="1259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FFF5E5"/>
                </a:solidFill>
                <a:latin typeface="WenQuanYi Micro Hei"/>
                <a:ea typeface="WenQuanYi Micro Hei"/>
              </a:rPr>
              <a:t>明确目标人群</a:t>
            </a:r>
          </a:p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FFF5E5"/>
                </a:solidFill>
                <a:latin typeface="WenQuanYi Micro Hei"/>
                <a:ea typeface="WenQuanYi Micro Hei"/>
              </a:rPr>
              <a:t>定义成功标准</a:t>
            </a:r>
          </a:p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FFF5E5"/>
                </a:solidFill>
                <a:latin typeface="WenQuanYi Micro Hei"/>
                <a:ea typeface="WenQuanYi Micro Hei"/>
              </a:rPr>
              <a:t>聚焦优先行动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90999" y="2257425"/>
            <a:ext cx="7315200" cy="942975"/>
          </a:xfrm>
          <a:prstGeom prst="rect">
            <a:avLst/>
          </a:prstGeom>
          <a:solidFill>
            <a:srgbClr val="FFF5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9600" y="2409825"/>
            <a:ext cx="76200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DD8A30"/>
                </a:solidFill>
                <a:latin typeface="WenQuanYi Micro Hei"/>
                <a:ea typeface="WenQuanYi Micro 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48275" y="2381250"/>
            <a:ext cx="5810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594127"/>
                </a:solidFill>
                <a:latin typeface="WenQuanYi Micro Hei"/>
                <a:ea typeface="WenQuanYi Micro Hei"/>
              </a:rPr>
              <a:t>学习目标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48275" y="2762250"/>
            <a:ext cx="58102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4127"/>
                </a:solidFill>
                <a:latin typeface="WenQuanYi Micro Hei"/>
                <a:ea typeface="WenQuanYi Micro Hei"/>
              </a:rPr>
              <a:t>定义学习者应掌握的能力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90999" y="3371850"/>
            <a:ext cx="7315200" cy="942975"/>
          </a:xfrm>
          <a:prstGeom prst="rect">
            <a:avLst/>
          </a:prstGeom>
          <a:solidFill>
            <a:srgbClr val="FFF5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3524250"/>
            <a:ext cx="76200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DD8A30"/>
                </a:solidFill>
                <a:latin typeface="WenQuanYi Micro Hei"/>
                <a:ea typeface="WenQuanYi Micro 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48275" y="3495675"/>
            <a:ext cx="5810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594127"/>
                </a:solidFill>
                <a:latin typeface="WenQuanYi Micro Hei"/>
                <a:ea typeface="WenQuanYi Micro Hei"/>
              </a:rPr>
              <a:t>课程内容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8275" y="3876674"/>
            <a:ext cx="58102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4127"/>
                </a:solidFill>
                <a:latin typeface="WenQuanYi Micro Hei"/>
                <a:ea typeface="WenQuanYi Micro Hei"/>
              </a:rPr>
              <a:t>组织知识模块与实践任务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90999" y="4486275"/>
            <a:ext cx="7315200" cy="942975"/>
          </a:xfrm>
          <a:prstGeom prst="rect">
            <a:avLst/>
          </a:prstGeom>
          <a:solidFill>
            <a:srgbClr val="FFF5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19600" y="4638675"/>
            <a:ext cx="76200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DD8A30"/>
                </a:solidFill>
                <a:latin typeface="WenQuanYi Micro Hei"/>
                <a:ea typeface="WenQuanYi Micro 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8275" y="4610100"/>
            <a:ext cx="5810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594127"/>
                </a:solidFill>
                <a:latin typeface="WenQuanYi Micro Hei"/>
                <a:ea typeface="WenQuanYi Micro Hei"/>
              </a:rPr>
              <a:t>实践评价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48275" y="4991100"/>
            <a:ext cx="58102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4127"/>
                </a:solidFill>
                <a:latin typeface="WenQuanYi Micro Hei"/>
                <a:ea typeface="WenQuanYi Micro Hei"/>
              </a:rPr>
              <a:t>通过作品与反馈检验成长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FFF5E5"/>
            </a:solidFill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4127"/>
                </a:solidFill>
                <a:latin typeface="WenQuanYi Micro Hei"/>
                <a:ea typeface="WenQuanYi Micro Hei"/>
              </a:rPr>
              <a:t>OPEN OFFICE  /  教育培训·课程规划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4127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76775"/>
            <a:ext cx="12192000" cy="2181225"/>
          </a:xfrm>
          <a:prstGeom prst="rect">
            <a:avLst/>
          </a:prstGeom>
          <a:solidFill>
            <a:srgbClr val="5941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15890" y="908685"/>
            <a:ext cx="817244" cy="1236344"/>
          </a:xfrm>
          <a:prstGeom prst="rect">
            <a:avLst/>
          </a:prstGeom>
          <a:solidFill>
            <a:srgbClr val="FFF5E5"/>
          </a:solidFill>
          <a:ln w="19050">
            <a:solidFill>
              <a:srgbClr val="DD8A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37909" y="908685"/>
            <a:ext cx="817244" cy="1236344"/>
          </a:xfrm>
          <a:prstGeom prst="rect">
            <a:avLst/>
          </a:prstGeom>
          <a:solidFill>
            <a:srgbClr val="FFF5E5"/>
          </a:solidFill>
          <a:ln w="19050">
            <a:solidFill>
              <a:srgbClr val="DD8A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6085522" y="866775"/>
            <a:ext cx="0" cy="1362075"/>
          </a:xfrm>
          <a:prstGeom prst="line">
            <a:avLst/>
          </a:prstGeom>
          <a:ln w="28575">
            <a:solidFill>
              <a:srgbClr val="594127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5362575" y="1181100"/>
            <a:ext cx="502920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6305550" y="1181100"/>
            <a:ext cx="481965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5362575" y="1380172"/>
            <a:ext cx="502920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6305550" y="1380172"/>
            <a:ext cx="481965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5362575" y="1579245"/>
            <a:ext cx="502920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6305550" y="1579245"/>
            <a:ext cx="481965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5362575" y="1778317"/>
            <a:ext cx="502920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6305550" y="1778317"/>
            <a:ext cx="481965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sp>
        <p:nvSpPr>
          <p:cNvPr id="15" name="Oval 14"/>
          <p:cNvSpPr/>
          <p:nvPr/>
        </p:nvSpPr>
        <p:spPr>
          <a:xfrm>
            <a:off x="6494145" y="573405"/>
            <a:ext cx="272415" cy="272415"/>
          </a:xfrm>
          <a:prstGeom prst="ellipse">
            <a:avLst/>
          </a:prstGeom>
          <a:solidFill>
            <a:srgbClr val="DD8A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2714625"/>
            <a:ext cx="9906000" cy="13439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403"/>
              </a:lnSpc>
              <a:spcBef>
                <a:spcPts val="0"/>
              </a:spcBef>
              <a:spcAft>
                <a:spcPts val="0"/>
              </a:spcAft>
            </a:pPr>
            <a:r>
              <a:rPr sz="6225" b="1">
                <a:solidFill>
                  <a:srgbClr val="594127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914775"/>
            <a:ext cx="990600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DD8A30"/>
                </a:solidFill>
                <a:latin typeface="WenQuanYi Micro Hei"/>
                <a:ea typeface="WenQuanYi Micro Hei"/>
              </a:rPr>
              <a:t>谢谢观看  /  期待交流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381625"/>
            <a:ext cx="990600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FFFFFF"/>
                </a:solidFill>
                <a:latin typeface="WenQuanYi Micro Hei"/>
                <a:ea typeface="WenQuanYi Micro Hei"/>
              </a:rPr>
              <a:t>让每一个好奇心都有方向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教育培训·课程规划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