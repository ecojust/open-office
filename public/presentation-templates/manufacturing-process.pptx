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3B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9100" cy="6858000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1562100"/>
            <a:ext cx="7334250" cy="16964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378"/>
              </a:lnSpc>
              <a:spcBef>
                <a:spcPts val="0"/>
              </a:spcBef>
              <a:spcAft>
                <a:spcPts val="0"/>
              </a:spcAft>
            </a:pPr>
            <a:r>
              <a:rPr sz="4725" b="1">
                <a:solidFill>
                  <a:srgbClr val="FFFFFF"/>
                </a:solidFill>
                <a:latin typeface="WenQuanYi Micro Hei"/>
                <a:ea typeface="WenQuanYi Micro Hei"/>
              </a:rPr>
              <a:t>智能制造</a:t>
            </a:r>
          </a:p>
          <a:p>
            <a:pPr algn="l">
              <a:lnSpc>
                <a:spcPts val="6378"/>
              </a:lnSpc>
              <a:spcBef>
                <a:spcPts val="0"/>
              </a:spcBef>
              <a:spcAft>
                <a:spcPts val="0"/>
              </a:spcAft>
            </a:pPr>
            <a:r>
              <a:rPr sz="4725" b="1">
                <a:solidFill>
                  <a:srgbClr val="FFFFFF"/>
                </a:solidFill>
                <a:latin typeface="WenQuanYi Micro Hei"/>
                <a:ea typeface="WenQuanYi Micro Hei"/>
              </a:rPr>
              <a:t>生产流程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95675"/>
            <a:ext cx="719137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EAF1F6"/>
                </a:solidFill>
                <a:latin typeface="WenQuanYi Micro Hei"/>
                <a:ea typeface="WenQuanYi Micro Hei"/>
              </a:rPr>
              <a:t>打通从原料到交付的链路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04875" y="4610100"/>
            <a:ext cx="6715125" cy="0"/>
          </a:xfrm>
          <a:prstGeom prst="line">
            <a:avLst/>
          </a:prstGeom>
          <a:ln w="19050">
            <a:solidFill>
              <a:srgbClr val="34749B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914400" y="5286375"/>
            <a:ext cx="7191375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AF1F6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2990" y="3168396"/>
            <a:ext cx="2331720" cy="1078420"/>
          </a:xfrm>
          <a:prstGeom prst="rect">
            <a:avLst/>
          </a:prstGeom>
          <a:solidFill>
            <a:srgbClr val="EAF1F6"/>
          </a:solidFill>
          <a:ln w="19050">
            <a:solidFill>
              <a:srgbClr val="3474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28722" y="2381440"/>
            <a:ext cx="378904" cy="786955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53359" y="2702052"/>
            <a:ext cx="378904" cy="466344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16162" y="3489007"/>
            <a:ext cx="291465" cy="320611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411652" y="3489007"/>
            <a:ext cx="291465" cy="320611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7143" y="3489007"/>
            <a:ext cx="291465" cy="320611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02633" y="3489007"/>
            <a:ext cx="291465" cy="320611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8624697" y="4538281"/>
            <a:ext cx="2477452" cy="0"/>
          </a:xfrm>
          <a:prstGeom prst="line">
            <a:avLst/>
          </a:prstGeom>
          <a:ln w="38100">
            <a:solidFill>
              <a:srgbClr val="34749B"/>
            </a:solidFill>
          </a:ln>
          <a:effectLst/>
        </p:spPr>
      </p:cxnSp>
      <p:sp>
        <p:nvSpPr>
          <p:cNvPr id="17" name="Oval 16"/>
          <p:cNvSpPr/>
          <p:nvPr/>
        </p:nvSpPr>
        <p:spPr>
          <a:xfrm>
            <a:off x="8857869" y="4392549"/>
            <a:ext cx="233172" cy="233172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40799" y="4392549"/>
            <a:ext cx="233172" cy="233172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23729" y="4392549"/>
            <a:ext cx="233172" cy="233172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6659" y="4392549"/>
            <a:ext cx="233172" cy="233172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810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AF1F6"/>
                </a:solidFill>
                <a:latin typeface="WenQuanYi Micro Hei"/>
                <a:ea typeface="WenQuanYi Micro Hei"/>
              </a:rPr>
              <a:t>OPEN OFFICE  /  流程与方法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243B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243B4A"/>
                </a:solidFill>
                <a:latin typeface="WenQuanYi Micro Hei"/>
                <a:ea typeface="WenQuanYi Micro Hei"/>
              </a:rPr>
              <a:t>智能制造 / 关键流程与协作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43B4A"/>
                </a:solidFill>
                <a:latin typeface="WenQuanYi Micro Hei"/>
                <a:ea typeface="WenQuanYi Micro Hei"/>
              </a:rPr>
              <a:t>打通从原料到交付的链路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695575"/>
            <a:ext cx="3448050" cy="2286000"/>
          </a:xfrm>
          <a:prstGeom prst="rect">
            <a:avLst/>
          </a:prstGeom>
          <a:solidFill>
            <a:srgbClr val="EAF1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925" y="2952750"/>
            <a:ext cx="297180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43B4A"/>
                </a:solidFill>
                <a:latin typeface="WenQuanYi Micro Hei"/>
                <a:ea typeface="WenQuanYi Micro Hei"/>
              </a:rPr>
              <a:t>原料准备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552825"/>
            <a:ext cx="2971800" cy="10663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43B4A"/>
                </a:solidFill>
                <a:latin typeface="WenQuanYi Micro Hei"/>
                <a:ea typeface="WenQuanYi Micro Hei"/>
              </a:rPr>
              <a:t>输入：填写所需信息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43B4A"/>
                </a:solidFill>
                <a:latin typeface="WenQuanYi Micro Hei"/>
                <a:ea typeface="WenQuanYi Micro Hei"/>
              </a:rPr>
              <a:t>负责：指定协作角色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43B4A"/>
                </a:solidFill>
                <a:latin typeface="WenQuanYi Micro Hei"/>
                <a:ea typeface="WenQuanYi Micro Hei"/>
              </a:rPr>
              <a:t>输出：明确交付标准</a:t>
            </a:r>
          </a:p>
        </p:txBody>
      </p:sp>
      <p:sp>
        <p:nvSpPr>
          <p:cNvPr id="10" name="Oval 9"/>
          <p:cNvSpPr/>
          <p:nvPr/>
        </p:nvSpPr>
        <p:spPr>
          <a:xfrm>
            <a:off x="2066924" y="2095499"/>
            <a:ext cx="666750" cy="666750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66924" y="2190750"/>
            <a:ext cx="6667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FFFFFF"/>
                </a:solidFill>
                <a:latin typeface="WenQuanYi Micro Hei"/>
                <a:ea typeface="WenQuanYi Micro Hei"/>
              </a:rPr>
              <a:t>01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33849" y="3848099"/>
            <a:ext cx="180976" cy="0"/>
          </a:xfrm>
          <a:prstGeom prst="line">
            <a:avLst/>
          </a:prstGeom>
          <a:ln w="28575">
            <a:solidFill>
              <a:srgbClr val="34749B"/>
            </a:solidFill>
          </a:ln>
          <a:effectLst/>
        </p:spPr>
      </p:cxnSp>
      <p:sp>
        <p:nvSpPr>
          <p:cNvPr id="13" name="Rectangle 12"/>
          <p:cNvSpPr/>
          <p:nvPr/>
        </p:nvSpPr>
        <p:spPr>
          <a:xfrm>
            <a:off x="4371975" y="2695575"/>
            <a:ext cx="3448050" cy="2286000"/>
          </a:xfrm>
          <a:prstGeom prst="rect">
            <a:avLst/>
          </a:prstGeom>
          <a:solidFill>
            <a:srgbClr val="EAF1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0100" y="2952750"/>
            <a:ext cx="297180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43B4A"/>
                </a:solidFill>
                <a:latin typeface="WenQuanYi Micro Hei"/>
                <a:ea typeface="WenQuanYi Micro Hei"/>
              </a:rPr>
              <a:t>协同生产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3552825"/>
            <a:ext cx="2971800" cy="10663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43B4A"/>
                </a:solidFill>
                <a:latin typeface="WenQuanYi Micro Hei"/>
                <a:ea typeface="WenQuanYi Micro Hei"/>
              </a:rPr>
              <a:t>输入：填写所需信息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43B4A"/>
                </a:solidFill>
                <a:latin typeface="WenQuanYi Micro Hei"/>
                <a:ea typeface="WenQuanYi Micro Hei"/>
              </a:rPr>
              <a:t>负责：指定协作角色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43B4A"/>
                </a:solidFill>
                <a:latin typeface="WenQuanYi Micro Hei"/>
                <a:ea typeface="WenQuanYi Micro Hei"/>
              </a:rPr>
              <a:t>输出：明确交付标准</a:t>
            </a:r>
          </a:p>
        </p:txBody>
      </p:sp>
      <p:sp>
        <p:nvSpPr>
          <p:cNvPr id="16" name="Oval 15"/>
          <p:cNvSpPr/>
          <p:nvPr/>
        </p:nvSpPr>
        <p:spPr>
          <a:xfrm>
            <a:off x="5753100" y="2095499"/>
            <a:ext cx="666750" cy="666750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53100" y="2190750"/>
            <a:ext cx="6667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FFFFFF"/>
                </a:solidFill>
                <a:latin typeface="WenQuanYi Micro Hei"/>
                <a:ea typeface="WenQuanYi Micro Hei"/>
              </a:rPr>
              <a:t>02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20025" y="3848099"/>
            <a:ext cx="180975" cy="0"/>
          </a:xfrm>
          <a:prstGeom prst="line">
            <a:avLst/>
          </a:prstGeom>
          <a:ln w="28575">
            <a:solidFill>
              <a:srgbClr val="34749B"/>
            </a:solidFill>
          </a:ln>
          <a:effectLst/>
        </p:spPr>
      </p:cxnSp>
      <p:sp>
        <p:nvSpPr>
          <p:cNvPr id="19" name="Rectangle 18"/>
          <p:cNvSpPr/>
          <p:nvPr/>
        </p:nvSpPr>
        <p:spPr>
          <a:xfrm>
            <a:off x="8058150" y="2695575"/>
            <a:ext cx="3448050" cy="2286000"/>
          </a:xfrm>
          <a:prstGeom prst="rect">
            <a:avLst/>
          </a:prstGeom>
          <a:solidFill>
            <a:srgbClr val="EAF1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6274" y="2952750"/>
            <a:ext cx="297180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43B4A"/>
                </a:solidFill>
                <a:latin typeface="WenQuanYi Micro Hei"/>
                <a:ea typeface="WenQuanYi Micro Hei"/>
              </a:rPr>
              <a:t>质量检验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6274" y="3552825"/>
            <a:ext cx="2971800" cy="10663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43B4A"/>
                </a:solidFill>
                <a:latin typeface="WenQuanYi Micro Hei"/>
                <a:ea typeface="WenQuanYi Micro Hei"/>
              </a:rPr>
              <a:t>输入：填写所需信息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43B4A"/>
                </a:solidFill>
                <a:latin typeface="WenQuanYi Micro Hei"/>
                <a:ea typeface="WenQuanYi Micro Hei"/>
              </a:rPr>
              <a:t>负责：指定协作角色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43B4A"/>
                </a:solidFill>
                <a:latin typeface="WenQuanYi Micro Hei"/>
                <a:ea typeface="WenQuanYi Micro Hei"/>
              </a:rPr>
              <a:t>输出：明确交付标准</a:t>
            </a:r>
          </a:p>
        </p:txBody>
      </p:sp>
      <p:sp>
        <p:nvSpPr>
          <p:cNvPr id="22" name="Oval 21"/>
          <p:cNvSpPr/>
          <p:nvPr/>
        </p:nvSpPr>
        <p:spPr>
          <a:xfrm>
            <a:off x="9439275" y="2095499"/>
            <a:ext cx="666750" cy="666750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39275" y="2190750"/>
            <a:ext cx="6667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FFFFFF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425" y="5381625"/>
            <a:ext cx="1047750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43B4A"/>
                </a:solidFill>
                <a:latin typeface="WenQuanYi Micro Hei"/>
                <a:ea typeface="WenQuanYi Micro Hei"/>
              </a:rPr>
              <a:t>协作约定：统一标准、记录问题、明确反馈与升级路径。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AF1F6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43B4A"/>
                </a:solidFill>
                <a:latin typeface="WenQuanYi Micro Hei"/>
                <a:ea typeface="WenQuanYi Micro Hei"/>
              </a:rPr>
              <a:t>OPEN OFFICE  /  智能制造·生产流程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43B4A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76775"/>
            <a:ext cx="12192000" cy="2181225"/>
          </a:xfrm>
          <a:prstGeom prst="rect">
            <a:avLst/>
          </a:prstGeom>
          <a:solidFill>
            <a:srgbClr val="243B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57800" y="1369695"/>
            <a:ext cx="1676400" cy="775335"/>
          </a:xfrm>
          <a:prstGeom prst="rect">
            <a:avLst/>
          </a:prstGeom>
          <a:solidFill>
            <a:srgbClr val="EAF1F6"/>
          </a:solidFill>
          <a:ln w="19050">
            <a:solidFill>
              <a:srgbClr val="3474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62575" y="803910"/>
            <a:ext cx="272415" cy="565785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39765" y="1034415"/>
            <a:ext cx="272415" cy="335280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25440" y="1600200"/>
            <a:ext cx="209550" cy="230505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81675" y="1600200"/>
            <a:ext cx="209550" cy="230505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37909" y="1600200"/>
            <a:ext cx="209550" cy="230505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4145" y="1600200"/>
            <a:ext cx="209550" cy="230505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215890" y="2354580"/>
            <a:ext cx="1781175" cy="0"/>
          </a:xfrm>
          <a:prstGeom prst="line">
            <a:avLst/>
          </a:prstGeom>
          <a:ln w="38100">
            <a:solidFill>
              <a:srgbClr val="34749B"/>
            </a:solidFill>
          </a:ln>
          <a:effectLst/>
        </p:spPr>
      </p:cxnSp>
      <p:sp>
        <p:nvSpPr>
          <p:cNvPr id="12" name="Oval 11"/>
          <p:cNvSpPr/>
          <p:nvPr/>
        </p:nvSpPr>
        <p:spPr>
          <a:xfrm>
            <a:off x="5383530" y="2249805"/>
            <a:ext cx="167640" cy="167640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02630" y="2249805"/>
            <a:ext cx="167640" cy="167640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21730" y="2249805"/>
            <a:ext cx="167640" cy="167640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40830" y="2249805"/>
            <a:ext cx="167640" cy="167640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2714625"/>
            <a:ext cx="9906000" cy="13439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403"/>
              </a:lnSpc>
              <a:spcBef>
                <a:spcPts val="0"/>
              </a:spcBef>
              <a:spcAft>
                <a:spcPts val="0"/>
              </a:spcAft>
            </a:pPr>
            <a:r>
              <a:rPr sz="6225" b="1">
                <a:solidFill>
                  <a:srgbClr val="243B4A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914775"/>
            <a:ext cx="99060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34749B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381625"/>
            <a:ext cx="9906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FFFFF"/>
                </a:solidFill>
                <a:latin typeface="WenQuanYi Micro Hei"/>
                <a:ea typeface="WenQuanYi Micro Hei"/>
              </a:rPr>
              <a:t>让每一道工序创造更高价值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智能制造·生产流程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