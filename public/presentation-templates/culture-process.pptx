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5775" y="0"/>
            <a:ext cx="4086225" cy="6858000"/>
          </a:xfrm>
          <a:prstGeom prst="rect">
            <a:avLst/>
          </a:prstGeom>
          <a:solidFill>
            <a:srgbClr val="4933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49" y="0"/>
            <a:ext cx="123824" cy="6858000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18613" y="2612136"/>
            <a:ext cx="2546223" cy="1583626"/>
          </a:xfrm>
          <a:prstGeom prst="rect">
            <a:avLst/>
          </a:prstGeom>
          <a:solidFill>
            <a:srgbClr val="F7EDF5"/>
          </a:solidFill>
          <a:ln w="19050">
            <a:solidFill>
              <a:srgbClr val="9B63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4922" y="2705290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04922" y="3978402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70695" y="2705290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70695" y="3978402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36467" y="2705290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36467" y="3978402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02240" y="2705290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02240" y="3978402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68012" y="2705290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68012" y="3978402"/>
            <a:ext cx="248412" cy="139731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681210" y="3015805"/>
            <a:ext cx="776287" cy="403670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 flipH="1">
            <a:off x="9681210" y="3419475"/>
            <a:ext cx="776287" cy="403669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9681210" y="3015805"/>
            <a:ext cx="0" cy="807339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685800" y="1619250"/>
            <a:ext cx="7048500" cy="1644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49334E"/>
                </a:solidFill>
                <a:latin typeface="WenQuanYi Micro Hei"/>
                <a:ea typeface="WenQuanYi Micro Hei"/>
              </a:rPr>
              <a:t>文化传媒</a:t>
            </a:r>
          </a:p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49334E"/>
                </a:solidFill>
                <a:latin typeface="WenQuanYi Micro Hei"/>
                <a:ea typeface="WenQuanYi Micro Hei"/>
              </a:rPr>
              <a:t>制作流程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3476625"/>
            <a:ext cx="695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49334E"/>
                </a:solidFill>
                <a:latin typeface="WenQuanYi Micro Hei"/>
                <a:ea typeface="WenQuanYi Micro Hei"/>
              </a:rPr>
              <a:t>把创意变成完整作品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5353050"/>
            <a:ext cx="666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9334E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B639E"/>
                </a:solidFill>
                <a:latin typeface="WenQuanYi Micro Hei"/>
                <a:ea typeface="WenQuanYi Micro Hei"/>
              </a:rPr>
              <a:t>OPEN OFFICE  /  流程与方法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4933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49334E"/>
                </a:solidFill>
                <a:latin typeface="WenQuanYi Micro Hei"/>
                <a:ea typeface="WenQuanYi Micro Hei"/>
              </a:rPr>
              <a:t>文化传媒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把创意变成完整作品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95575"/>
            <a:ext cx="3448050" cy="2286000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9334E"/>
                </a:solidFill>
                <a:latin typeface="WenQuanYi Micro Hei"/>
                <a:ea typeface="WenQuanYi Micro Hei"/>
              </a:rPr>
              <a:t>选题策划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0" name="Oval 9"/>
          <p:cNvSpPr/>
          <p:nvPr/>
        </p:nvSpPr>
        <p:spPr>
          <a:xfrm>
            <a:off x="2066924" y="2095499"/>
            <a:ext cx="666750" cy="666750"/>
          </a:xfrm>
          <a:prstGeom prst="ellipse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924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3849" y="3848099"/>
            <a:ext cx="180976" cy="0"/>
          </a:xfrm>
          <a:prstGeom prst="line">
            <a:avLst/>
          </a:prstGeom>
          <a:ln w="28575">
            <a:solidFill>
              <a:srgbClr val="9B639E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695575"/>
            <a:ext cx="3448050" cy="2286000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9334E"/>
                </a:solidFill>
                <a:latin typeface="WenQuanYi Micro Hei"/>
                <a:ea typeface="WenQuanYi Micro Hei"/>
              </a:rPr>
              <a:t>内容制作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6" name="Oval 15"/>
          <p:cNvSpPr/>
          <p:nvPr/>
        </p:nvSpPr>
        <p:spPr>
          <a:xfrm>
            <a:off x="5753100" y="2095499"/>
            <a:ext cx="666750" cy="666750"/>
          </a:xfrm>
          <a:prstGeom prst="ellipse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3100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20025" y="3848099"/>
            <a:ext cx="180975" cy="0"/>
          </a:xfrm>
          <a:prstGeom prst="line">
            <a:avLst/>
          </a:prstGeom>
          <a:ln w="28575">
            <a:solidFill>
              <a:srgbClr val="9B639E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695575"/>
            <a:ext cx="3448050" cy="2286000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6274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9334E"/>
                </a:solidFill>
                <a:latin typeface="WenQuanYi Micro Hei"/>
                <a:ea typeface="WenQuanYi Micro Hei"/>
              </a:rPr>
              <a:t>发布传播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22" name="Oval 21"/>
          <p:cNvSpPr/>
          <p:nvPr/>
        </p:nvSpPr>
        <p:spPr>
          <a:xfrm>
            <a:off x="9439275" y="2095499"/>
            <a:ext cx="666750" cy="666750"/>
          </a:xfrm>
          <a:prstGeom prst="ellipse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9275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" y="5381625"/>
            <a:ext cx="1047750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9334E"/>
                </a:solidFill>
                <a:latin typeface="WenQuanYi Micro Hei"/>
                <a:ea typeface="WenQuanYi Micro Hei"/>
              </a:rPr>
              <a:t>协作约定：统一标准、记录问题、明确反馈与升级路径。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7EDF5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34E"/>
                </a:solidFill>
                <a:latin typeface="WenQuanYi Micro Hei"/>
                <a:ea typeface="WenQuanYi Micro Hei"/>
              </a:rPr>
              <a:t>OPEN OFFICE  /  文化传媒·制作流程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34E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33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58262" y="1524000"/>
            <a:ext cx="1952624" cy="1214437"/>
          </a:xfrm>
          <a:prstGeom prst="rect">
            <a:avLst/>
          </a:prstGeom>
          <a:solidFill>
            <a:srgbClr val="F7EDF5"/>
          </a:solidFill>
          <a:ln w="19050">
            <a:solidFill>
              <a:srgbClr val="9B63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01137" y="1595437"/>
            <a:ext cx="190500" cy="107156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01137" y="2571750"/>
            <a:ext cx="190500" cy="107156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58325" y="1595437"/>
            <a:ext cx="190500" cy="107156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58325" y="2571750"/>
            <a:ext cx="190500" cy="107156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15512" y="1595437"/>
            <a:ext cx="190500" cy="107156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15512" y="2571750"/>
            <a:ext cx="190500" cy="107156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72700" y="1595437"/>
            <a:ext cx="190500" cy="107156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72700" y="2571750"/>
            <a:ext cx="190500" cy="107156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29887" y="1595437"/>
            <a:ext cx="190500" cy="107156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29887" y="2571750"/>
            <a:ext cx="190500" cy="107156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696450" y="1833562"/>
            <a:ext cx="595312" cy="309563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 flipH="1">
            <a:off x="9696450" y="2143125"/>
            <a:ext cx="595312" cy="309562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9696450" y="1833562"/>
            <a:ext cx="0" cy="619125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7EDF5"/>
                </a:solidFill>
                <a:latin typeface="WenQuanYi Micro Hei"/>
                <a:ea typeface="WenQuanYi Micro Hei"/>
              </a:rPr>
              <a:t>让表达有力量，让故事有回响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9B639E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F7EDF5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文化传媒·制作流程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