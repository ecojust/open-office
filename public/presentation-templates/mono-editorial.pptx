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0201E"/>
                </a:solidFill>
                <a:latin typeface="WenQuanYi Micro Hei"/>
                <a:ea typeface="WenQuanYi Micro Hei"/>
              </a:rPr>
              <a:t>OPEN OFFICE / EDITORIAL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361950"/>
            <a:ext cx="264795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0201E"/>
                </a:solidFill>
                <a:latin typeface="WenQuanYi Micro Hei"/>
                <a:ea typeface="WenQuanYi Micro Hei"/>
              </a:rPr>
              <a:t>ISSUE 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971550"/>
            <a:ext cx="10820400" cy="0"/>
          </a:xfrm>
          <a:prstGeom prst="line">
            <a:avLst/>
          </a:prstGeom>
          <a:ln w="19050">
            <a:solidFill>
              <a:srgbClr val="20201E"/>
            </a:solidFill>
          </a:ln>
          <a:effectLst/>
        </p:spPr>
      </p:cxnSp>
      <p:sp>
        <p:nvSpPr>
          <p:cNvPr id="6" name="Rectangle 5"/>
          <p:cNvSpPr/>
          <p:nvPr/>
        </p:nvSpPr>
        <p:spPr>
          <a:xfrm>
            <a:off x="8572500" y="1381125"/>
            <a:ext cx="2933700" cy="4076699"/>
          </a:xfrm>
          <a:prstGeom prst="rect">
            <a:avLst/>
          </a:prstGeom>
          <a:solidFill>
            <a:srgbClr val="2020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3475" y="1828800"/>
            <a:ext cx="2571750" cy="2347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681"/>
              </a:lnSpc>
              <a:spcBef>
                <a:spcPts val="0"/>
              </a:spcBef>
              <a:spcAft>
                <a:spcPts val="0"/>
              </a:spcAft>
            </a:pPr>
            <a:r>
              <a:rPr sz="10875" b="1">
                <a:solidFill>
                  <a:srgbClr val="F5F4E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2050" y="4181475"/>
            <a:ext cx="2514600" cy="6677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5F4EF"/>
                </a:solidFill>
                <a:latin typeface="WenQuanYi Micro Hei"/>
                <a:ea typeface="WenQuanYi Micro Hei"/>
              </a:rPr>
              <a:t>A NEW</a:t>
            </a:r>
          </a:p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5F4EF"/>
                </a:solidFill>
                <a:latin typeface="WenQuanYi Micro Hei"/>
                <a:ea typeface="WenQuanYi Micro Hei"/>
              </a:rPr>
              <a:t>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57350"/>
            <a:ext cx="7620000" cy="19792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492"/>
              </a:lnSpc>
              <a:spcBef>
                <a:spcPts val="0"/>
              </a:spcBef>
              <a:spcAft>
                <a:spcPts val="0"/>
              </a:spcAft>
            </a:pPr>
            <a:r>
              <a:rPr sz="5550" b="1">
                <a:solidFill>
                  <a:srgbClr val="20201E"/>
                </a:solidFill>
                <a:latin typeface="LXGW WenKai"/>
                <a:ea typeface="LXGW WenKai"/>
              </a:rPr>
              <a:t>观点，</a:t>
            </a:r>
          </a:p>
          <a:p>
            <a:pPr algn="l">
              <a:lnSpc>
                <a:spcPts val="7492"/>
              </a:lnSpc>
              <a:spcBef>
                <a:spcPts val="0"/>
              </a:spcBef>
              <a:spcAft>
                <a:spcPts val="0"/>
              </a:spcAft>
            </a:pPr>
            <a:r>
              <a:rPr sz="5550" b="1">
                <a:solidFill>
                  <a:srgbClr val="20201E"/>
                </a:solidFill>
                <a:latin typeface="LXGW WenKai"/>
                <a:ea typeface="LXGW WenKai"/>
              </a:rPr>
              <a:t>值得被听见。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981450"/>
            <a:ext cx="71437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66660"/>
                </a:solidFill>
                <a:latin typeface="WenQuanYi Micro Hei"/>
                <a:ea typeface="WenQuanYi Micro Hei"/>
              </a:rPr>
              <a:t>在这里填写主题、观点或故事副标题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5248275"/>
            <a:ext cx="714375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01E"/>
                </a:solidFill>
                <a:latin typeface="WenQuanYi Micro Hei"/>
                <a:ea typeface="WenQuanYi Micro Hei"/>
              </a:rPr>
              <a:t>撰稿 / 分享：你的名字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20201E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0201E"/>
                </a:solidFill>
                <a:latin typeface="WenQuanYi Micro Hei"/>
                <a:ea typeface="WenQuanYi Micro Hei"/>
              </a:rPr>
              <a:t>OPEN OFFICE  /  黑白编辑部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0201E"/>
                </a:solidFill>
                <a:latin typeface="WenQuanYi Micro Hei"/>
                <a:ea typeface="WenQuanYi Micro He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9125"/>
            <a:ext cx="10820400" cy="761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</a:pPr>
            <a:r>
              <a:rPr sz="3525" b="1">
                <a:solidFill>
                  <a:srgbClr val="20201E"/>
                </a:solidFill>
                <a:latin typeface="LXGW WenKai"/>
                <a:ea typeface="LXGW WenKai"/>
              </a:rPr>
              <a:t>在这里填写内容标题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95425"/>
            <a:ext cx="10820400" cy="0"/>
          </a:xfrm>
          <a:prstGeom prst="line">
            <a:avLst/>
          </a:prstGeom>
          <a:ln w="28575">
            <a:solidFill>
              <a:srgbClr val="20201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895975" y="1943100"/>
            <a:ext cx="0" cy="3819525"/>
          </a:xfrm>
          <a:prstGeom prst="line">
            <a:avLst/>
          </a:prstGeom>
          <a:ln w="9525">
            <a:solidFill>
              <a:srgbClr val="B7B7A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685800" y="2028825"/>
            <a:ext cx="4733925" cy="14735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13"/>
              </a:lnSpc>
              <a:spcBef>
                <a:spcPts val="0"/>
              </a:spcBef>
              <a:spcAft>
                <a:spcPts val="0"/>
              </a:spcAft>
            </a:pPr>
            <a:r>
              <a:rPr sz="6825" b="1">
                <a:solidFill>
                  <a:srgbClr val="20201E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8025"/>
            <a:ext cx="4733925" cy="518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01E"/>
                </a:solidFill>
                <a:latin typeface="LXGW WenKai"/>
                <a:ea typeface="LXGW WenKai"/>
              </a:rPr>
              <a:t>把核心观点放在这里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05249"/>
            <a:ext cx="4733925" cy="1459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6660"/>
                </a:solidFill>
                <a:latin typeface="WenQuanYi Micro Hei"/>
                <a:ea typeface="WenQuanYi Micro Hei"/>
              </a:rPr>
              <a:t>在这里讲述最重要的观点。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6660"/>
                </a:solidFill>
                <a:latin typeface="WenQuanYi Micro Hei"/>
                <a:ea typeface="WenQuanYi Micro Hei"/>
              </a:rPr>
              <a:t>用事实建立联系，用细节让内容生动。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6660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6660"/>
                </a:solidFill>
                <a:latin typeface="WenQuanYi Micro Hei"/>
                <a:ea typeface="WenQuanYi Micro Hei"/>
              </a:rPr>
              <a:t>保持表达的节奏，给思考留出空间。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2105025"/>
            <a:ext cx="5715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0201E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2350" y="2105025"/>
            <a:ext cx="4133849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0201E"/>
                </a:solidFill>
                <a:latin typeface="LXGW WenKai"/>
                <a:ea typeface="LXGW WenKai"/>
              </a:rPr>
              <a:t>另一种观察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2350" y="2705100"/>
            <a:ext cx="4133849" cy="716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6660"/>
                </a:solidFill>
                <a:latin typeface="WenQuanYi Micro Hei"/>
                <a:ea typeface="WenQuanYi Micro Hei"/>
              </a:rPr>
              <a:t>在这里补充一个角度、一个案例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6660"/>
                </a:solidFill>
                <a:latin typeface="WenQuanYi Micro Hei"/>
                <a:ea typeface="WenQuanYi Micro Hei"/>
              </a:rPr>
              <a:t>或值得继续讨论的问题。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4067175"/>
            <a:ext cx="5715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0201E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2350" y="4067175"/>
            <a:ext cx="4133849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0201E"/>
                </a:solidFill>
                <a:latin typeface="LXGW WenKai"/>
                <a:ea typeface="LXGW WenKai"/>
              </a:rPr>
              <a:t>进一步的思考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2350" y="4667250"/>
            <a:ext cx="4133849" cy="716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6660"/>
                </a:solidFill>
                <a:latin typeface="WenQuanYi Micro Hei"/>
                <a:ea typeface="WenQuanYi Micro Hei"/>
              </a:rPr>
              <a:t>在这里补充一个角度、一个案例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666660"/>
                </a:solidFill>
                <a:latin typeface="WenQuanYi Micro Hei"/>
                <a:ea typeface="WenQuanYi Micro Hei"/>
              </a:rPr>
              <a:t>或值得继续讨论的问题。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29375" y="3667125"/>
            <a:ext cx="5076825" cy="0"/>
          </a:xfrm>
          <a:prstGeom prst="line">
            <a:avLst/>
          </a:prstGeom>
          <a:ln w="9525">
            <a:solidFill>
              <a:srgbClr val="B7B7AE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20201E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0201E"/>
                </a:solidFill>
                <a:latin typeface="WenQuanYi Micro Hei"/>
                <a:ea typeface="WenQuanYi Micro Hei"/>
              </a:rPr>
              <a:t>OPEN OFFICE  /  黑白编辑部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0201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685800"/>
            <a:ext cx="10820400" cy="285750"/>
          </a:xfrm>
          <a:prstGeom prst="rect">
            <a:avLst/>
          </a:prstGeom>
          <a:solidFill>
            <a:srgbClr val="2020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14525"/>
            <a:ext cx="10820400" cy="19431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0"/>
              </a:lnSpc>
              <a:spcBef>
                <a:spcPts val="0"/>
              </a:spcBef>
              <a:spcAft>
                <a:spcPts val="0"/>
              </a:spcAft>
            </a:pPr>
            <a:r>
              <a:rPr sz="9000" b="1">
                <a:solidFill>
                  <a:srgbClr val="20201E"/>
                </a:solidFill>
                <a:latin typeface="WenQuanYi Micro Hei"/>
                <a:ea typeface="WenQuanYi Micro Hei"/>
              </a:rPr>
              <a:t>Open Office.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914775"/>
            <a:ext cx="10820400" cy="0"/>
          </a:xfrm>
          <a:prstGeom prst="line">
            <a:avLst/>
          </a:prstGeom>
          <a:ln w="19050">
            <a:solidFill>
              <a:srgbClr val="20201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733425" y="4381500"/>
            <a:ext cx="107251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20201E"/>
                </a:solidFill>
                <a:latin typeface="LXGW WenKai"/>
                <a:ea typeface="LXGW WenKai"/>
              </a:rPr>
              <a:t>谢谢观看。下一个观点，等你来写。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黑白编辑部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