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67775" y="-685800"/>
            <a:ext cx="4095750" cy="4095750"/>
          </a:xfrm>
          <a:prstGeom prst="ellipse">
            <a:avLst/>
          </a:prstGeom>
          <a:solidFill>
            <a:srgbClr val="EFF1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14425" y="4410075"/>
            <a:ext cx="3381375" cy="3381375"/>
          </a:xfrm>
          <a:prstGeom prst="ellipse">
            <a:avLst/>
          </a:prstGeom>
          <a:solidFill>
            <a:srgbClr val="EFF1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53100" y="809625"/>
            <a:ext cx="595312" cy="238125"/>
          </a:xfrm>
          <a:prstGeom prst="rect">
            <a:avLst/>
          </a:prstGeom>
          <a:solidFill>
            <a:srgbClr val="EFF1F8"/>
          </a:solidFill>
          <a:ln w="19050">
            <a:solidFill>
              <a:srgbClr val="6678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5848350" y="1047749"/>
            <a:ext cx="0" cy="619126"/>
          </a:xfrm>
          <a:prstGeom prst="line">
            <a:avLst/>
          </a:prstGeom>
          <a:ln w="28575">
            <a:solidFill>
              <a:srgbClr val="6678A5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6253162" y="1047749"/>
            <a:ext cx="0" cy="619126"/>
          </a:xfrm>
          <a:prstGeom prst="line">
            <a:avLst/>
          </a:prstGeom>
          <a:ln w="28575">
            <a:solidFill>
              <a:srgbClr val="6678A5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 flipH="1">
            <a:off x="5372100" y="1666875"/>
            <a:ext cx="476250" cy="857250"/>
          </a:xfrm>
          <a:prstGeom prst="line">
            <a:avLst/>
          </a:prstGeom>
          <a:ln w="28575">
            <a:solidFill>
              <a:srgbClr val="6678A5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6253162" y="1666875"/>
            <a:ext cx="547688" cy="857250"/>
          </a:xfrm>
          <a:prstGeom prst="line">
            <a:avLst/>
          </a:prstGeom>
          <a:ln w="28575">
            <a:solidFill>
              <a:srgbClr val="6678A5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5372100" y="2524125"/>
            <a:ext cx="1428750" cy="0"/>
          </a:xfrm>
          <a:prstGeom prst="line">
            <a:avLst/>
          </a:prstGeom>
          <a:ln w="28575">
            <a:solidFill>
              <a:srgbClr val="6678A5"/>
            </a:solidFill>
          </a:ln>
          <a:effectLst/>
        </p:spPr>
      </p:cxnSp>
      <p:sp>
        <p:nvSpPr>
          <p:cNvPr id="11" name="Oval 10"/>
          <p:cNvSpPr/>
          <p:nvPr/>
        </p:nvSpPr>
        <p:spPr>
          <a:xfrm>
            <a:off x="5848350" y="2024062"/>
            <a:ext cx="190500" cy="190500"/>
          </a:xfrm>
          <a:prstGeom prst="ellipse">
            <a:avLst/>
          </a:prstGeom>
          <a:solidFill>
            <a:srgbClr val="EFF1F8"/>
          </a:solidFill>
          <a:ln w="19050">
            <a:solidFill>
              <a:srgbClr val="6678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81725" y="2190750"/>
            <a:ext cx="190500" cy="190500"/>
          </a:xfrm>
          <a:prstGeom prst="ellipse">
            <a:avLst/>
          </a:prstGeom>
          <a:solidFill>
            <a:srgbClr val="EFF1F8"/>
          </a:solidFill>
          <a:ln w="19050">
            <a:solidFill>
              <a:srgbClr val="6678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62725" y="1047749"/>
            <a:ext cx="190500" cy="190500"/>
          </a:xfrm>
          <a:prstGeom prst="ellipse">
            <a:avLst/>
          </a:prstGeom>
          <a:solidFill>
            <a:srgbClr val="EFF1F8"/>
          </a:solidFill>
          <a:ln w="19050">
            <a:solidFill>
              <a:srgbClr val="6678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00662" y="1309687"/>
            <a:ext cx="190500" cy="190500"/>
          </a:xfrm>
          <a:prstGeom prst="ellipse">
            <a:avLst/>
          </a:prstGeom>
          <a:solidFill>
            <a:srgbClr val="EFF1F8"/>
          </a:solidFill>
          <a:ln w="19050">
            <a:solidFill>
              <a:srgbClr val="6678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5610225" y="2238375"/>
            <a:ext cx="952500" cy="0"/>
          </a:xfrm>
          <a:prstGeom prst="line">
            <a:avLst/>
          </a:prstGeom>
          <a:ln w="19050">
            <a:solidFill>
              <a:srgbClr val="6678A5"/>
            </a:solidFill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1143000" y="3095625"/>
            <a:ext cx="9906000" cy="85820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366"/>
              </a:lnSpc>
              <a:spcBef>
                <a:spcPts val="0"/>
              </a:spcBef>
              <a:spcAft>
                <a:spcPts val="0"/>
              </a:spcAft>
            </a:pPr>
            <a:r>
              <a:rPr sz="3975" b="1">
                <a:solidFill>
                  <a:srgbClr val="303E61"/>
                </a:solidFill>
                <a:latin typeface="WenQuanYi Micro Hei"/>
                <a:ea typeface="WenQuanYi Micro Hei"/>
              </a:rPr>
              <a:t>科研创新·实验设计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038600"/>
            <a:ext cx="990600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303E61"/>
                </a:solidFill>
                <a:latin typeface="WenQuanYi Micro Hei"/>
                <a:ea typeface="WenQuanYi Micro Hei"/>
              </a:rPr>
              <a:t>构建可复核的实验路径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29275" y="4791075"/>
            <a:ext cx="933449" cy="47625"/>
          </a:xfrm>
          <a:prstGeom prst="rect">
            <a:avLst/>
          </a:prstGeom>
          <a:solidFill>
            <a:srgbClr val="6678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5448300"/>
            <a:ext cx="99060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03E61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900" y="542925"/>
            <a:ext cx="9525000" cy="256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678A5"/>
                </a:solidFill>
                <a:latin typeface="WenQuanYi Micro Hei"/>
                <a:ea typeface="WenQuanYi Micro Hei"/>
              </a:rPr>
              <a:t>OPEN OFFICE  /  流程与方法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6678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303E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303E61"/>
                </a:solidFill>
                <a:latin typeface="WenQuanYi Micro Hei"/>
                <a:ea typeface="WenQuanYi Micro Hei"/>
              </a:rPr>
              <a:t>科研创新 / 关键流程与协作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303E61"/>
                </a:solidFill>
                <a:latin typeface="WenQuanYi Micro Hei"/>
                <a:ea typeface="WenQuanYi Micro Hei"/>
              </a:rPr>
              <a:t>构建可复核的实验路径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62050" y="2543175"/>
            <a:ext cx="0" cy="2743200"/>
          </a:xfrm>
          <a:prstGeom prst="line">
            <a:avLst/>
          </a:prstGeom>
          <a:ln w="28575">
            <a:solidFill>
              <a:srgbClr val="6678A5"/>
            </a:solidFill>
          </a:ln>
          <a:effectLst/>
        </p:spPr>
      </p:cxnSp>
      <p:sp>
        <p:nvSpPr>
          <p:cNvPr id="8" name="Oval 7"/>
          <p:cNvSpPr/>
          <p:nvPr/>
        </p:nvSpPr>
        <p:spPr>
          <a:xfrm>
            <a:off x="876300" y="2409825"/>
            <a:ext cx="571500" cy="571500"/>
          </a:xfrm>
          <a:prstGeom prst="ellipse">
            <a:avLst/>
          </a:prstGeom>
          <a:solidFill>
            <a:srgbClr val="6678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6300" y="2466975"/>
            <a:ext cx="57150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FFFFF"/>
                </a:solidFill>
                <a:latin typeface="WenQuanYi Micro Hei"/>
                <a:ea typeface="WenQuanYi Micro Hei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09750" y="2238375"/>
            <a:ext cx="9696450" cy="990599"/>
          </a:xfrm>
          <a:prstGeom prst="rect">
            <a:avLst/>
          </a:prstGeom>
          <a:solidFill>
            <a:srgbClr val="EFF1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76450" y="2409825"/>
            <a:ext cx="2867025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303E61"/>
                </a:solidFill>
                <a:latin typeface="WenQuanYi Micro Hei"/>
                <a:ea typeface="WenQuanYi Micro Hei"/>
              </a:rPr>
              <a:t>提出假设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62575" y="2419350"/>
            <a:ext cx="580072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03E61"/>
                </a:solidFill>
                <a:latin typeface="WenQuanYi Micro Hei"/>
                <a:ea typeface="WenQuanYi Micro Hei"/>
              </a:rPr>
              <a:t>责任角色：待填写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62575" y="2752725"/>
            <a:ext cx="580072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03E61"/>
                </a:solidFill>
                <a:latin typeface="WenQuanYi Micro Hei"/>
                <a:ea typeface="WenQuanYi Micro Hei"/>
              </a:rPr>
              <a:t>输入材料 → 执行动作 → 交付标准</a:t>
            </a:r>
          </a:p>
        </p:txBody>
      </p:sp>
      <p:sp>
        <p:nvSpPr>
          <p:cNvPr id="14" name="Oval 13"/>
          <p:cNvSpPr/>
          <p:nvPr/>
        </p:nvSpPr>
        <p:spPr>
          <a:xfrm>
            <a:off x="876300" y="3600450"/>
            <a:ext cx="571500" cy="571500"/>
          </a:xfrm>
          <a:prstGeom prst="ellipse">
            <a:avLst/>
          </a:prstGeom>
          <a:solidFill>
            <a:srgbClr val="6678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6300" y="3657600"/>
            <a:ext cx="57150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FFFFF"/>
                </a:solidFill>
                <a:latin typeface="WenQuanYi Micro Hei"/>
                <a:ea typeface="WenQuanYi Micro Hei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09750" y="3429000"/>
            <a:ext cx="9696450" cy="990599"/>
          </a:xfrm>
          <a:prstGeom prst="rect">
            <a:avLst/>
          </a:prstGeom>
          <a:solidFill>
            <a:srgbClr val="EFF1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76450" y="3600450"/>
            <a:ext cx="2867025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303E61"/>
                </a:solidFill>
                <a:latin typeface="WenQuanYi Micro Hei"/>
                <a:ea typeface="WenQuanYi Micro Hei"/>
              </a:rPr>
              <a:t>实验验证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62575" y="3609975"/>
            <a:ext cx="580072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03E61"/>
                </a:solidFill>
                <a:latin typeface="WenQuanYi Micro Hei"/>
                <a:ea typeface="WenQuanYi Micro Hei"/>
              </a:rPr>
              <a:t>责任角色：待填写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62575" y="3943350"/>
            <a:ext cx="580072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03E61"/>
                </a:solidFill>
                <a:latin typeface="WenQuanYi Micro Hei"/>
                <a:ea typeface="WenQuanYi Micro Hei"/>
              </a:rPr>
              <a:t>输入材料 → 执行动作 → 交付标准</a:t>
            </a:r>
          </a:p>
        </p:txBody>
      </p:sp>
      <p:sp>
        <p:nvSpPr>
          <p:cNvPr id="20" name="Oval 19"/>
          <p:cNvSpPr/>
          <p:nvPr/>
        </p:nvSpPr>
        <p:spPr>
          <a:xfrm>
            <a:off x="876300" y="4791075"/>
            <a:ext cx="571500" cy="571500"/>
          </a:xfrm>
          <a:prstGeom prst="ellipse">
            <a:avLst/>
          </a:prstGeom>
          <a:solidFill>
            <a:srgbClr val="6678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6300" y="4848225"/>
            <a:ext cx="57150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FFFFF"/>
                </a:solidFill>
                <a:latin typeface="WenQuanYi Micro Hei"/>
                <a:ea typeface="WenQuanYi Micro Hei"/>
              </a:rPr>
              <a:t>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09750" y="4619625"/>
            <a:ext cx="9696450" cy="990599"/>
          </a:xfrm>
          <a:prstGeom prst="rect">
            <a:avLst/>
          </a:prstGeom>
          <a:solidFill>
            <a:srgbClr val="EFF1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76450" y="4791075"/>
            <a:ext cx="2867025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303E61"/>
                </a:solidFill>
                <a:latin typeface="WenQuanYi Micro Hei"/>
                <a:ea typeface="WenQuanYi Micro Hei"/>
              </a:rPr>
              <a:t>讨论结论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62575" y="4800600"/>
            <a:ext cx="580072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03E61"/>
                </a:solidFill>
                <a:latin typeface="WenQuanYi Micro Hei"/>
                <a:ea typeface="WenQuanYi Micro Hei"/>
              </a:rPr>
              <a:t>责任角色：待填写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62575" y="5133975"/>
            <a:ext cx="580072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03E61"/>
                </a:solidFill>
                <a:latin typeface="WenQuanYi Micro Hei"/>
                <a:ea typeface="WenQuanYi Micro Hei"/>
              </a:rPr>
              <a:t>输入材料 → 执行动作 → 交付标准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EFF1F8"/>
            </a:solidFill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03E61"/>
                </a:solidFill>
                <a:latin typeface="WenQuanYi Micro Hei"/>
                <a:ea typeface="WenQuanYi Micro Hei"/>
              </a:rPr>
              <a:t>OPEN OFFICE  /  科研创新·实验设计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03E61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90949" cy="6858000"/>
          </a:xfrm>
          <a:prstGeom prst="rect">
            <a:avLst/>
          </a:prstGeom>
          <a:solidFill>
            <a:srgbClr val="303E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554480" y="2394585"/>
            <a:ext cx="642937" cy="257175"/>
          </a:xfrm>
          <a:prstGeom prst="rect">
            <a:avLst/>
          </a:prstGeom>
          <a:solidFill>
            <a:srgbClr val="EFF1F8"/>
          </a:solidFill>
          <a:ln w="19050">
            <a:solidFill>
              <a:srgbClr val="6678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657350" y="2651760"/>
            <a:ext cx="0" cy="668655"/>
          </a:xfrm>
          <a:prstGeom prst="line">
            <a:avLst/>
          </a:prstGeom>
          <a:ln w="28575">
            <a:solidFill>
              <a:srgbClr val="6678A5"/>
            </a:solidFill>
          </a:ln>
          <a:effectLst/>
        </p:spPr>
      </p:cxnSp>
      <p:cxnSp>
        <p:nvCxnSpPr>
          <p:cNvPr id="6" name="Connector 5"/>
          <p:cNvCxnSpPr/>
          <p:nvPr/>
        </p:nvCxnSpPr>
        <p:spPr>
          <a:xfrm>
            <a:off x="2094547" y="2651760"/>
            <a:ext cx="0" cy="668655"/>
          </a:xfrm>
          <a:prstGeom prst="line">
            <a:avLst/>
          </a:prstGeom>
          <a:ln w="28575">
            <a:solidFill>
              <a:srgbClr val="6678A5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 flipH="1">
            <a:off x="1143000" y="3320415"/>
            <a:ext cx="514350" cy="925830"/>
          </a:xfrm>
          <a:prstGeom prst="line">
            <a:avLst/>
          </a:prstGeom>
          <a:ln w="28575">
            <a:solidFill>
              <a:srgbClr val="6678A5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2094547" y="3320415"/>
            <a:ext cx="591503" cy="925830"/>
          </a:xfrm>
          <a:prstGeom prst="line">
            <a:avLst/>
          </a:prstGeom>
          <a:ln w="28575">
            <a:solidFill>
              <a:srgbClr val="6678A5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1143000" y="4246245"/>
            <a:ext cx="1543050" cy="0"/>
          </a:xfrm>
          <a:prstGeom prst="line">
            <a:avLst/>
          </a:prstGeom>
          <a:ln w="28575">
            <a:solidFill>
              <a:srgbClr val="6678A5"/>
            </a:solidFill>
          </a:ln>
          <a:effectLst/>
        </p:spPr>
      </p:cxnSp>
      <p:sp>
        <p:nvSpPr>
          <p:cNvPr id="10" name="Oval 9"/>
          <p:cNvSpPr/>
          <p:nvPr/>
        </p:nvSpPr>
        <p:spPr>
          <a:xfrm>
            <a:off x="1657350" y="3706177"/>
            <a:ext cx="205740" cy="205740"/>
          </a:xfrm>
          <a:prstGeom prst="ellipse">
            <a:avLst/>
          </a:prstGeom>
          <a:solidFill>
            <a:srgbClr val="EFF1F8"/>
          </a:solidFill>
          <a:ln w="19050">
            <a:solidFill>
              <a:srgbClr val="6678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017395" y="3886200"/>
            <a:ext cx="205740" cy="205740"/>
          </a:xfrm>
          <a:prstGeom prst="ellipse">
            <a:avLst/>
          </a:prstGeom>
          <a:solidFill>
            <a:srgbClr val="EFF1F8"/>
          </a:solidFill>
          <a:ln w="19050">
            <a:solidFill>
              <a:srgbClr val="6678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428875" y="2651760"/>
            <a:ext cx="205740" cy="205740"/>
          </a:xfrm>
          <a:prstGeom prst="ellipse">
            <a:avLst/>
          </a:prstGeom>
          <a:solidFill>
            <a:srgbClr val="EFF1F8"/>
          </a:solidFill>
          <a:ln w="19050">
            <a:solidFill>
              <a:srgbClr val="6678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5847" y="2934652"/>
            <a:ext cx="205740" cy="205740"/>
          </a:xfrm>
          <a:prstGeom prst="ellipse">
            <a:avLst/>
          </a:prstGeom>
          <a:solidFill>
            <a:srgbClr val="EFF1F8"/>
          </a:solidFill>
          <a:ln w="19050">
            <a:solidFill>
              <a:srgbClr val="6678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1400175" y="3937634"/>
            <a:ext cx="1028700" cy="0"/>
          </a:xfrm>
          <a:prstGeom prst="line">
            <a:avLst/>
          </a:prstGeom>
          <a:ln w="19050">
            <a:solidFill>
              <a:srgbClr val="6678A5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4362450" y="2085975"/>
            <a:ext cx="7143750" cy="12630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897"/>
              </a:lnSpc>
              <a:spcBef>
                <a:spcPts val="0"/>
              </a:spcBef>
              <a:spcAft>
                <a:spcPts val="0"/>
              </a:spcAft>
            </a:pPr>
            <a:r>
              <a:rPr sz="5850" b="1">
                <a:solidFill>
                  <a:srgbClr val="303E61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0550" y="3381375"/>
            <a:ext cx="7105650" cy="4748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38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303E61"/>
                </a:solidFill>
                <a:latin typeface="WenQuanYi Micro Hei"/>
                <a:ea typeface="WenQuanYi Micro Hei"/>
              </a:rPr>
              <a:t>保持好奇，以证据拓展认知边界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391025" y="4648200"/>
            <a:ext cx="6991350" cy="0"/>
          </a:xfrm>
          <a:prstGeom prst="line">
            <a:avLst/>
          </a:prstGeom>
          <a:ln w="19050">
            <a:solidFill>
              <a:srgbClr val="6678A5"/>
            </a:solidFill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4400550" y="5095875"/>
            <a:ext cx="69532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6678A5"/>
                </a:solidFill>
                <a:latin typeface="WenQuanYi Micro Hei"/>
                <a:ea typeface="WenQuanYi Micro Hei"/>
              </a:rPr>
              <a:t>谢谢观看  /  期待交流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科研创新·实验设计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