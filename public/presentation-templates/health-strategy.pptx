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305050"/>
          </a:xfrm>
          <a:prstGeom prst="rect">
            <a:avLst/>
          </a:prstGeom>
          <a:solidFill>
            <a:srgbClr val="1744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200275"/>
            <a:ext cx="685800" cy="104775"/>
          </a:xfrm>
          <a:prstGeom prst="rect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76275"/>
            <a:ext cx="10477500" cy="8420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265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WenQuanYi Micro Hei"/>
                <a:ea typeface="WenQuanYi Micro Hei"/>
              </a:rPr>
              <a:t>医疗健康·服务规划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924175"/>
            <a:ext cx="69532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174448"/>
                </a:solidFill>
                <a:latin typeface="WenQuanYi Micro Hei"/>
                <a:ea typeface="WenQuanYi Micro Hei"/>
              </a:rPr>
              <a:t>以患者为中心的服务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378142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68985"/>
                </a:solidFill>
                <a:latin typeface="WenQuanYi Micro Hei"/>
                <a:ea typeface="WenQuanYi Micro Hei"/>
              </a:rPr>
              <a:t>01  患者需求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4210050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68985"/>
                </a:solidFill>
                <a:latin typeface="WenQuanYi Micro Hei"/>
                <a:ea typeface="WenQuanYi Micro Hei"/>
              </a:rPr>
              <a:t>02  服务能力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63867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68985"/>
                </a:solidFill>
                <a:latin typeface="WenQuanYi Micro Hei"/>
                <a:ea typeface="WenQuanYi Micro Hei"/>
              </a:rPr>
              <a:t>03  健康结果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49847" y="3203829"/>
            <a:ext cx="750379" cy="2193417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28329" y="3925347"/>
            <a:ext cx="2193417" cy="750379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728329" y="4415980"/>
            <a:ext cx="490632" cy="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9218961" y="3954208"/>
            <a:ext cx="288608" cy="461772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507569" y="3954208"/>
            <a:ext cx="346329" cy="894683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 flipV="1">
            <a:off x="9853898" y="4156233"/>
            <a:ext cx="404050" cy="692658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0257948" y="4156233"/>
            <a:ext cx="202026" cy="259747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10459974" y="4415980"/>
            <a:ext cx="519493" cy="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723900" y="5610225"/>
            <a:ext cx="7620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74448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1744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174448"/>
                </a:solidFill>
                <a:latin typeface="WenQuanYi Micro Hei"/>
                <a:ea typeface="WenQuanYi Micro Hei"/>
              </a:rPr>
              <a:t>医疗健康 / 从方向到行动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4448"/>
                </a:solidFill>
                <a:latin typeface="WenQuanYi Micro Hei"/>
                <a:ea typeface="WenQuanYi Micro Hei"/>
              </a:rPr>
              <a:t>以患者为中心的服务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76475"/>
            <a:ext cx="3448050" cy="2647950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76475"/>
            <a:ext cx="3448050" cy="57150"/>
          </a:xfrm>
          <a:prstGeom prst="rect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925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4448"/>
                </a:solidFill>
                <a:latin typeface="WenQuanYi Micro Hei"/>
                <a:ea typeface="WenQuanYi Micro Hei"/>
              </a:rPr>
              <a:t>患者需求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4448"/>
                </a:solidFill>
                <a:latin typeface="WenQuanYi Micro Hei"/>
                <a:ea typeface="WenQuanYi Micro Hei"/>
              </a:rPr>
              <a:t>识别患者人群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4448"/>
                </a:solidFill>
                <a:latin typeface="WenQuanYi Micro Hei"/>
                <a:ea typeface="WenQuanYi Micro Hei"/>
              </a:rPr>
              <a:t>与就医需求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8985"/>
                </a:solidFill>
                <a:latin typeface="WenQuanYi Micro Hei"/>
                <a:ea typeface="WenQuanYi Micro Hei"/>
              </a:rPr>
              <a:t>优先事项 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1975" y="2276475"/>
            <a:ext cx="3448050" cy="2647950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1975" y="2276475"/>
            <a:ext cx="3448050" cy="57150"/>
          </a:xfrm>
          <a:prstGeom prst="rect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0100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4448"/>
                </a:solidFill>
                <a:latin typeface="WenQuanYi Micro Hei"/>
                <a:ea typeface="WenQuanYi Micro Hei"/>
              </a:rPr>
              <a:t>服务能力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4448"/>
                </a:solidFill>
                <a:latin typeface="WenQuanYi Micro Hei"/>
                <a:ea typeface="WenQuanYi Micro Hei"/>
              </a:rPr>
              <a:t>梳理诊疗资源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4448"/>
                </a:solidFill>
                <a:latin typeface="WenQuanYi Micro Hei"/>
                <a:ea typeface="WenQuanYi Micro Hei"/>
              </a:rPr>
              <a:t>与团队分工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8985"/>
                </a:solidFill>
                <a:latin typeface="WenQuanYi Micro Hei"/>
                <a:ea typeface="WenQuanYi Micro Hei"/>
              </a:rPr>
              <a:t>优先事项 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8150" y="2276475"/>
            <a:ext cx="3448050" cy="2647950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8150" y="2276475"/>
            <a:ext cx="3448050" cy="57150"/>
          </a:xfrm>
          <a:prstGeom prst="rect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6274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4448"/>
                </a:solidFill>
                <a:latin typeface="WenQuanYi Micro Hei"/>
                <a:ea typeface="WenQuanYi Micro Hei"/>
              </a:rPr>
              <a:t>健康结果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6274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4448"/>
                </a:solidFill>
                <a:latin typeface="WenQuanYi Micro Hei"/>
                <a:ea typeface="WenQuanYi Micro Hei"/>
              </a:rPr>
              <a:t>明确质量与体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4448"/>
                </a:solidFill>
                <a:latin typeface="WenQuanYi Micro Hei"/>
                <a:ea typeface="WenQuanYi Micro Hei"/>
              </a:rPr>
              <a:t>验评价方式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274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8985"/>
                </a:solidFill>
                <a:latin typeface="WenQuanYi Micro Hei"/>
                <a:ea typeface="WenQuanYi Micro Hei"/>
              </a:rPr>
              <a:t>优先事项 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191125"/>
            <a:ext cx="10820400" cy="466724"/>
          </a:xfrm>
          <a:prstGeom prst="rect">
            <a:avLst/>
          </a:prstGeom>
          <a:solidFill>
            <a:srgbClr val="1744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5350" y="5248275"/>
            <a:ext cx="104013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FFFFF"/>
                </a:solidFill>
                <a:latin typeface="WenQuanYi Micro Hei"/>
                <a:ea typeface="WenQuanYi Micro Hei"/>
              </a:rPr>
              <a:t>共同基础：目标一致  ·  资源协同  ·  定期复盘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9F7F3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4448"/>
                </a:solidFill>
                <a:latin typeface="WenQuanYi Micro Hei"/>
                <a:ea typeface="WenQuanYi Micro Hei"/>
              </a:rPr>
              <a:t>OPEN OFFICE  /  医疗健康·服务规划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4448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" y="714375"/>
            <a:ext cx="10744200" cy="5429250"/>
          </a:xfrm>
          <a:prstGeom prst="rect">
            <a:avLst/>
          </a:prstGeom>
          <a:noFill/>
          <a:ln w="19050">
            <a:solidFill>
              <a:srgbClr val="1689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57850" y="1685925"/>
            <a:ext cx="876300" cy="66675"/>
          </a:xfrm>
          <a:prstGeom prst="rect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33500" y="2619375"/>
            <a:ext cx="9525000" cy="13601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5"/>
              </a:lnSpc>
              <a:spcBef>
                <a:spcPts val="0"/>
              </a:spcBef>
              <a:spcAft>
                <a:spcPts val="0"/>
              </a:spcAft>
            </a:pPr>
            <a:r>
              <a:rPr sz="6300" b="0">
                <a:solidFill>
                  <a:srgbClr val="174448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905249"/>
            <a:ext cx="9525000" cy="4210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4448"/>
                </a:solidFill>
                <a:latin typeface="WenQuanYi Micro Hei"/>
                <a:ea typeface="WenQuanYi Micro Hei"/>
              </a:rPr>
              <a:t>专业有温度，服务有回响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5114925"/>
            <a:ext cx="9525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68985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医疗健康·服务规划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