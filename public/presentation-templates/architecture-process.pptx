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2000" cy="68580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C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2305050"/>
          </a:xfrm>
          <a:prstGeom prst="rect">
            <a:avLst/>
          </a:prstGeom>
          <a:solidFill>
            <a:srgbClr val="4D444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" y="2200275"/>
            <a:ext cx="685800" cy="104775"/>
          </a:xfrm>
          <a:prstGeom prst="rect">
            <a:avLst/>
          </a:prstGeom>
          <a:solidFill>
            <a:srgbClr val="9C796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676275"/>
            <a:ext cx="10477500" cy="84201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5265"/>
              </a:lnSpc>
              <a:spcBef>
                <a:spcPts val="0"/>
              </a:spcBef>
              <a:spcAft>
                <a:spcPts val="0"/>
              </a:spcAft>
            </a:pPr>
            <a:r>
              <a:rPr sz="3900" b="1">
                <a:solidFill>
                  <a:srgbClr val="FFFFFF"/>
                </a:solidFill>
                <a:latin typeface="WenQuanYi Micro Hei"/>
                <a:ea typeface="WenQuanYi Micro Hei"/>
              </a:rPr>
              <a:t>建筑空间·施工组织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3900" y="2924175"/>
            <a:ext cx="6953250" cy="46958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sz="2175" b="1">
                <a:solidFill>
                  <a:srgbClr val="4D4440"/>
                </a:solidFill>
                <a:latin typeface="WenQuanYi Micro Hei"/>
                <a:ea typeface="WenQuanYi Micro Hei"/>
              </a:rPr>
              <a:t>让设计与施工有效协同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3425" y="3781425"/>
            <a:ext cx="6191250" cy="3590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227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9C7967"/>
                </a:solidFill>
                <a:latin typeface="WenQuanYi Micro Hei"/>
                <a:ea typeface="WenQuanYi Micro Hei"/>
              </a:rPr>
              <a:t>01  场地研究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3425" y="4210050"/>
            <a:ext cx="6191250" cy="3590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227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9C7967"/>
                </a:solidFill>
                <a:latin typeface="WenQuanYi Micro Hei"/>
                <a:ea typeface="WenQuanYi Micro Hei"/>
              </a:rPr>
              <a:t>02  空间策略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3425" y="4638675"/>
            <a:ext cx="6191250" cy="3590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227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9C7967"/>
                </a:solidFill>
                <a:latin typeface="WenQuanYi Micro Hei"/>
                <a:ea typeface="WenQuanYi Micro Hei"/>
              </a:rPr>
              <a:t>03  实施路径</a:t>
            </a:r>
          </a:p>
        </p:txBody>
      </p:sp>
      <p:sp>
        <p:nvSpPr>
          <p:cNvPr id="10" name="Rectangle 9"/>
          <p:cNvSpPr/>
          <p:nvPr/>
        </p:nvSpPr>
        <p:spPr>
          <a:xfrm>
            <a:off x="8814911" y="3896486"/>
            <a:ext cx="577215" cy="1298733"/>
          </a:xfrm>
          <a:prstGeom prst="rect">
            <a:avLst/>
          </a:prstGeom>
          <a:solidFill>
            <a:srgbClr val="F5EFEB"/>
          </a:solidFill>
          <a:ln w="19050">
            <a:solidFill>
              <a:srgbClr val="9C796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8915923" y="4185094"/>
            <a:ext cx="375190" cy="0"/>
          </a:xfrm>
          <a:prstGeom prst="line">
            <a:avLst/>
          </a:prstGeom>
          <a:ln w="9525">
            <a:solidFill>
              <a:srgbClr val="9C7967"/>
            </a:solidFill>
          </a:ln>
          <a:effectLst/>
        </p:spPr>
      </p:cxnSp>
      <p:cxnSp>
        <p:nvCxnSpPr>
          <p:cNvPr id="12" name="Connector 11"/>
          <p:cNvCxnSpPr/>
          <p:nvPr/>
        </p:nvCxnSpPr>
        <p:spPr>
          <a:xfrm>
            <a:off x="8915923" y="4473701"/>
            <a:ext cx="375190" cy="0"/>
          </a:xfrm>
          <a:prstGeom prst="line">
            <a:avLst/>
          </a:prstGeom>
          <a:ln w="9525">
            <a:solidFill>
              <a:srgbClr val="9C7967"/>
            </a:solidFill>
          </a:ln>
          <a:effectLst/>
        </p:spPr>
      </p:cxnSp>
      <p:cxnSp>
        <p:nvCxnSpPr>
          <p:cNvPr id="13" name="Connector 12"/>
          <p:cNvCxnSpPr/>
          <p:nvPr/>
        </p:nvCxnSpPr>
        <p:spPr>
          <a:xfrm>
            <a:off x="8915923" y="4762309"/>
            <a:ext cx="375190" cy="0"/>
          </a:xfrm>
          <a:prstGeom prst="line">
            <a:avLst/>
          </a:prstGeom>
          <a:ln w="9525">
            <a:solidFill>
              <a:srgbClr val="9C7967"/>
            </a:solidFill>
          </a:ln>
          <a:effectLst/>
        </p:spPr>
      </p:cxnSp>
      <p:sp>
        <p:nvSpPr>
          <p:cNvPr id="14" name="Rectangle 13"/>
          <p:cNvSpPr/>
          <p:nvPr/>
        </p:nvSpPr>
        <p:spPr>
          <a:xfrm>
            <a:off x="9507569" y="3319272"/>
            <a:ext cx="663797" cy="1875948"/>
          </a:xfrm>
          <a:prstGeom prst="rect">
            <a:avLst/>
          </a:prstGeom>
          <a:solidFill>
            <a:srgbClr val="F5EFEB"/>
          </a:solidFill>
          <a:ln w="19050">
            <a:solidFill>
              <a:srgbClr val="9C796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>
            <a:off x="9608581" y="3607879"/>
            <a:ext cx="461772" cy="0"/>
          </a:xfrm>
          <a:prstGeom prst="line">
            <a:avLst/>
          </a:prstGeom>
          <a:ln w="9525">
            <a:solidFill>
              <a:srgbClr val="9C7967"/>
            </a:solidFill>
          </a:ln>
          <a:effectLst/>
        </p:spPr>
      </p:cxnSp>
      <p:cxnSp>
        <p:nvCxnSpPr>
          <p:cNvPr id="16" name="Connector 15"/>
          <p:cNvCxnSpPr/>
          <p:nvPr/>
        </p:nvCxnSpPr>
        <p:spPr>
          <a:xfrm>
            <a:off x="9608581" y="3896486"/>
            <a:ext cx="461772" cy="0"/>
          </a:xfrm>
          <a:prstGeom prst="line">
            <a:avLst/>
          </a:prstGeom>
          <a:ln w="9525">
            <a:solidFill>
              <a:srgbClr val="9C7967"/>
            </a:solidFill>
          </a:ln>
          <a:effectLst/>
        </p:spPr>
      </p:cxnSp>
      <p:cxnSp>
        <p:nvCxnSpPr>
          <p:cNvPr id="17" name="Connector 16"/>
          <p:cNvCxnSpPr/>
          <p:nvPr/>
        </p:nvCxnSpPr>
        <p:spPr>
          <a:xfrm>
            <a:off x="9608581" y="4185094"/>
            <a:ext cx="461772" cy="0"/>
          </a:xfrm>
          <a:prstGeom prst="line">
            <a:avLst/>
          </a:prstGeom>
          <a:ln w="9525">
            <a:solidFill>
              <a:srgbClr val="9C7967"/>
            </a:solidFill>
          </a:ln>
          <a:effectLst/>
        </p:spPr>
      </p:cxnSp>
      <p:sp>
        <p:nvSpPr>
          <p:cNvPr id="18" name="Rectangle 17"/>
          <p:cNvSpPr/>
          <p:nvPr/>
        </p:nvSpPr>
        <p:spPr>
          <a:xfrm>
            <a:off x="10315670" y="4185094"/>
            <a:ext cx="519493" cy="1010126"/>
          </a:xfrm>
          <a:prstGeom prst="rect">
            <a:avLst/>
          </a:prstGeom>
          <a:solidFill>
            <a:srgbClr val="F5EFEB"/>
          </a:solidFill>
          <a:ln w="19050">
            <a:solidFill>
              <a:srgbClr val="9C796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>
            <a:off x="10416682" y="4473702"/>
            <a:ext cx="317469" cy="0"/>
          </a:xfrm>
          <a:prstGeom prst="line">
            <a:avLst/>
          </a:prstGeom>
          <a:ln w="9525">
            <a:solidFill>
              <a:srgbClr val="9C7967"/>
            </a:solidFill>
          </a:ln>
          <a:effectLst/>
        </p:spPr>
      </p:cxnSp>
      <p:cxnSp>
        <p:nvCxnSpPr>
          <p:cNvPr id="20" name="Connector 19"/>
          <p:cNvCxnSpPr/>
          <p:nvPr/>
        </p:nvCxnSpPr>
        <p:spPr>
          <a:xfrm>
            <a:off x="10416682" y="4762309"/>
            <a:ext cx="317469" cy="0"/>
          </a:xfrm>
          <a:prstGeom prst="line">
            <a:avLst/>
          </a:prstGeom>
          <a:ln w="9525">
            <a:solidFill>
              <a:srgbClr val="9C7967"/>
            </a:solidFill>
          </a:ln>
          <a:effectLst/>
        </p:spPr>
      </p:cxnSp>
      <p:cxnSp>
        <p:nvCxnSpPr>
          <p:cNvPr id="21" name="Connector 20"/>
          <p:cNvCxnSpPr/>
          <p:nvPr/>
        </p:nvCxnSpPr>
        <p:spPr>
          <a:xfrm>
            <a:off x="10416682" y="5050917"/>
            <a:ext cx="317469" cy="0"/>
          </a:xfrm>
          <a:prstGeom prst="line">
            <a:avLst/>
          </a:prstGeom>
          <a:ln w="9525">
            <a:solidFill>
              <a:srgbClr val="9C7967"/>
            </a:solidFill>
          </a:ln>
          <a:effectLst/>
        </p:spPr>
      </p:cxnSp>
      <p:cxnSp>
        <p:nvCxnSpPr>
          <p:cNvPr id="22" name="Connector 21"/>
          <p:cNvCxnSpPr/>
          <p:nvPr/>
        </p:nvCxnSpPr>
        <p:spPr>
          <a:xfrm>
            <a:off x="8555164" y="5483828"/>
            <a:ext cx="2539746" cy="0"/>
          </a:xfrm>
          <a:prstGeom prst="line">
            <a:avLst/>
          </a:prstGeom>
          <a:ln w="19050">
            <a:solidFill>
              <a:srgbClr val="4D4440"/>
            </a:solidFill>
          </a:ln>
          <a:effectLst/>
        </p:spPr>
      </p:cxnSp>
      <p:cxnSp>
        <p:nvCxnSpPr>
          <p:cNvPr id="23" name="Connector 22"/>
          <p:cNvCxnSpPr/>
          <p:nvPr/>
        </p:nvCxnSpPr>
        <p:spPr>
          <a:xfrm>
            <a:off x="8555164" y="5368385"/>
            <a:ext cx="0" cy="230886"/>
          </a:xfrm>
          <a:prstGeom prst="line">
            <a:avLst/>
          </a:prstGeom>
          <a:ln w="19050">
            <a:solidFill>
              <a:srgbClr val="4D4440"/>
            </a:solidFill>
          </a:ln>
          <a:effectLst/>
        </p:spPr>
      </p:cxnSp>
      <p:cxnSp>
        <p:nvCxnSpPr>
          <p:cNvPr id="24" name="Connector 23"/>
          <p:cNvCxnSpPr/>
          <p:nvPr/>
        </p:nvCxnSpPr>
        <p:spPr>
          <a:xfrm>
            <a:off x="11094910" y="5368385"/>
            <a:ext cx="0" cy="230886"/>
          </a:xfrm>
          <a:prstGeom prst="line">
            <a:avLst/>
          </a:prstGeom>
          <a:ln w="19050">
            <a:solidFill>
              <a:srgbClr val="4D4440"/>
            </a:solidFill>
          </a:ln>
          <a:effectLst/>
        </p:spPr>
      </p:cxnSp>
      <p:sp>
        <p:nvSpPr>
          <p:cNvPr id="25" name="TextBox 24"/>
          <p:cNvSpPr txBox="1"/>
          <p:nvPr/>
        </p:nvSpPr>
        <p:spPr>
          <a:xfrm>
            <a:off x="723900" y="5610225"/>
            <a:ext cx="7620000" cy="3076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822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4D4440"/>
                </a:solidFill>
                <a:latin typeface="WenQuanYi Micro Hei"/>
                <a:ea typeface="WenQuanYi Micro Hei"/>
              </a:rPr>
              <a:t>汇报人：你的名字  /  日期：20XX.XX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C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71500"/>
            <a:ext cx="361950" cy="66675"/>
          </a:xfrm>
          <a:prstGeom prst="rect">
            <a:avLst/>
          </a:prstGeom>
          <a:solidFill>
            <a:srgbClr val="9C796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5375" y="571500"/>
            <a:ext cx="114300" cy="66675"/>
          </a:xfrm>
          <a:prstGeom prst="rect">
            <a:avLst/>
          </a:prstGeom>
          <a:solidFill>
            <a:srgbClr val="4D444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876300"/>
            <a:ext cx="10820400" cy="69627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4353"/>
              </a:lnSpc>
              <a:spcBef>
                <a:spcPts val="0"/>
              </a:spcBef>
              <a:spcAft>
                <a:spcPts val="0"/>
              </a:spcAft>
            </a:pPr>
            <a:r>
              <a:rPr sz="3225" b="1">
                <a:solidFill>
                  <a:srgbClr val="4D4440"/>
                </a:solidFill>
                <a:latin typeface="WenQuanYi Micro Hei"/>
                <a:ea typeface="WenQuanYi Micro Hei"/>
              </a:rPr>
              <a:t>建筑空间 / 关键流程与协作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4375" y="1495425"/>
            <a:ext cx="10668000" cy="3462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4D4440"/>
                </a:solidFill>
                <a:latin typeface="WenQuanYi Micro Hei"/>
                <a:ea typeface="WenQuanYi Micro Hei"/>
              </a:rPr>
              <a:t>让设计与施工有效协同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162050" y="2543175"/>
            <a:ext cx="0" cy="2743200"/>
          </a:xfrm>
          <a:prstGeom prst="line">
            <a:avLst/>
          </a:prstGeom>
          <a:ln w="28575">
            <a:solidFill>
              <a:srgbClr val="9C7967"/>
            </a:solidFill>
          </a:ln>
          <a:effectLst/>
        </p:spPr>
      </p:cxnSp>
      <p:sp>
        <p:nvSpPr>
          <p:cNvPr id="8" name="Oval 7"/>
          <p:cNvSpPr/>
          <p:nvPr/>
        </p:nvSpPr>
        <p:spPr>
          <a:xfrm>
            <a:off x="876300" y="2409825"/>
            <a:ext cx="571500" cy="571500"/>
          </a:xfrm>
          <a:prstGeom prst="ellipse">
            <a:avLst/>
          </a:prstGeom>
          <a:solidFill>
            <a:srgbClr val="9C796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6300" y="2466975"/>
            <a:ext cx="571500" cy="37242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328"/>
              </a:lnSpc>
              <a:spcBef>
                <a:spcPts val="0"/>
              </a:spcBef>
              <a:spcAft>
                <a:spcPts val="0"/>
              </a:spcAft>
            </a:pPr>
            <a:r>
              <a:rPr sz="1725" b="1">
                <a:solidFill>
                  <a:srgbClr val="FFFFFF"/>
                </a:solidFill>
                <a:latin typeface="WenQuanYi Micro Hei"/>
                <a:ea typeface="WenQuanYi Micro Hei"/>
              </a:rPr>
              <a:t>01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09750" y="2238375"/>
            <a:ext cx="9696450" cy="990599"/>
          </a:xfrm>
          <a:prstGeom prst="rect">
            <a:avLst/>
          </a:prstGeom>
          <a:solidFill>
            <a:srgbClr val="F5EF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76450" y="2409825"/>
            <a:ext cx="2867025" cy="4371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733"/>
              </a:lnSpc>
              <a:spcBef>
                <a:spcPts val="0"/>
              </a:spcBef>
              <a:spcAft>
                <a:spcPts val="0"/>
              </a:spcAft>
            </a:pPr>
            <a:r>
              <a:rPr sz="2025" b="1">
                <a:solidFill>
                  <a:srgbClr val="4D4440"/>
                </a:solidFill>
                <a:latin typeface="WenQuanYi Micro Hei"/>
                <a:ea typeface="WenQuanYi Micro Hei"/>
              </a:rPr>
              <a:t>场地勘察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62575" y="2419350"/>
            <a:ext cx="5800725" cy="33337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25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4D4440"/>
                </a:solidFill>
                <a:latin typeface="WenQuanYi Micro Hei"/>
                <a:ea typeface="WenQuanYi Micro Hei"/>
              </a:rPr>
              <a:t>责任角色：待填写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62575" y="2752725"/>
            <a:ext cx="5800725" cy="33337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25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4D4440"/>
                </a:solidFill>
                <a:latin typeface="WenQuanYi Micro Hei"/>
                <a:ea typeface="WenQuanYi Micro Hei"/>
              </a:rPr>
              <a:t>输入材料 → 执行动作 → 交付标准</a:t>
            </a:r>
          </a:p>
        </p:txBody>
      </p:sp>
      <p:sp>
        <p:nvSpPr>
          <p:cNvPr id="14" name="Oval 13"/>
          <p:cNvSpPr/>
          <p:nvPr/>
        </p:nvSpPr>
        <p:spPr>
          <a:xfrm>
            <a:off x="876300" y="3600450"/>
            <a:ext cx="571500" cy="571500"/>
          </a:xfrm>
          <a:prstGeom prst="ellipse">
            <a:avLst/>
          </a:prstGeom>
          <a:solidFill>
            <a:srgbClr val="9C796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76300" y="3657600"/>
            <a:ext cx="571500" cy="37242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328"/>
              </a:lnSpc>
              <a:spcBef>
                <a:spcPts val="0"/>
              </a:spcBef>
              <a:spcAft>
                <a:spcPts val="0"/>
              </a:spcAft>
            </a:pPr>
            <a:r>
              <a:rPr sz="1725" b="1">
                <a:solidFill>
                  <a:srgbClr val="FFFFFF"/>
                </a:solidFill>
                <a:latin typeface="WenQuanYi Micro Hei"/>
                <a:ea typeface="WenQuanYi Micro Hei"/>
              </a:rPr>
              <a:t>02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09750" y="3429000"/>
            <a:ext cx="9696450" cy="990599"/>
          </a:xfrm>
          <a:prstGeom prst="rect">
            <a:avLst/>
          </a:prstGeom>
          <a:solidFill>
            <a:srgbClr val="F5EF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076450" y="3600450"/>
            <a:ext cx="2867025" cy="4371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733"/>
              </a:lnSpc>
              <a:spcBef>
                <a:spcPts val="0"/>
              </a:spcBef>
              <a:spcAft>
                <a:spcPts val="0"/>
              </a:spcAft>
            </a:pPr>
            <a:r>
              <a:rPr sz="2025" b="1">
                <a:solidFill>
                  <a:srgbClr val="4D4440"/>
                </a:solidFill>
                <a:latin typeface="WenQuanYi Micro Hei"/>
                <a:ea typeface="WenQuanYi Micro Hei"/>
              </a:rPr>
              <a:t>设计深化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62575" y="3609975"/>
            <a:ext cx="5800725" cy="33337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25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4D4440"/>
                </a:solidFill>
                <a:latin typeface="WenQuanYi Micro Hei"/>
                <a:ea typeface="WenQuanYi Micro Hei"/>
              </a:rPr>
              <a:t>责任角色：待填写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62575" y="3943350"/>
            <a:ext cx="5800725" cy="33337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25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4D4440"/>
                </a:solidFill>
                <a:latin typeface="WenQuanYi Micro Hei"/>
                <a:ea typeface="WenQuanYi Micro Hei"/>
              </a:rPr>
              <a:t>输入材料 → 执行动作 → 交付标准</a:t>
            </a:r>
          </a:p>
        </p:txBody>
      </p:sp>
      <p:sp>
        <p:nvSpPr>
          <p:cNvPr id="20" name="Oval 19"/>
          <p:cNvSpPr/>
          <p:nvPr/>
        </p:nvSpPr>
        <p:spPr>
          <a:xfrm>
            <a:off x="876300" y="4791075"/>
            <a:ext cx="571500" cy="571500"/>
          </a:xfrm>
          <a:prstGeom prst="ellipse">
            <a:avLst/>
          </a:prstGeom>
          <a:solidFill>
            <a:srgbClr val="9C796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6300" y="4848225"/>
            <a:ext cx="571500" cy="37242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328"/>
              </a:lnSpc>
              <a:spcBef>
                <a:spcPts val="0"/>
              </a:spcBef>
              <a:spcAft>
                <a:spcPts val="0"/>
              </a:spcAft>
            </a:pPr>
            <a:r>
              <a:rPr sz="1725" b="1">
                <a:solidFill>
                  <a:srgbClr val="FFFFFF"/>
                </a:solidFill>
                <a:latin typeface="WenQuanYi Micro Hei"/>
                <a:ea typeface="WenQuanYi Micro Hei"/>
              </a:rPr>
              <a:t>03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09750" y="4619625"/>
            <a:ext cx="9696450" cy="990599"/>
          </a:xfrm>
          <a:prstGeom prst="rect">
            <a:avLst/>
          </a:prstGeom>
          <a:solidFill>
            <a:srgbClr val="F5EF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076450" y="4791075"/>
            <a:ext cx="2867025" cy="4371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733"/>
              </a:lnSpc>
              <a:spcBef>
                <a:spcPts val="0"/>
              </a:spcBef>
              <a:spcAft>
                <a:spcPts val="0"/>
              </a:spcAft>
            </a:pPr>
            <a:r>
              <a:rPr sz="2025" b="1">
                <a:solidFill>
                  <a:srgbClr val="4D4440"/>
                </a:solidFill>
                <a:latin typeface="WenQuanYi Micro Hei"/>
                <a:ea typeface="WenQuanYi Micro Hei"/>
              </a:rPr>
              <a:t>施工交付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62575" y="4800600"/>
            <a:ext cx="5800725" cy="33337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25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4D4440"/>
                </a:solidFill>
                <a:latin typeface="WenQuanYi Micro Hei"/>
                <a:ea typeface="WenQuanYi Micro Hei"/>
              </a:rPr>
              <a:t>责任角色：待填写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62575" y="5133975"/>
            <a:ext cx="5800725" cy="33337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25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4D4440"/>
                </a:solidFill>
                <a:latin typeface="WenQuanYi Micro Hei"/>
                <a:ea typeface="WenQuanYi Micro Hei"/>
              </a:rPr>
              <a:t>输入材料 → 执行动作 → 交付标准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85800" y="6200775"/>
            <a:ext cx="10820400" cy="0"/>
          </a:xfrm>
          <a:prstGeom prst="line">
            <a:avLst/>
          </a:prstGeom>
          <a:ln w="9525">
            <a:solidFill>
              <a:srgbClr val="F5EFEB"/>
            </a:solidFill>
          </a:ln>
          <a:effectLst/>
        </p:spPr>
      </p:cxnSp>
      <p:sp>
        <p:nvSpPr>
          <p:cNvPr id="27" name="TextBox 26"/>
          <p:cNvSpPr txBox="1"/>
          <p:nvPr/>
        </p:nvSpPr>
        <p:spPr>
          <a:xfrm>
            <a:off x="685800" y="6334125"/>
            <a:ext cx="7620000" cy="2305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D4440"/>
                </a:solidFill>
                <a:latin typeface="WenQuanYi Micro Hei"/>
                <a:ea typeface="WenQuanYi Micro Hei"/>
              </a:rPr>
              <a:t>OPEN OFFICE  /  建筑空间·施工组织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39450" y="6334125"/>
            <a:ext cx="666750" cy="2305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D4440"/>
                </a:solidFill>
                <a:latin typeface="WenQuanYi Micro Hei"/>
                <a:ea typeface="WenQuanYi Micro Hei"/>
              </a:rPr>
              <a:t>02 / 03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C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D444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38125" cy="6858000"/>
          </a:xfrm>
          <a:prstGeom prst="rect">
            <a:avLst/>
          </a:prstGeom>
          <a:solidFill>
            <a:srgbClr val="9C796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01137" y="1809750"/>
            <a:ext cx="476250" cy="1071562"/>
          </a:xfrm>
          <a:prstGeom prst="rect">
            <a:avLst/>
          </a:prstGeom>
          <a:solidFill>
            <a:srgbClr val="F5EFEB"/>
          </a:solidFill>
          <a:ln w="19050">
            <a:solidFill>
              <a:srgbClr val="9C796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9184481" y="2047875"/>
            <a:ext cx="309562" cy="0"/>
          </a:xfrm>
          <a:prstGeom prst="line">
            <a:avLst/>
          </a:prstGeom>
          <a:ln w="9525">
            <a:solidFill>
              <a:srgbClr val="9C7967"/>
            </a:solidFill>
          </a:ln>
          <a:effectLst/>
        </p:spPr>
      </p:cxnSp>
      <p:cxnSp>
        <p:nvCxnSpPr>
          <p:cNvPr id="7" name="Connector 6"/>
          <p:cNvCxnSpPr/>
          <p:nvPr/>
        </p:nvCxnSpPr>
        <p:spPr>
          <a:xfrm>
            <a:off x="9184481" y="2285999"/>
            <a:ext cx="309562" cy="0"/>
          </a:xfrm>
          <a:prstGeom prst="line">
            <a:avLst/>
          </a:prstGeom>
          <a:ln w="9525">
            <a:solidFill>
              <a:srgbClr val="9C7967"/>
            </a:solidFill>
          </a:ln>
          <a:effectLst/>
        </p:spPr>
      </p:cxnSp>
      <p:cxnSp>
        <p:nvCxnSpPr>
          <p:cNvPr id="8" name="Connector 7"/>
          <p:cNvCxnSpPr/>
          <p:nvPr/>
        </p:nvCxnSpPr>
        <p:spPr>
          <a:xfrm>
            <a:off x="9184481" y="2524125"/>
            <a:ext cx="309562" cy="0"/>
          </a:xfrm>
          <a:prstGeom prst="line">
            <a:avLst/>
          </a:prstGeom>
          <a:ln w="9525">
            <a:solidFill>
              <a:srgbClr val="9C7967"/>
            </a:solidFill>
          </a:ln>
          <a:effectLst/>
        </p:spPr>
      </p:cxnSp>
      <p:sp>
        <p:nvSpPr>
          <p:cNvPr id="9" name="Rectangle 8"/>
          <p:cNvSpPr/>
          <p:nvPr/>
        </p:nvSpPr>
        <p:spPr>
          <a:xfrm>
            <a:off x="9672637" y="1333500"/>
            <a:ext cx="547687" cy="1547812"/>
          </a:xfrm>
          <a:prstGeom prst="rect">
            <a:avLst/>
          </a:prstGeom>
          <a:solidFill>
            <a:srgbClr val="F5EFEB"/>
          </a:solidFill>
          <a:ln w="19050">
            <a:solidFill>
              <a:srgbClr val="9C796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9755981" y="1571625"/>
            <a:ext cx="381000" cy="0"/>
          </a:xfrm>
          <a:prstGeom prst="line">
            <a:avLst/>
          </a:prstGeom>
          <a:ln w="9525">
            <a:solidFill>
              <a:srgbClr val="9C7967"/>
            </a:solidFill>
          </a:ln>
          <a:effectLst/>
        </p:spPr>
      </p:cxnSp>
      <p:cxnSp>
        <p:nvCxnSpPr>
          <p:cNvPr id="11" name="Connector 10"/>
          <p:cNvCxnSpPr/>
          <p:nvPr/>
        </p:nvCxnSpPr>
        <p:spPr>
          <a:xfrm>
            <a:off x="9755981" y="1809750"/>
            <a:ext cx="381000" cy="0"/>
          </a:xfrm>
          <a:prstGeom prst="line">
            <a:avLst/>
          </a:prstGeom>
          <a:ln w="9525">
            <a:solidFill>
              <a:srgbClr val="9C7967"/>
            </a:solidFill>
          </a:ln>
          <a:effectLst/>
        </p:spPr>
      </p:cxnSp>
      <p:cxnSp>
        <p:nvCxnSpPr>
          <p:cNvPr id="12" name="Connector 11"/>
          <p:cNvCxnSpPr/>
          <p:nvPr/>
        </p:nvCxnSpPr>
        <p:spPr>
          <a:xfrm>
            <a:off x="9755981" y="2047875"/>
            <a:ext cx="381000" cy="0"/>
          </a:xfrm>
          <a:prstGeom prst="line">
            <a:avLst/>
          </a:prstGeom>
          <a:ln w="9525">
            <a:solidFill>
              <a:srgbClr val="9C7967"/>
            </a:solidFill>
          </a:ln>
          <a:effectLst/>
        </p:spPr>
      </p:cxnSp>
      <p:sp>
        <p:nvSpPr>
          <p:cNvPr id="13" name="Rectangle 12"/>
          <p:cNvSpPr/>
          <p:nvPr/>
        </p:nvSpPr>
        <p:spPr>
          <a:xfrm>
            <a:off x="10339387" y="2047875"/>
            <a:ext cx="428625" cy="833437"/>
          </a:xfrm>
          <a:prstGeom prst="rect">
            <a:avLst/>
          </a:prstGeom>
          <a:solidFill>
            <a:srgbClr val="F5EFEB"/>
          </a:solidFill>
          <a:ln w="19050">
            <a:solidFill>
              <a:srgbClr val="9C796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4" name="Connector 13"/>
          <p:cNvCxnSpPr/>
          <p:nvPr/>
        </p:nvCxnSpPr>
        <p:spPr>
          <a:xfrm>
            <a:off x="10422731" y="2286000"/>
            <a:ext cx="261937" cy="0"/>
          </a:xfrm>
          <a:prstGeom prst="line">
            <a:avLst/>
          </a:prstGeom>
          <a:ln w="9525">
            <a:solidFill>
              <a:srgbClr val="9C7967"/>
            </a:solidFill>
          </a:ln>
          <a:effectLst/>
        </p:spPr>
      </p:cxnSp>
      <p:cxnSp>
        <p:nvCxnSpPr>
          <p:cNvPr id="15" name="Connector 14"/>
          <p:cNvCxnSpPr/>
          <p:nvPr/>
        </p:nvCxnSpPr>
        <p:spPr>
          <a:xfrm>
            <a:off x="10422731" y="2524125"/>
            <a:ext cx="261937" cy="0"/>
          </a:xfrm>
          <a:prstGeom prst="line">
            <a:avLst/>
          </a:prstGeom>
          <a:ln w="9525">
            <a:solidFill>
              <a:srgbClr val="9C7967"/>
            </a:solidFill>
          </a:ln>
          <a:effectLst/>
        </p:spPr>
      </p:cxnSp>
      <p:cxnSp>
        <p:nvCxnSpPr>
          <p:cNvPr id="16" name="Connector 15"/>
          <p:cNvCxnSpPr/>
          <p:nvPr/>
        </p:nvCxnSpPr>
        <p:spPr>
          <a:xfrm>
            <a:off x="10422731" y="2762250"/>
            <a:ext cx="261937" cy="0"/>
          </a:xfrm>
          <a:prstGeom prst="line">
            <a:avLst/>
          </a:prstGeom>
          <a:ln w="9525">
            <a:solidFill>
              <a:srgbClr val="9C7967"/>
            </a:solidFill>
          </a:ln>
          <a:effectLst/>
        </p:spPr>
      </p:cxnSp>
      <p:cxnSp>
        <p:nvCxnSpPr>
          <p:cNvPr id="17" name="Connector 16"/>
          <p:cNvCxnSpPr/>
          <p:nvPr/>
        </p:nvCxnSpPr>
        <p:spPr>
          <a:xfrm>
            <a:off x="8886825" y="3119437"/>
            <a:ext cx="2095500" cy="0"/>
          </a:xfrm>
          <a:prstGeom prst="line">
            <a:avLst/>
          </a:prstGeom>
          <a:ln w="19050">
            <a:solidFill>
              <a:srgbClr val="F5EFEB"/>
            </a:solidFill>
          </a:ln>
          <a:effectLst/>
        </p:spPr>
      </p:cxnSp>
      <p:cxnSp>
        <p:nvCxnSpPr>
          <p:cNvPr id="18" name="Connector 17"/>
          <p:cNvCxnSpPr/>
          <p:nvPr/>
        </p:nvCxnSpPr>
        <p:spPr>
          <a:xfrm>
            <a:off x="8886825" y="3024187"/>
            <a:ext cx="0" cy="190500"/>
          </a:xfrm>
          <a:prstGeom prst="line">
            <a:avLst/>
          </a:prstGeom>
          <a:ln w="19050">
            <a:solidFill>
              <a:srgbClr val="F5EFEB"/>
            </a:solidFill>
          </a:ln>
          <a:effectLst/>
        </p:spPr>
      </p:cxnSp>
      <p:cxnSp>
        <p:nvCxnSpPr>
          <p:cNvPr id="19" name="Connector 18"/>
          <p:cNvCxnSpPr/>
          <p:nvPr/>
        </p:nvCxnSpPr>
        <p:spPr>
          <a:xfrm>
            <a:off x="10982325" y="3024187"/>
            <a:ext cx="0" cy="190500"/>
          </a:xfrm>
          <a:prstGeom prst="line">
            <a:avLst/>
          </a:prstGeom>
          <a:ln w="19050">
            <a:solidFill>
              <a:srgbClr val="F5EFEB"/>
            </a:solidFill>
          </a:ln>
          <a:effectLst/>
        </p:spPr>
      </p:cxnSp>
      <p:sp>
        <p:nvSpPr>
          <p:cNvPr id="20" name="TextBox 19"/>
          <p:cNvSpPr txBox="1"/>
          <p:nvPr/>
        </p:nvSpPr>
        <p:spPr>
          <a:xfrm>
            <a:off x="762000" y="2486025"/>
            <a:ext cx="10668000" cy="14249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8910"/>
              </a:lnSpc>
              <a:spcBef>
                <a:spcPts val="0"/>
              </a:spcBef>
              <a:spcAft>
                <a:spcPts val="0"/>
              </a:spcAft>
            </a:pPr>
            <a:r>
              <a:rPr sz="6600" b="1">
                <a:solidFill>
                  <a:srgbClr val="FFFFFF"/>
                </a:solidFill>
                <a:latin typeface="WenQuanYi Micro Hei"/>
                <a:ea typeface="WenQuanYi Micro Hei"/>
              </a:rPr>
              <a:t>Open Office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9625" y="3848099"/>
            <a:ext cx="10572750" cy="4371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733"/>
              </a:lnSpc>
              <a:spcBef>
                <a:spcPts val="0"/>
              </a:spcBef>
              <a:spcAft>
                <a:spcPts val="0"/>
              </a:spcAft>
            </a:pPr>
            <a:r>
              <a:rPr sz="2025" b="0">
                <a:solidFill>
                  <a:srgbClr val="F5EFEB"/>
                </a:solidFill>
                <a:latin typeface="WenQuanYi Micro Hei"/>
                <a:ea typeface="WenQuanYi Micro Hei"/>
              </a:rPr>
              <a:t>让每一处空间承载更好的生活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09625" y="4953000"/>
            <a:ext cx="10525125" cy="0"/>
          </a:xfrm>
          <a:prstGeom prst="line">
            <a:avLst/>
          </a:prstGeom>
          <a:ln w="19050">
            <a:solidFill>
              <a:srgbClr val="9C7967"/>
            </a:solidFill>
          </a:ln>
          <a:effectLst/>
        </p:spPr>
      </p:cxnSp>
      <p:sp>
        <p:nvSpPr>
          <p:cNvPr id="23" name="TextBox 22"/>
          <p:cNvSpPr txBox="1"/>
          <p:nvPr/>
        </p:nvSpPr>
        <p:spPr>
          <a:xfrm>
            <a:off x="809625" y="5324475"/>
            <a:ext cx="10477500" cy="3462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F5EFEB"/>
                </a:solidFill>
                <a:latin typeface="WenQuanYi Micro Hei"/>
                <a:ea typeface="WenQuanYi Micro Hei"/>
              </a:rPr>
              <a:t>谢谢观看  /  期待交流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pen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pen Office">
      <a:majorFont>
        <a:latin typeface="WenQuanYi Micro Hei"/>
        <a:ea typeface="WenQuanYi Micro Hei"/>
        <a:cs typeface="WenQuanYi Micro Hei"/>
        <a:font script="Jpan" typeface="WenQuanYi Micro Hei"/>
        <a:font script="Hang" typeface="WenQuanYi Micro Hei"/>
        <a:font script="Hans" typeface="WenQuanYi Micro Hei"/>
        <a:font script="Hant" typeface="WenQuanYi Micro Hei"/>
        <a:font script="Arab" typeface="WenQuanYi Micro Hei"/>
        <a:font script="Hebr" typeface="WenQuanYi Micro Hei"/>
        <a:font script="Thai" typeface="WenQuanYi Micro Hei"/>
        <a:font script="Ethi" typeface="WenQuanYi Micro Hei"/>
        <a:font script="Beng" typeface="WenQuanYi Micro Hei"/>
        <a:font script="Gujr" typeface="WenQuanYi Micro Hei"/>
        <a:font script="Khmr" typeface="WenQuanYi Micro Hei"/>
        <a:font script="Knda" typeface="WenQuanYi Micro Hei"/>
        <a:font script="Guru" typeface="WenQuanYi Micro Hei"/>
        <a:font script="Cans" typeface="WenQuanYi Micro Hei"/>
        <a:font script="Cher" typeface="WenQuanYi Micro Hei"/>
        <a:font script="Yiii" typeface="WenQuanYi Micro Hei"/>
        <a:font script="Tibt" typeface="WenQuanYi Micro Hei"/>
        <a:font script="Thaa" typeface="WenQuanYi Micro Hei"/>
        <a:font script="Deva" typeface="WenQuanYi Micro Hei"/>
        <a:font script="Telu" typeface="WenQuanYi Micro Hei"/>
        <a:font script="Taml" typeface="WenQuanYi Micro Hei"/>
        <a:font script="Syrc" typeface="WenQuanYi Micro Hei"/>
        <a:font script="Orya" typeface="WenQuanYi Micro Hei"/>
        <a:font script="Mlym" typeface="WenQuanYi Micro Hei"/>
        <a:font script="Laoo" typeface="WenQuanYi Micro Hei"/>
        <a:font script="Sinh" typeface="WenQuanYi Micro Hei"/>
        <a:font script="Mong" typeface="WenQuanYi Micro Hei"/>
        <a:font script="Viet" typeface="WenQuanYi Micro Hei"/>
        <a:font script="Uigh" typeface="WenQuanYi Micro Hei"/>
        <a:font script="Geor" typeface="WenQuanYi Micro Hei"/>
      </a:majorFont>
      <a:minorFont>
        <a:latin typeface="WenQuanYi Micro Hei"/>
        <a:ea typeface="WenQuanYi Micro Hei"/>
        <a:cs typeface="WenQuanYi Micro Hei"/>
        <a:font script="Jpan" typeface="WenQuanYi Micro Hei"/>
        <a:font script="Hang" typeface="WenQuanYi Micro Hei"/>
        <a:font script="Hans" typeface="WenQuanYi Micro Hei"/>
        <a:font script="Hant" typeface="WenQuanYi Micro Hei"/>
        <a:font script="Arab" typeface="WenQuanYi Micro Hei"/>
        <a:font script="Hebr" typeface="WenQuanYi Micro Hei"/>
        <a:font script="Thai" typeface="WenQuanYi Micro Hei"/>
        <a:font script="Ethi" typeface="WenQuanYi Micro Hei"/>
        <a:font script="Beng" typeface="WenQuanYi Micro Hei"/>
        <a:font script="Gujr" typeface="WenQuanYi Micro Hei"/>
        <a:font script="Khmr" typeface="WenQuanYi Micro Hei"/>
        <a:font script="Knda" typeface="WenQuanYi Micro Hei"/>
        <a:font script="Guru" typeface="WenQuanYi Micro Hei"/>
        <a:font script="Cans" typeface="WenQuanYi Micro Hei"/>
        <a:font script="Cher" typeface="WenQuanYi Micro Hei"/>
        <a:font script="Yiii" typeface="WenQuanYi Micro Hei"/>
        <a:font script="Tibt" typeface="WenQuanYi Micro Hei"/>
        <a:font script="Thaa" typeface="WenQuanYi Micro Hei"/>
        <a:font script="Deva" typeface="WenQuanYi Micro Hei"/>
        <a:font script="Telu" typeface="WenQuanYi Micro Hei"/>
        <a:font script="Taml" typeface="WenQuanYi Micro Hei"/>
        <a:font script="Syrc" typeface="WenQuanYi Micro Hei"/>
        <a:font script="Orya" typeface="WenQuanYi Micro Hei"/>
        <a:font script="Mlym" typeface="WenQuanYi Micro Hei"/>
        <a:font script="Laoo" typeface="WenQuanYi Micro Hei"/>
        <a:font script="Sinh" typeface="WenQuanYi Micro Hei"/>
        <a:font script="Mong" typeface="WenQuanYi Micro Hei"/>
        <a:font script="Viet" typeface="WenQuanYi Micro Hei"/>
        <a:font script="Uigh" typeface="WenQuanYi Micro Hei"/>
        <a:font script="Geor" typeface="WenQuanYi Micro Hei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Open Office</Application>
  <PresentationFormat>Widescreen</PresentationFormat>
  <Slides>3</Slides>
  <Notes>0</Notes>
  <HiddenSlides>0</HiddenSlides>
  <AppVersion>1.0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建筑空间·施工组织</dc:title>
  <dc:subject>Open Office 原创演示模板</dc:subject>
  <dc:creator>Open Office</dc:creator>
  <cp:keywords/>
  <dc:description>Original editable vector artwork; generated by generate-presentation-templates.py.</dc:description>
  <cp:lastModifiedBy>Open Office</cp:lastModifiedBy>
  <cp:revision>1</cp:revision>
  <dcterms:created xsi:type="dcterms:W3CDTF">2026-01-01T00:00:00Z</dcterms:created>
  <dcterms:modified xsi:type="dcterms:W3CDTF">2026-01-01T00:00:00Z</dcterms:modified>
  <cp:category/>
</cp:coreProperties>
</file>