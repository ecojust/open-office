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72450" y="962024"/>
            <a:ext cx="3333750" cy="4476750"/>
          </a:xfrm>
          <a:prstGeom prst="rect">
            <a:avLst/>
          </a:prstGeom>
          <a:solidFill>
            <a:srgbClr val="7C94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20100" y="1209675"/>
            <a:ext cx="2838450" cy="3981450"/>
          </a:xfrm>
          <a:prstGeom prst="rect">
            <a:avLst/>
          </a:prstGeom>
          <a:solidFill>
            <a:srgbClr val="F4F6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9793986" y="2223611"/>
            <a:ext cx="0" cy="1528095"/>
          </a:xfrm>
          <a:prstGeom prst="line">
            <a:avLst/>
          </a:prstGeom>
          <a:ln w="38100">
            <a:solidFill>
              <a:srgbClr val="7C9441"/>
            </a:solidFill>
          </a:ln>
          <a:effectLst/>
        </p:spPr>
      </p:cxnSp>
      <p:sp>
        <p:nvSpPr>
          <p:cNvPr id="6" name="Oval 5"/>
          <p:cNvSpPr/>
          <p:nvPr/>
        </p:nvSpPr>
        <p:spPr>
          <a:xfrm>
            <a:off x="9217818" y="2348865"/>
            <a:ext cx="501015" cy="27555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94189" y="2524220"/>
            <a:ext cx="501015" cy="27555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17818" y="2749677"/>
            <a:ext cx="501015" cy="27555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94189" y="2925032"/>
            <a:ext cx="501015" cy="27555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217818" y="3150489"/>
            <a:ext cx="501015" cy="27555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94189" y="3325844"/>
            <a:ext cx="501015" cy="27555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791956" y="3902011"/>
            <a:ext cx="2079212" cy="0"/>
          </a:xfrm>
          <a:prstGeom prst="line">
            <a:avLst/>
          </a:prstGeom>
          <a:ln w="19050">
            <a:solidFill>
              <a:srgbClr val="7C9441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8791956" y="4027265"/>
            <a:ext cx="2079212" cy="0"/>
          </a:xfrm>
          <a:prstGeom prst="line">
            <a:avLst/>
          </a:prstGeom>
          <a:ln w="19050">
            <a:solidFill>
              <a:srgbClr val="7C9441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8791956" y="4152519"/>
            <a:ext cx="2079212" cy="0"/>
          </a:xfrm>
          <a:prstGeom prst="line">
            <a:avLst/>
          </a:prstGeom>
          <a:ln w="19050">
            <a:solidFill>
              <a:srgbClr val="7C9441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685800" y="1333500"/>
            <a:ext cx="6838949" cy="0"/>
          </a:xfrm>
          <a:prstGeom prst="line">
            <a:avLst/>
          </a:prstGeom>
          <a:ln w="19050">
            <a:solidFill>
              <a:srgbClr val="7C9441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685800" y="1809750"/>
            <a:ext cx="7048500" cy="15935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973"/>
              </a:lnSpc>
              <a:spcBef>
                <a:spcPts val="0"/>
              </a:spcBef>
              <a:spcAft>
                <a:spcPts val="0"/>
              </a:spcAft>
            </a:pPr>
            <a:r>
              <a:rPr sz="4425" b="0">
                <a:solidFill>
                  <a:srgbClr val="3D4B27"/>
                </a:solidFill>
                <a:latin typeface="WenQuanYi Micro Hei"/>
                <a:ea typeface="WenQuanYi Micro Hei"/>
              </a:rPr>
              <a:t>农业食品</a:t>
            </a:r>
          </a:p>
          <a:p>
            <a:pPr algn="l">
              <a:lnSpc>
                <a:spcPts val="5973"/>
              </a:lnSpc>
              <a:spcBef>
                <a:spcPts val="0"/>
              </a:spcBef>
              <a:spcAft>
                <a:spcPts val="0"/>
              </a:spcAft>
            </a:pPr>
            <a:r>
              <a:rPr sz="4425" b="0">
                <a:solidFill>
                  <a:srgbClr val="3D4B27"/>
                </a:solidFill>
                <a:latin typeface="WenQuanYi Micro Hei"/>
                <a:ea typeface="WenQuanYi Micro Hei"/>
              </a:rPr>
              <a:t>农产品推介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375" y="3705224"/>
            <a:ext cx="704850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D4B27"/>
                </a:solidFill>
                <a:latin typeface="WenQuanYi Micro Hei"/>
                <a:ea typeface="WenQuanYi Micro Hei"/>
              </a:rPr>
              <a:t>从产地讲好产品故事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" y="4591050"/>
            <a:ext cx="6838949" cy="0"/>
          </a:xfrm>
          <a:prstGeom prst="line">
            <a:avLst/>
          </a:prstGeom>
          <a:ln w="9525">
            <a:solidFill>
              <a:srgbClr val="7C9441"/>
            </a:solidFill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714375" y="5219700"/>
            <a:ext cx="70485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D4B27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900" y="5429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C9441"/>
                </a:solidFill>
                <a:latin typeface="WenQuanYi Micro Hei"/>
                <a:ea typeface="WenQuanYi Micro Hei"/>
              </a:rPr>
              <a:t>OPEN OFFICE  /  产品与服务提案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7C94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3D4B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3D4B27"/>
                </a:solidFill>
                <a:latin typeface="WenQuanYi Micro Hei"/>
                <a:ea typeface="WenQuanYi Micro Hei"/>
              </a:rPr>
              <a:t>农业食品 / 价值与方案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D4B27"/>
                </a:solidFill>
                <a:latin typeface="WenQuanYi Micro Hei"/>
                <a:ea typeface="WenQuanYi Micro Hei"/>
              </a:rPr>
              <a:t>从产地讲好产品故事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28850"/>
            <a:ext cx="3867150" cy="3476625"/>
          </a:xfrm>
          <a:prstGeom prst="rect">
            <a:avLst/>
          </a:prstGeom>
          <a:solidFill>
            <a:srgbClr val="F4F6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2512694" y="2950368"/>
            <a:ext cx="0" cy="1655922"/>
          </a:xfrm>
          <a:prstGeom prst="line">
            <a:avLst/>
          </a:prstGeom>
          <a:ln w="38100">
            <a:solidFill>
              <a:srgbClr val="7C9441"/>
            </a:solidFill>
          </a:ln>
          <a:effectLst/>
        </p:spPr>
      </p:cxnSp>
      <p:sp>
        <p:nvSpPr>
          <p:cNvPr id="9" name="Oval 8"/>
          <p:cNvSpPr/>
          <p:nvPr/>
        </p:nvSpPr>
        <p:spPr>
          <a:xfrm>
            <a:off x="1888331" y="3086100"/>
            <a:ext cx="542925" cy="298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21280" y="3276123"/>
            <a:ext cx="542925" cy="298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888331" y="3520440"/>
            <a:ext cx="542925" cy="298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21280" y="3710463"/>
            <a:ext cx="542925" cy="298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88331" y="3954780"/>
            <a:ext cx="542925" cy="298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21280" y="4144803"/>
            <a:ext cx="542925" cy="298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426845" y="4769167"/>
            <a:ext cx="2253138" cy="0"/>
          </a:xfrm>
          <a:prstGeom prst="line">
            <a:avLst/>
          </a:prstGeom>
          <a:ln w="19050">
            <a:solidFill>
              <a:srgbClr val="7C9441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1426845" y="4904898"/>
            <a:ext cx="2253138" cy="0"/>
          </a:xfrm>
          <a:prstGeom prst="line">
            <a:avLst/>
          </a:prstGeom>
          <a:ln w="19050">
            <a:solidFill>
              <a:srgbClr val="7C9441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1426845" y="5040630"/>
            <a:ext cx="2253138" cy="0"/>
          </a:xfrm>
          <a:prstGeom prst="line">
            <a:avLst/>
          </a:prstGeom>
          <a:ln w="19050">
            <a:solidFill>
              <a:srgbClr val="7C9441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5000625" y="2276475"/>
            <a:ext cx="6238875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3D4B27"/>
                </a:solidFill>
                <a:latin typeface="WenQuanYi Micro Hei"/>
                <a:ea typeface="WenQuanYi Micro Hei"/>
              </a:rPr>
              <a:t>产地资源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9675" y="2752725"/>
            <a:ext cx="61912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D4B27"/>
                </a:solidFill>
                <a:latin typeface="WenQuanYi Micro Hei"/>
                <a:ea typeface="WenQuanYi Micro Hei"/>
              </a:rPr>
              <a:t>说明产地条件与资源优势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00625" y="3190875"/>
            <a:ext cx="6505575" cy="0"/>
          </a:xfrm>
          <a:prstGeom prst="line">
            <a:avLst/>
          </a:prstGeom>
          <a:ln w="9525">
            <a:solidFill>
              <a:srgbClr val="7C9441"/>
            </a:solidFill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5000625" y="3409950"/>
            <a:ext cx="6238875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3D4B27"/>
                </a:solidFill>
                <a:latin typeface="WenQuanYi Micro Hei"/>
                <a:ea typeface="WenQuanYi Micro Hei"/>
              </a:rPr>
              <a:t>品质管理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19675" y="3886200"/>
            <a:ext cx="61912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D4B27"/>
                </a:solidFill>
                <a:latin typeface="WenQuanYi Micro Hei"/>
                <a:ea typeface="WenQuanYi Micro Hei"/>
              </a:rPr>
              <a:t>建立生产标准与质量控制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000625" y="4324350"/>
            <a:ext cx="6505575" cy="0"/>
          </a:xfrm>
          <a:prstGeom prst="line">
            <a:avLst/>
          </a:prstGeom>
          <a:ln w="9525">
            <a:solidFill>
              <a:srgbClr val="7C9441"/>
            </a:solidFill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5000625" y="4543425"/>
            <a:ext cx="6238875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3D4B27"/>
                </a:solidFill>
                <a:latin typeface="WenQuanYi Micro Hei"/>
                <a:ea typeface="WenQuanYi Micro Hei"/>
              </a:rPr>
              <a:t>市场连接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19675" y="5019675"/>
            <a:ext cx="61912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D4B27"/>
                </a:solidFill>
                <a:latin typeface="WenQuanYi Micro Hei"/>
                <a:ea typeface="WenQuanYi Micro Hei"/>
              </a:rPr>
              <a:t>连接产品定位与销售渠道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F4F6E8"/>
            </a:solidFill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D4B27"/>
                </a:solidFill>
                <a:latin typeface="WenQuanYi Micro Hei"/>
                <a:ea typeface="WenQuanYi Micro Hei"/>
              </a:rPr>
              <a:t>OPEN OFFICE  /  农业食品·农产品推介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D4B27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76775"/>
            <a:ext cx="12192000" cy="2181225"/>
          </a:xfrm>
          <a:prstGeom prst="rect">
            <a:avLst/>
          </a:prstGeom>
          <a:solidFill>
            <a:srgbClr val="3D4B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054090" y="762000"/>
            <a:ext cx="0" cy="1278254"/>
          </a:xfrm>
          <a:prstGeom prst="line">
            <a:avLst/>
          </a:prstGeom>
          <a:ln w="38100">
            <a:solidFill>
              <a:srgbClr val="7C9441"/>
            </a:solidFill>
          </a:ln>
          <a:effectLst/>
        </p:spPr>
      </p:cxnSp>
      <p:sp>
        <p:nvSpPr>
          <p:cNvPr id="5" name="Oval 4"/>
          <p:cNvSpPr/>
          <p:nvPr/>
        </p:nvSpPr>
        <p:spPr>
          <a:xfrm>
            <a:off x="5572125" y="866775"/>
            <a:ext cx="419100" cy="230505"/>
          </a:xfrm>
          <a:prstGeom prst="ellipse">
            <a:avLst/>
          </a:prstGeom>
          <a:solidFill>
            <a:srgbClr val="F4F6E8"/>
          </a:solidFill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137909" y="1013460"/>
            <a:ext cx="419100" cy="230505"/>
          </a:xfrm>
          <a:prstGeom prst="ellipse">
            <a:avLst/>
          </a:prstGeom>
          <a:solidFill>
            <a:srgbClr val="F4F6E8"/>
          </a:solidFill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572125" y="1202055"/>
            <a:ext cx="419100" cy="230505"/>
          </a:xfrm>
          <a:prstGeom prst="ellipse">
            <a:avLst/>
          </a:prstGeom>
          <a:solidFill>
            <a:srgbClr val="F4F6E8"/>
          </a:solidFill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137909" y="1348740"/>
            <a:ext cx="419100" cy="230505"/>
          </a:xfrm>
          <a:prstGeom prst="ellipse">
            <a:avLst/>
          </a:prstGeom>
          <a:solidFill>
            <a:srgbClr val="F4F6E8"/>
          </a:solidFill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72125" y="1537335"/>
            <a:ext cx="419100" cy="230505"/>
          </a:xfrm>
          <a:prstGeom prst="ellipse">
            <a:avLst/>
          </a:prstGeom>
          <a:solidFill>
            <a:srgbClr val="F4F6E8"/>
          </a:solidFill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137909" y="1684020"/>
            <a:ext cx="419100" cy="230505"/>
          </a:xfrm>
          <a:prstGeom prst="ellipse">
            <a:avLst/>
          </a:prstGeom>
          <a:solidFill>
            <a:srgbClr val="F4F6E8"/>
          </a:solidFill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5215890" y="2165985"/>
            <a:ext cx="1739265" cy="0"/>
          </a:xfrm>
          <a:prstGeom prst="line">
            <a:avLst/>
          </a:prstGeom>
          <a:ln w="19050">
            <a:solidFill>
              <a:srgbClr val="7C9441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5215890" y="2270760"/>
            <a:ext cx="1739265" cy="0"/>
          </a:xfrm>
          <a:prstGeom prst="line">
            <a:avLst/>
          </a:prstGeom>
          <a:ln w="19050">
            <a:solidFill>
              <a:srgbClr val="7C9441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5215890" y="2375535"/>
            <a:ext cx="1739265" cy="0"/>
          </a:xfrm>
          <a:prstGeom prst="line">
            <a:avLst/>
          </a:prstGeom>
          <a:ln w="19050">
            <a:solidFill>
              <a:srgbClr val="7C9441"/>
            </a:solidFill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1143000" y="2714625"/>
            <a:ext cx="9906000" cy="13439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403"/>
              </a:lnSpc>
              <a:spcBef>
                <a:spcPts val="0"/>
              </a:spcBef>
              <a:spcAft>
                <a:spcPts val="0"/>
              </a:spcAft>
            </a:pPr>
            <a:r>
              <a:rPr sz="6225" b="1">
                <a:solidFill>
                  <a:srgbClr val="3D4B27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914775"/>
            <a:ext cx="99060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7C9441"/>
                </a:solidFill>
                <a:latin typeface="WenQuanYi Micro Hei"/>
                <a:ea typeface="WenQuanYi Micro Hei"/>
              </a:rPr>
              <a:t>谢谢观看  /  期待交流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381625"/>
            <a:ext cx="990600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FFFFF"/>
                </a:solidFill>
                <a:latin typeface="WenQuanYi Micro Hei"/>
                <a:ea typeface="WenQuanYi Micro Hei"/>
              </a:rPr>
              <a:t>一份耕耘，连接美好生活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农业食品·农产品推介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