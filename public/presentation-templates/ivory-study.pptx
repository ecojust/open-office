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28C60"/>
                </a:solidFill>
                <a:latin typeface="WenQuanYi Micro Hei"/>
                <a:ea typeface="WenQuanYi Micro Hei"/>
              </a:rPr>
              <a:t>RESEARCH / PERSPECTIVE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123950"/>
            <a:ext cx="10820400" cy="0"/>
          </a:xfrm>
          <a:prstGeom prst="line">
            <a:avLst/>
          </a:prstGeom>
          <a:ln w="9525">
            <a:solidFill>
              <a:srgbClr val="A28C60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1733550"/>
            <a:ext cx="7239000" cy="17478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581"/>
              </a:lnSpc>
              <a:spcBef>
                <a:spcPts val="0"/>
              </a:spcBef>
              <a:spcAft>
                <a:spcPts val="0"/>
              </a:spcAft>
            </a:pPr>
            <a:r>
              <a:rPr sz="4875" b="1">
                <a:solidFill>
                  <a:srgbClr val="3A3A32"/>
                </a:solidFill>
                <a:latin typeface="LXGW WenKai"/>
                <a:ea typeface="LXGW WenKai"/>
              </a:rPr>
              <a:t>在思考中</a:t>
            </a:r>
          </a:p>
          <a:p>
            <a:pPr algn="l">
              <a:lnSpc>
                <a:spcPts val="6581"/>
              </a:lnSpc>
              <a:spcBef>
                <a:spcPts val="0"/>
              </a:spcBef>
              <a:spcAft>
                <a:spcPts val="0"/>
              </a:spcAft>
            </a:pPr>
            <a:r>
              <a:rPr sz="4875" b="1">
                <a:solidFill>
                  <a:srgbClr val="3A3A32"/>
                </a:solidFill>
                <a:latin typeface="LXGW WenKai"/>
                <a:ea typeface="LXGW WenKai"/>
              </a:rPr>
              <a:t>找到新的答案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752850"/>
            <a:ext cx="70485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746F61"/>
                </a:solidFill>
                <a:latin typeface="WenQuanYi Micro Hei"/>
                <a:ea typeface="WenQuanYi Micro Hei"/>
              </a:rPr>
              <a:t>研究主题、课程分享与观点表达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5248275"/>
            <a:ext cx="6858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A3A32"/>
                </a:solidFill>
                <a:latin typeface="WenQuanYi Micro Hei"/>
                <a:ea typeface="WenQuanYi Micro Hei"/>
              </a:rPr>
              <a:t>作者：你的名字  /  单位或院系</a:t>
            </a:r>
          </a:p>
        </p:txBody>
      </p:sp>
      <p:sp>
        <p:nvSpPr>
          <p:cNvPr id="8" name="Rectangle 7"/>
          <p:cNvSpPr/>
          <p:nvPr/>
        </p:nvSpPr>
        <p:spPr>
          <a:xfrm>
            <a:off x="8982075" y="2028825"/>
            <a:ext cx="561975" cy="3095625"/>
          </a:xfrm>
          <a:prstGeom prst="rect">
            <a:avLst/>
          </a:prstGeom>
          <a:solidFill>
            <a:srgbClr val="D8CDB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25025" y="2857500"/>
            <a:ext cx="561975" cy="2266950"/>
          </a:xfrm>
          <a:prstGeom prst="rect">
            <a:avLst/>
          </a:prstGeom>
          <a:solidFill>
            <a:srgbClr val="BCAF8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67975" y="3648075"/>
            <a:ext cx="561975" cy="1476375"/>
          </a:xfrm>
          <a:prstGeom prst="rect">
            <a:avLst/>
          </a:prstGeom>
          <a:solidFill>
            <a:srgbClr val="A28C6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01125" y="1514475"/>
            <a:ext cx="2000250" cy="2000250"/>
          </a:xfrm>
          <a:prstGeom prst="ellipse">
            <a:avLst/>
          </a:prstGeom>
          <a:noFill/>
          <a:ln w="19050">
            <a:solidFill>
              <a:srgbClr val="A28C6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D7CEBA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7B69"/>
                </a:solidFill>
                <a:latin typeface="WenQuanYi Micro Hei"/>
                <a:ea typeface="WenQuanYi Micro Hei"/>
              </a:rPr>
              <a:t>OPEN OFFICE  /  暖白学术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7B69"/>
                </a:solidFill>
                <a:latin typeface="WenQuanYi Micro Hei"/>
                <a:ea typeface="WenQuanYi Micro Hei"/>
              </a:rPr>
              <a:t>01 /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66750"/>
            <a:ext cx="10668000" cy="777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8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3A3A32"/>
                </a:solidFill>
                <a:latin typeface="LXGW WenKai"/>
                <a:ea typeface="LXGW WenKai"/>
              </a:rPr>
              <a:t>在这里填写内容标题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514475"/>
            <a:ext cx="10820400" cy="0"/>
          </a:xfrm>
          <a:prstGeom prst="line">
            <a:avLst/>
          </a:prstGeom>
          <a:ln w="9525">
            <a:solidFill>
              <a:srgbClr val="A28C60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685800" y="2076450"/>
            <a:ext cx="4190999" cy="5181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A3A32"/>
                </a:solidFill>
                <a:latin typeface="LXGW WenKai"/>
                <a:ea typeface="LXGW WenKai"/>
              </a:rPr>
              <a:t>从一个好问题开始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05100"/>
            <a:ext cx="4095750" cy="15430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8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46F61"/>
                </a:solidFill>
                <a:latin typeface="WenQuanYi Micro Hei"/>
                <a:ea typeface="WenQuanYi Micro Hei"/>
              </a:rPr>
              <a:t>在这里说明研究背景、讨论范围</a:t>
            </a:r>
          </a:p>
          <a:p>
            <a:pPr algn="l">
              <a:lnSpc>
                <a:spcPts val="288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46F61"/>
                </a:solidFill>
                <a:latin typeface="WenQuanYi Micro Hei"/>
                <a:ea typeface="WenQuanYi Micro Hei"/>
              </a:rPr>
              <a:t>或你希望听众思考的关键问题。</a:t>
            </a:r>
          </a:p>
          <a:p>
            <a:pPr algn="l">
              <a:lnSpc>
                <a:spcPts val="288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46F61"/>
                </a:solidFill>
                <a:latin typeface="WenQuanYi Micro Hei"/>
                <a:ea typeface="WenQuanYi Micro Hei"/>
              </a:rPr>
              <a:t/>
            </a:r>
          </a:p>
          <a:p>
            <a:pPr algn="l">
              <a:lnSpc>
                <a:spcPts val="288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746F61"/>
                </a:solidFill>
                <a:latin typeface="WenQuanYi Micro Hei"/>
                <a:ea typeface="WenQuanYi Micro Hei"/>
              </a:rPr>
              <a:t>为观点提供依据，让表达更有力。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0" y="2095499"/>
            <a:ext cx="6667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28C60"/>
                </a:solidFill>
                <a:latin typeface="LXGW WenKai"/>
                <a:ea typeface="LXGW WenKa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3700" y="2095499"/>
            <a:ext cx="46196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A3A32"/>
                </a:solidFill>
                <a:latin typeface="WenQuanYi Micro Hei"/>
                <a:ea typeface="WenQuanYi Micro Hei"/>
              </a:rPr>
              <a:t>背景与问题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3700" y="2552700"/>
            <a:ext cx="46196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46F61"/>
                </a:solidFill>
                <a:latin typeface="WenQuanYi Micro Hei"/>
                <a:ea typeface="WenQuanYi Micro Hei"/>
              </a:rPr>
              <a:t>在这里填写支撑观点的简短说明。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10250" y="3009900"/>
            <a:ext cx="5695950" cy="0"/>
          </a:xfrm>
          <a:prstGeom prst="line">
            <a:avLst/>
          </a:prstGeom>
          <a:ln w="9525">
            <a:solidFill>
              <a:srgbClr val="D7CEBA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810250" y="3314700"/>
            <a:ext cx="6667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28C60"/>
                </a:solidFill>
                <a:latin typeface="LXGW WenKai"/>
                <a:ea typeface="LXGW WenKa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314700"/>
            <a:ext cx="46196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A3A32"/>
                </a:solidFill>
                <a:latin typeface="WenQuanYi Micro Hei"/>
                <a:ea typeface="WenQuanYi Micro Hei"/>
              </a:rPr>
              <a:t>分析与论证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3771900"/>
            <a:ext cx="46196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46F61"/>
                </a:solidFill>
                <a:latin typeface="WenQuanYi Micro Hei"/>
                <a:ea typeface="WenQuanYi Micro Hei"/>
              </a:rPr>
              <a:t>在这里填写支撑观点的简短说明。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10250" y="4229100"/>
            <a:ext cx="5695950" cy="0"/>
          </a:xfrm>
          <a:prstGeom prst="line">
            <a:avLst/>
          </a:prstGeom>
          <a:ln w="9525">
            <a:solidFill>
              <a:srgbClr val="D7CEB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810250" y="4533900"/>
            <a:ext cx="6667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A28C60"/>
                </a:solidFill>
                <a:latin typeface="LXGW WenKai"/>
                <a:ea typeface="LXGW WenKa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533900"/>
            <a:ext cx="4619625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3A3A32"/>
                </a:solidFill>
                <a:latin typeface="WenQuanYi Micro Hei"/>
                <a:ea typeface="WenQuanYi Micro Hei"/>
              </a:rPr>
              <a:t>结论与启发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991100"/>
            <a:ext cx="461962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46F61"/>
                </a:solidFill>
                <a:latin typeface="WenQuanYi Micro Hei"/>
                <a:ea typeface="WenQuanYi Micro Hei"/>
              </a:rPr>
              <a:t>在这里填写支撑观点的简短说明。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D7CEBA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7B69"/>
                </a:solidFill>
                <a:latin typeface="WenQuanYi Micro Hei"/>
                <a:ea typeface="WenQuanYi Micro Hei"/>
              </a:rPr>
              <a:t>OPEN OFFICE  /  暖白学术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7B69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0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619250" y="1562100"/>
            <a:ext cx="8953500" cy="0"/>
          </a:xfrm>
          <a:prstGeom prst="line">
            <a:avLst/>
          </a:prstGeom>
          <a:ln w="9525">
            <a:solidFill>
              <a:srgbClr val="A28C60"/>
            </a:solidFill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619250" y="2390775"/>
            <a:ext cx="8953500" cy="10525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6581"/>
              </a:lnSpc>
              <a:spcBef>
                <a:spcPts val="0"/>
              </a:spcBef>
              <a:spcAft>
                <a:spcPts val="0"/>
              </a:spcAft>
            </a:pPr>
            <a:r>
              <a:rPr sz="4875" b="1">
                <a:solidFill>
                  <a:srgbClr val="3A3A32"/>
                </a:solidFill>
                <a:latin typeface="LXGW WenKai"/>
                <a:ea typeface="LXGW WenKai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3486150"/>
            <a:ext cx="8953500" cy="7124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4455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A28C60"/>
                </a:solidFill>
                <a:latin typeface="LXGW WenKai"/>
                <a:ea typeface="LXGW WenKa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4410075"/>
            <a:ext cx="89535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746F61"/>
                </a:solidFill>
                <a:latin typeface="WenQuanYi Micro Hei"/>
                <a:ea typeface="WenQuanYi Micro Hei"/>
              </a:rPr>
              <a:t>保持好奇，继续思考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19250" y="5267325"/>
            <a:ext cx="8953500" cy="0"/>
          </a:xfrm>
          <a:prstGeom prst="line">
            <a:avLst/>
          </a:prstGeom>
          <a:ln w="9525">
            <a:solidFill>
              <a:srgbClr val="A28C60"/>
            </a:solidFill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暖白学术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