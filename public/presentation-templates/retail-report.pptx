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2305050"/>
          </a:xfrm>
          <a:prstGeom prst="rect">
            <a:avLst/>
          </a:prstGeom>
          <a:solidFill>
            <a:srgbClr val="5E33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2200275"/>
            <a:ext cx="685800" cy="104775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676275"/>
            <a:ext cx="10477500" cy="84201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265"/>
              </a:lnSpc>
              <a:spcBef>
                <a:spcPts val="0"/>
              </a:spcBef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WenQuanYi Micro Hei"/>
                <a:ea typeface="WenQuanYi Micro Hei"/>
              </a:rPr>
              <a:t>零售电商·销售复盘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24175"/>
            <a:ext cx="6953250" cy="46958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936"/>
              </a:lnSpc>
              <a:spcBef>
                <a:spcPts val="0"/>
              </a:spcBef>
              <a:spcAft>
                <a:spcPts val="0"/>
              </a:spcAft>
            </a:pPr>
            <a:r>
              <a:rPr sz="2175" b="1">
                <a:solidFill>
                  <a:srgbClr val="5E333B"/>
                </a:solidFill>
                <a:latin typeface="WenQuanYi Micro Hei"/>
                <a:ea typeface="WenQuanYi Micro Hei"/>
              </a:rPr>
              <a:t>从销售表现找到增长点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425" y="378142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A6A64"/>
                </a:solidFill>
                <a:latin typeface="WenQuanYi Micro Hei"/>
                <a:ea typeface="WenQuanYi Micro Hei"/>
              </a:rPr>
              <a:t>01  消费洞察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425" y="4210050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A6A64"/>
                </a:solidFill>
                <a:latin typeface="WenQuanYi Micro Hei"/>
                <a:ea typeface="WenQuanYi Micro Hei"/>
              </a:rPr>
              <a:t>02  商品组合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3425" y="4638675"/>
            <a:ext cx="6191250" cy="35909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227"/>
              </a:lnSpc>
              <a:spcBef>
                <a:spcPts val="0"/>
              </a:spcBef>
              <a:spcAft>
                <a:spcPts val="0"/>
              </a:spcAft>
            </a:pPr>
            <a:r>
              <a:rPr sz="1650" b="0">
                <a:solidFill>
                  <a:srgbClr val="CA6A64"/>
                </a:solidFill>
                <a:latin typeface="WenQuanYi Micro Hei"/>
                <a:ea typeface="WenQuanYi Micro Hei"/>
              </a:rPr>
              <a:t>03  全域运营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88075" y="3838765"/>
            <a:ext cx="1673923" cy="1443037"/>
          </a:xfrm>
          <a:prstGeom prst="rect">
            <a:avLst/>
          </a:prstGeom>
          <a:solidFill>
            <a:srgbClr val="FFF0EC"/>
          </a:solidFill>
          <a:ln w="1905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420987" y="3232689"/>
            <a:ext cx="808101" cy="981265"/>
          </a:xfrm>
          <a:prstGeom prst="ellipse">
            <a:avLst/>
          </a:prstGeom>
          <a:noFill/>
          <a:ln w="3810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45797" y="3896486"/>
            <a:ext cx="1558480" cy="461772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247822" y="4531423"/>
            <a:ext cx="259746" cy="346329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51873" y="4531423"/>
            <a:ext cx="259746" cy="346329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5923" y="4531423"/>
            <a:ext cx="259746" cy="346329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900" y="5610225"/>
            <a:ext cx="7620000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5E333B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5E33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5E333B"/>
                </a:solidFill>
                <a:latin typeface="WenQuanYi Micro Hei"/>
                <a:ea typeface="WenQuanYi Micro Hei"/>
              </a:rPr>
              <a:t>零售电商 / 关键成果与观察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5E333B"/>
                </a:solidFill>
                <a:latin typeface="WenQuanYi Micro Hei"/>
                <a:ea typeface="WenQuanYi Micro Hei"/>
              </a:rPr>
              <a:t>从销售表现找到增长点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38375"/>
            <a:ext cx="4057650" cy="3495675"/>
          </a:xfrm>
          <a:prstGeom prst="rect">
            <a:avLst/>
          </a:prstGeom>
          <a:solidFill>
            <a:srgbClr val="5E33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1550" y="2562225"/>
            <a:ext cx="3486150" cy="45339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35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WenQuanYi Micro Hei"/>
                <a:ea typeface="WenQuanYi Micro Hei"/>
              </a:rPr>
              <a:t>本期成果摘要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1075" y="3200400"/>
            <a:ext cx="3457575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0EC"/>
                </a:solidFill>
                <a:latin typeface="WenQuanYi Micro Hei"/>
                <a:ea typeface="WenQuanYi Micro Hei"/>
              </a:rPr>
              <a:t>在这里填写核心结论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0EC"/>
                </a:solidFill>
                <a:latin typeface="WenQuanYi Micro Hei"/>
                <a:ea typeface="WenQuanYi Micro Hei"/>
              </a:rPr>
              <a:t>说明变化与关键原因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FFF0EC"/>
                </a:solidFill>
                <a:latin typeface="WenQuanYi Micro Hei"/>
                <a:ea typeface="WenQuanYi Micro Hei"/>
              </a:rPr>
              <a:t>提出下一步改善动作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95875" y="2238375"/>
            <a:ext cx="6410325" cy="1047749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0" y="241935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E333B"/>
                </a:solidFill>
                <a:latin typeface="WenQuanYi Micro Hei"/>
                <a:ea typeface="WenQuanYi Micro Hei"/>
              </a:rPr>
              <a:t>成交转化率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3050" y="283845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E333B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8300" y="249555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CA6A64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95875" y="3448050"/>
            <a:ext cx="6410325" cy="1047749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4000" y="3629025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E333B"/>
                </a:solidFill>
                <a:latin typeface="WenQuanYi Micro Hei"/>
                <a:ea typeface="WenQuanYi Micro Hei"/>
              </a:rPr>
              <a:t>复购比例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53050" y="4048124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E333B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300" y="3705224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CA6A64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95875" y="4657725"/>
            <a:ext cx="6410325" cy="1047749"/>
          </a:xfrm>
          <a:prstGeom prst="rect">
            <a:avLst/>
          </a:prstGeom>
          <a:solidFill>
            <a:srgbClr val="FFF0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4000" y="4838700"/>
            <a:ext cx="366712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5E333B"/>
                </a:solidFill>
                <a:latin typeface="WenQuanYi Micro Hei"/>
                <a:ea typeface="WenQuanYi Micro Hei"/>
              </a:rPr>
              <a:t>客单表现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3050" y="5257800"/>
            <a:ext cx="3752850" cy="29479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21"/>
              </a:lnSpc>
              <a:spcBef>
                <a:spcPts val="0"/>
              </a:spcBef>
              <a:spcAft>
                <a:spcPts val="0"/>
              </a:spcAft>
            </a:pPr>
            <a:r>
              <a:rPr sz="1275" b="0">
                <a:solidFill>
                  <a:srgbClr val="5E333B"/>
                </a:solidFill>
                <a:latin typeface="WenQuanYi Micro Hei"/>
                <a:ea typeface="WenQuanYi Micro Hei"/>
              </a:rPr>
              <a:t>口径 / 周期 / 对比基准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300" y="4914900"/>
            <a:ext cx="1962150" cy="50196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38"/>
              </a:lnSpc>
              <a:spcBef>
                <a:spcPts val="0"/>
              </a:spcBef>
              <a:spcAft>
                <a:spcPts val="0"/>
              </a:spcAft>
            </a:pPr>
            <a:r>
              <a:rPr sz="2325" b="1">
                <a:solidFill>
                  <a:srgbClr val="CA6A64"/>
                </a:solidFill>
                <a:latin typeface="WenQuanYi Micro Hei"/>
                <a:ea typeface="WenQuanYi Micro Hei"/>
              </a:rPr>
              <a:t>待填写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FFF0EC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333B"/>
                </a:solidFill>
                <a:latin typeface="WenQuanYi Micro Hei"/>
                <a:ea typeface="WenQuanYi Micro Hei"/>
              </a:rPr>
              <a:t>OPEN OFFICE  /  零售电商·销售复盘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E333B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3900" y="714375"/>
            <a:ext cx="10744200" cy="5429250"/>
          </a:xfrm>
          <a:prstGeom prst="rect">
            <a:avLst/>
          </a:prstGeom>
          <a:noFill/>
          <a:ln w="19050">
            <a:solidFill>
              <a:srgbClr val="CA6A6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57850" y="1685925"/>
            <a:ext cx="876300" cy="66675"/>
          </a:xfrm>
          <a:prstGeom prst="rect">
            <a:avLst/>
          </a:prstGeom>
          <a:solidFill>
            <a:srgbClr val="CA6A6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33500" y="2619375"/>
            <a:ext cx="9525000" cy="136016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8505"/>
              </a:lnSpc>
              <a:spcBef>
                <a:spcPts val="0"/>
              </a:spcBef>
              <a:spcAft>
                <a:spcPts val="0"/>
              </a:spcAft>
            </a:pPr>
            <a:r>
              <a:rPr sz="6300" b="0">
                <a:solidFill>
                  <a:srgbClr val="5E333B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33500" y="3905249"/>
            <a:ext cx="9525000" cy="4210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632"/>
              </a:lnSpc>
              <a:spcBef>
                <a:spcPts val="0"/>
              </a:spcBef>
              <a:spcAft>
                <a:spcPts val="0"/>
              </a:spcAft>
            </a:pPr>
            <a:r>
              <a:rPr sz="1950" b="0">
                <a:solidFill>
                  <a:srgbClr val="5E333B"/>
                </a:solidFill>
                <a:latin typeface="WenQuanYi Micro Hei"/>
                <a:ea typeface="WenQuanYi Micro Hei"/>
              </a:rPr>
              <a:t>让每一次选择都值得期待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33500" y="5114925"/>
            <a:ext cx="9525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CA6A64"/>
                </a:solidFill>
                <a:latin typeface="WenQuanYi Micro Hei"/>
                <a:ea typeface="WenQuanYi Micro Hei"/>
              </a:rP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零售电商·销售复盘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