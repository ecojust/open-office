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91956" y="2198560"/>
            <a:ext cx="701421" cy="526065"/>
          </a:xfrm>
          <a:prstGeom prst="rect">
            <a:avLst/>
          </a:prstGeom>
          <a:solidFill>
            <a:srgbClr val="FFFFFF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2159" y="2311288"/>
            <a:ext cx="275558" cy="62626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892159" y="2499169"/>
            <a:ext cx="475964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10069544" y="2198560"/>
            <a:ext cx="701421" cy="526065"/>
          </a:xfrm>
          <a:prstGeom prst="rect">
            <a:avLst/>
          </a:prstGeom>
          <a:solidFill>
            <a:srgbClr val="FFFFFF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69747" y="2311288"/>
            <a:ext cx="275558" cy="62626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169747" y="2499169"/>
            <a:ext cx="475964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9443275" y="3426047"/>
            <a:ext cx="701421" cy="526065"/>
          </a:xfrm>
          <a:prstGeom prst="rect">
            <a:avLst/>
          </a:prstGeom>
          <a:solidFill>
            <a:srgbClr val="FFFFFF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43478" y="3538775"/>
            <a:ext cx="275558" cy="62626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43478" y="3726656"/>
            <a:ext cx="475964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493376" y="2461593"/>
            <a:ext cx="576168" cy="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9142666" y="2724626"/>
            <a:ext cx="651320" cy="701421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H="1">
            <a:off x="9793986" y="2724626"/>
            <a:ext cx="626268" cy="701421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172650"/>
                </a:solidFill>
                <a:latin typeface="WenQuanYi Micro Hei"/>
                <a:ea typeface="WenQuanYi Micro Hei"/>
              </a:rPr>
              <a:t>软件科技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172650"/>
                </a:solidFill>
                <a:latin typeface="WenQuanYi Micro Hei"/>
                <a:ea typeface="WenQuanYi Micro Hei"/>
              </a:rPr>
              <a:t>研发路线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650"/>
                </a:solidFill>
                <a:latin typeface="WenQuanYi Micro Hei"/>
                <a:ea typeface="WenQuanYi Micro Hei"/>
              </a:rPr>
              <a:t>把产品愿景变成里程碑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5468CE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72650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468CE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172650"/>
                </a:solidFill>
                <a:latin typeface="WenQuanYi Micro Hei"/>
                <a:ea typeface="WenQuanYi Micro Hei"/>
              </a:rPr>
              <a:t>软件科技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把产品愿景变成里程碑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3975" y="3067050"/>
            <a:ext cx="9477375" cy="0"/>
          </a:xfrm>
          <a:prstGeom prst="line">
            <a:avLst/>
          </a:prstGeom>
          <a:ln w="38100">
            <a:solidFill>
              <a:srgbClr val="5468CE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1800225" y="2657475"/>
            <a:ext cx="819150" cy="819150"/>
          </a:xfrm>
          <a:prstGeom prst="ellipse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22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72650"/>
                </a:solidFill>
                <a:latin typeface="WenQuanYi Micro Hei"/>
                <a:ea typeface="WenQuanYi Micro Hei"/>
              </a:rPr>
              <a:t>近期 / 夯实基础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81425"/>
            <a:ext cx="3448050" cy="175260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650"/>
                </a:solidFill>
                <a:latin typeface="WenQuanYi Micro Hei"/>
                <a:ea typeface="WenQuanYi Micro Hei"/>
              </a:rPr>
              <a:t>需求验证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657475"/>
            <a:ext cx="819150" cy="819150"/>
          </a:xfrm>
          <a:prstGeom prst="ellipse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225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72650"/>
                </a:solidFill>
                <a:latin typeface="WenQuanYi Micro Hei"/>
                <a:ea typeface="WenQuanYi Micro Hei"/>
              </a:rPr>
              <a:t>中期 / 验证推进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1975" y="3781425"/>
            <a:ext cx="3448050" cy="175260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0575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650"/>
                </a:solidFill>
                <a:latin typeface="WenQuanYi Micro Hei"/>
                <a:ea typeface="WenQuanYi Micro Hei"/>
              </a:rPr>
              <a:t>版本迭代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20" name="Oval 19"/>
          <p:cNvSpPr/>
          <p:nvPr/>
        </p:nvSpPr>
        <p:spPr>
          <a:xfrm>
            <a:off x="9172575" y="2657475"/>
            <a:ext cx="819150" cy="819150"/>
          </a:xfrm>
          <a:prstGeom prst="ellipse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257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399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72650"/>
                </a:solidFill>
                <a:latin typeface="WenQuanYi Micro Hei"/>
                <a:ea typeface="WenQuanYi Micro Hei"/>
              </a:rPr>
              <a:t>远期 / 持续优化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8150" y="3781425"/>
            <a:ext cx="3448050" cy="1752600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75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2650"/>
                </a:solidFill>
                <a:latin typeface="WenQuanYi Micro Hei"/>
                <a:ea typeface="WenQuanYi Micro Hei"/>
              </a:rPr>
              <a:t>规模交付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4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DF0FD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650"/>
                </a:solidFill>
                <a:latin typeface="WenQuanYi Micro Hei"/>
                <a:ea typeface="WenQuanYi Micro Hei"/>
              </a:rPr>
              <a:t>OPEN OFFICE  /  软件科技·研发路线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650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172650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172650"/>
                </a:solidFill>
                <a:latin typeface="WenQuanYi Micro Hei"/>
                <a:ea typeface="WenQuanYi Micro Hei"/>
              </a:rPr>
              <a:t>让技术成为解决问题的力量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468CE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软件科技·研发路线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