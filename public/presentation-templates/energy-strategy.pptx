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14A3C"/>
                </a:solidFill>
                <a:latin typeface="WenQuanYi Micro Hei"/>
                <a:ea typeface="WenQuanYi Micro Hei"/>
              </a:rPr>
              <a:t>能源环保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14A3C"/>
                </a:solidFill>
                <a:latin typeface="WenQuanYi Micro Hei"/>
                <a:ea typeface="WenQuanYi Micro Hei"/>
              </a:rPr>
              <a:t>低碳战略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14A3C"/>
                </a:solidFill>
                <a:latin typeface="WenQuanYi Micro Hei"/>
                <a:ea typeface="WenQuanYi Micro Hei"/>
              </a:rPr>
              <a:t>以绿色行动连接未来</a:t>
            </a:r>
          </a:p>
        </p:txBody>
      </p:sp>
      <p:sp>
        <p:nvSpPr>
          <p:cNvPr id="7" name="Oval 6"/>
          <p:cNvSpPr/>
          <p:nvPr/>
        </p:nvSpPr>
        <p:spPr>
          <a:xfrm>
            <a:off x="10224135" y="1245870"/>
            <a:ext cx="544830" cy="544830"/>
          </a:xfrm>
          <a:prstGeom prst="ellipse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258300" y="1964055"/>
            <a:ext cx="0" cy="1139189"/>
          </a:xfrm>
          <a:prstGeom prst="line">
            <a:avLst/>
          </a:prstGeom>
          <a:ln w="38100">
            <a:solidFill>
              <a:srgbClr val="214A3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9258300" y="1245870"/>
            <a:ext cx="0" cy="544830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H="1">
            <a:off x="8738235" y="1790700"/>
            <a:ext cx="520065" cy="297180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9258300" y="1790700"/>
            <a:ext cx="569595" cy="247649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sp>
        <p:nvSpPr>
          <p:cNvPr id="12" name="Rectangle 11"/>
          <p:cNvSpPr/>
          <p:nvPr/>
        </p:nvSpPr>
        <p:spPr>
          <a:xfrm>
            <a:off x="9852660" y="2261235"/>
            <a:ext cx="1040130" cy="792480"/>
          </a:xfrm>
          <a:prstGeom prst="rect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199370" y="2261235"/>
            <a:ext cx="0" cy="79248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546080" y="2261235"/>
            <a:ext cx="0" cy="79248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9852660" y="2657475"/>
            <a:ext cx="1040130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能源现状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节能方案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环境价值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DF7ED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14A3C"/>
                </a:solidFill>
                <a:latin typeface="WenQuanYi Micro Hei"/>
                <a:ea typeface="WenQuanYi Micro Hei"/>
              </a:rPr>
              <a:t>能源环保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14A3C"/>
                </a:solidFill>
                <a:latin typeface="WenQuanYi Micro Hei"/>
                <a:ea typeface="WenQuanYi Micro Hei"/>
              </a:rPr>
              <a:t>以绿色行动连接未来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475"/>
            <a:ext cx="3448050" cy="2647950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76475"/>
            <a:ext cx="3448050" cy="57150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925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14A3C"/>
                </a:solidFill>
                <a:latin typeface="WenQuanYi Micro Hei"/>
                <a:ea typeface="WenQuanYi Micro Hei"/>
              </a:rPr>
              <a:t>能源现状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盘点能源结构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与排放来源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926A"/>
                </a:solidFill>
                <a:latin typeface="WenQuanYi Micro Hei"/>
                <a:ea typeface="WenQuanYi Micro Hei"/>
              </a:rPr>
              <a:t>优先事项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1975" y="2276475"/>
            <a:ext cx="3448050" cy="2647950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1975" y="2276475"/>
            <a:ext cx="3448050" cy="57150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14A3C"/>
                </a:solidFill>
                <a:latin typeface="WenQuanYi Micro Hei"/>
                <a:ea typeface="WenQuanYi Micro Hei"/>
              </a:rPr>
              <a:t>节能方案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设计节能措施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与实施范围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926A"/>
                </a:solidFill>
                <a:latin typeface="WenQuanYi Micro Hei"/>
                <a:ea typeface="WenQuanYi Micro Hei"/>
              </a:rPr>
              <a:t>优先事项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8150" y="2276475"/>
            <a:ext cx="3448050" cy="2647950"/>
          </a:xfrm>
          <a:prstGeom prst="rect">
            <a:avLst/>
          </a:prstGeom>
          <a:solidFill>
            <a:srgbClr val="EDF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150" y="2276475"/>
            <a:ext cx="3448050" cy="57150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274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14A3C"/>
                </a:solidFill>
                <a:latin typeface="WenQuanYi Micro Hei"/>
                <a:ea typeface="WenQuanYi Micro Hei"/>
              </a:rPr>
              <a:t>环境价值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4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说明减排效果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4A3C"/>
                </a:solidFill>
                <a:latin typeface="WenQuanYi Micro Hei"/>
                <a:ea typeface="WenQuanYi Micro Hei"/>
              </a:rPr>
              <a:t>与持续收益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5926A"/>
                </a:solidFill>
                <a:latin typeface="WenQuanYi Micro Hei"/>
                <a:ea typeface="WenQuanYi Micro Hei"/>
              </a:rPr>
              <a:t>优先事项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91125"/>
            <a:ext cx="10820400" cy="466724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5248275"/>
            <a:ext cx="104013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FFF"/>
                </a:solidFill>
                <a:latin typeface="WenQuanYi Micro Hei"/>
                <a:ea typeface="WenQuanYi Micro Hei"/>
              </a:rPr>
              <a:t>共同基础：目标一致  ·  资源协同  ·  定期复盘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DF7ED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4A3C"/>
                </a:solidFill>
                <a:latin typeface="WenQuanYi Micro Hei"/>
                <a:ea typeface="WenQuanYi Micro Hei"/>
              </a:rPr>
              <a:t>OPEN OFFICE  /  能源环保·低碳战略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14A3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4A3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3592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67950" y="1143000"/>
            <a:ext cx="523874" cy="523874"/>
          </a:xfrm>
          <a:prstGeom prst="ellipse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339262" y="1833562"/>
            <a:ext cx="0" cy="1095375"/>
          </a:xfrm>
          <a:prstGeom prst="line">
            <a:avLst/>
          </a:prstGeom>
          <a:ln w="38100">
            <a:solidFill>
              <a:srgbClr val="EDF7ED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9339262" y="1143000"/>
            <a:ext cx="0" cy="523875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H="1">
            <a:off x="8839200" y="1666875"/>
            <a:ext cx="500062" cy="285749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9339262" y="1666875"/>
            <a:ext cx="547688" cy="238125"/>
          </a:xfrm>
          <a:prstGeom prst="line">
            <a:avLst/>
          </a:prstGeom>
          <a:ln w="38100">
            <a:solidFill>
              <a:srgbClr val="35926A"/>
            </a:solidFill>
          </a:ln>
          <a:effectLst/>
        </p:spPr>
      </p:cxnSp>
      <p:sp>
        <p:nvSpPr>
          <p:cNvPr id="10" name="Rectangle 9"/>
          <p:cNvSpPr/>
          <p:nvPr/>
        </p:nvSpPr>
        <p:spPr>
          <a:xfrm>
            <a:off x="9910762" y="2119312"/>
            <a:ext cx="1000125" cy="762000"/>
          </a:xfrm>
          <a:prstGeom prst="rect">
            <a:avLst/>
          </a:prstGeom>
          <a:solidFill>
            <a:srgbClr val="EDF7ED"/>
          </a:solidFill>
          <a:ln w="19050">
            <a:solidFill>
              <a:srgbClr val="3592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0244137" y="2119312"/>
            <a:ext cx="0" cy="76200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0577512" y="2119312"/>
            <a:ext cx="0" cy="76200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910762" y="2500312"/>
            <a:ext cx="1000125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EDF7ED"/>
                </a:solidFill>
                <a:latin typeface="WenQuanYi Micro Hei"/>
                <a:ea typeface="WenQuanYi Micro Hei"/>
              </a:rPr>
              <a:t>把绿色愿景落实到每一次行动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35926A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EDF7ED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能源环保·低碳战略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