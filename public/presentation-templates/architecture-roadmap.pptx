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7775" y="-685800"/>
            <a:ext cx="4095750" cy="4095750"/>
          </a:xfrm>
          <a:prstGeom prst="ellipse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14425" y="4410075"/>
            <a:ext cx="3381375" cy="3381375"/>
          </a:xfrm>
          <a:prstGeom prst="ellipse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53037" y="1381125"/>
            <a:ext cx="476250" cy="1071562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336381" y="1619250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5336381" y="1857374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5336381" y="2095499"/>
            <a:ext cx="309562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9" name="Rectangle 8"/>
          <p:cNvSpPr/>
          <p:nvPr/>
        </p:nvSpPr>
        <p:spPr>
          <a:xfrm>
            <a:off x="5824537" y="904875"/>
            <a:ext cx="547687" cy="1547812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907881" y="1143000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5907881" y="1381125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5907881" y="1619250"/>
            <a:ext cx="381000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6491287" y="1619250"/>
            <a:ext cx="428625" cy="833437"/>
          </a:xfrm>
          <a:prstGeom prst="rect">
            <a:avLst/>
          </a:prstGeom>
          <a:solidFill>
            <a:srgbClr val="F5EFEB"/>
          </a:solidFill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574631" y="1857375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574631" y="2095499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6574631" y="2333625"/>
            <a:ext cx="261937" cy="0"/>
          </a:xfrm>
          <a:prstGeom prst="line">
            <a:avLst/>
          </a:prstGeom>
          <a:ln w="9525">
            <a:solidFill>
              <a:srgbClr val="9C7967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5038725" y="2690812"/>
            <a:ext cx="2095500" cy="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5038725" y="2595562"/>
            <a:ext cx="0" cy="19050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7134225" y="2595562"/>
            <a:ext cx="0" cy="190500"/>
          </a:xfrm>
          <a:prstGeom prst="line">
            <a:avLst/>
          </a:prstGeom>
          <a:ln w="19050">
            <a:solidFill>
              <a:srgbClr val="4D4440"/>
            </a:solidFill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1143000" y="3095625"/>
            <a:ext cx="9906000" cy="8582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366"/>
              </a:lnSpc>
              <a:spcBef>
                <a:spcPts val="0"/>
              </a:spcBef>
              <a:spcAft>
                <a:spcPts val="0"/>
              </a:spcAft>
            </a:pPr>
            <a:r>
              <a:rPr sz="3975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建筑空间·建设进度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38600"/>
            <a:ext cx="9906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4D4440"/>
                </a:solidFill>
                <a:latin typeface="WenQuanYi Micro Hei"/>
                <a:ea typeface="WenQuanYi Micro Hei"/>
              </a:rPr>
              <a:t>把蓝图变为可达的现场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9275" y="4791075"/>
            <a:ext cx="933449" cy="4762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48300"/>
            <a:ext cx="9906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D4440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C7967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4D44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4D4440"/>
                </a:solidFill>
                <a:latin typeface="WenQuanYi Micro Hei"/>
                <a:ea typeface="WenQuanYi Micro Hei"/>
              </a:rPr>
              <a:t>建筑空间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D4440"/>
                </a:solidFill>
                <a:latin typeface="WenQuanYi Micro Hei"/>
                <a:ea typeface="WenQuanYi Micro Hei"/>
              </a:rPr>
              <a:t>把蓝图变为可达的现场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719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4D4440"/>
                </a:solidFill>
                <a:latin typeface="WenQuanYi Micro Hei"/>
                <a:ea typeface="WenQuanYi Micro Hei"/>
              </a:rPr>
              <a:t>准备阶段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4D4440"/>
                </a:solidFill>
                <a:latin typeface="WenQuanYi Micro Hei"/>
                <a:ea typeface="WenQuanYi Micro Hei"/>
              </a:rPr>
              <a:t>推进阶段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6350" y="2257425"/>
            <a:ext cx="22479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1">
                <a:solidFill>
                  <a:srgbClr val="4D4440"/>
                </a:solidFill>
                <a:latin typeface="WenQuanYi Micro Hei"/>
                <a:ea typeface="WenQuanYi Micro Hei"/>
              </a:rPr>
              <a:t>完善阶段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950" y="29527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D4440"/>
                </a:solidFill>
                <a:latin typeface="WenQuanYi Micro Hei"/>
                <a:ea typeface="WenQuanYi Micro Hei"/>
              </a:rPr>
              <a:t>场地勘察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3849" y="2847975"/>
            <a:ext cx="7372350" cy="619125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33849" y="2847975"/>
            <a:ext cx="2647950" cy="61912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5775" y="29908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38671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D4440"/>
                </a:solidFill>
                <a:latin typeface="WenQuanYi Micro Hei"/>
                <a:ea typeface="WenQuanYi Micro Hei"/>
              </a:rPr>
              <a:t>设计深化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33849" y="3762374"/>
            <a:ext cx="7372350" cy="619125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86525" y="3762374"/>
            <a:ext cx="2647950" cy="61912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8450" y="3905249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4781550"/>
            <a:ext cx="3143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4D4440"/>
                </a:solidFill>
                <a:latin typeface="WenQuanYi Micro Hei"/>
                <a:ea typeface="WenQuanYi Micro Hei"/>
              </a:rPr>
              <a:t>施工交付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33849" y="4676775"/>
            <a:ext cx="7372350" cy="619125"/>
          </a:xfrm>
          <a:prstGeom prst="rect">
            <a:avLst/>
          </a:prstGeom>
          <a:solidFill>
            <a:srgbClr val="F5EF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39200" y="4676775"/>
            <a:ext cx="2647950" cy="61912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1125" y="4819650"/>
            <a:ext cx="2314575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  <a:ea typeface="WenQuanYi Micro Hei"/>
              </a:rPr>
              <a:t>里程碑 / 待填写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5772150"/>
            <a:ext cx="10715625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4D4440"/>
                </a:solidFill>
                <a:latin typeface="WenQuanYi Micro Hei"/>
                <a:ea typeface="WenQuanYi Micro Hei"/>
              </a:rPr>
              <a:t>时间刻度与阶段安排可编辑；请按项目实际周期调整。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5EFEB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OPEN OFFICE  /  建筑空间·建设进度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D4440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9C796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9C796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4D4440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4D4440"/>
                </a:solidFill>
                <a:latin typeface="WenQuanYi Micro Hei"/>
                <a:ea typeface="WenQuanYi Micro Hei"/>
              </a:rPr>
              <a:t>让每一处空间承载更好的生活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9C7967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建筑空间·建设进度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