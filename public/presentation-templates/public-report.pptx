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687562" y="2146363"/>
            <a:ext cx="1304163" cy="652082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91725" y="2146363"/>
            <a:ext cx="1304163" cy="652082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687562" y="2798445"/>
            <a:ext cx="2608326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8967025" y="2984754"/>
            <a:ext cx="310515" cy="12420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57004" y="2984754"/>
            <a:ext cx="310515" cy="12420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46982" y="2984754"/>
            <a:ext cx="310515" cy="12420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36961" y="2984754"/>
            <a:ext cx="310515" cy="12420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49665" y="4351020"/>
            <a:ext cx="2484120" cy="21736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594407" y="4754689"/>
            <a:ext cx="2794635" cy="0"/>
          </a:xfrm>
          <a:prstGeom prst="line">
            <a:avLst/>
          </a:prstGeom>
          <a:ln w="19050">
            <a:solidFill>
              <a:srgbClr val="EEF5F8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94251"/>
                </a:solidFill>
                <a:latin typeface="WenQuanYi Micro Hei"/>
                <a:ea typeface="WenQuanYi Micro Hei"/>
              </a:rPr>
              <a:t>公共服务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94251"/>
                </a:solidFill>
                <a:latin typeface="WenQuanYi Micro Hei"/>
                <a:ea typeface="WenQuanYi Micro Hei"/>
              </a:rPr>
              <a:t>工作报告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94251"/>
                </a:solidFill>
                <a:latin typeface="WenQuanYi Micro Hei"/>
                <a:ea typeface="WenQuanYi Micro Hei"/>
              </a:rPr>
              <a:t>以务实成果回应期待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4251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7D9C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94251"/>
                </a:solidFill>
                <a:latin typeface="WenQuanYi Micro Hei"/>
                <a:ea typeface="WenQuanYi Micro Hei"/>
              </a:rPr>
              <a:t>公共服务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以务实成果回应期待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服务覆盖率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47D9C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办结效率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47D9C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群众满意度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47D9C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4251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294251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01  公众需求：补充关键观察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02  服务供给：补充关键观察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03  治理协同：补充关键观察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EF5F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OPEN OFFICE  /  公共服务·工作报告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29425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94251"/>
                </a:solidFill>
                <a:latin typeface="WenQuanYi Micro Hei"/>
                <a:ea typeface="WenQuanYi Micro Hei"/>
              </a:rPr>
              <a:t>以细致服务，回应每一份期待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47D9C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公共服务·工作报告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