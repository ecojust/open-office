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49665" y="3233166"/>
            <a:ext cx="2484120" cy="1148905"/>
          </a:xfrm>
          <a:prstGeom prst="rect">
            <a:avLst/>
          </a:prstGeom>
          <a:solidFill>
            <a:srgbClr val="EAF1F6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4922" y="2394775"/>
            <a:ext cx="403669" cy="83839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3849" y="2736342"/>
            <a:ext cx="403669" cy="496824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98077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25952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3828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81703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687562" y="4692586"/>
            <a:ext cx="2639377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893597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5700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7803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9906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43B4A"/>
                </a:solidFill>
                <a:latin typeface="WenQuanYi Micro Hei"/>
                <a:ea typeface="WenQuanYi Micro Hei"/>
              </a:rPr>
              <a:t>智能制造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43B4A"/>
                </a:solidFill>
                <a:latin typeface="WenQuanYi Micro Hei"/>
                <a:ea typeface="WenQuanYi Micro Hei"/>
              </a:rPr>
              <a:t>转型路线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43B4A"/>
                </a:solidFill>
                <a:latin typeface="WenQuanYi Micro Hei"/>
                <a:ea typeface="WenQuanYi Micro Hei"/>
              </a:rPr>
              <a:t>从自动化迈向协同制造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43B4A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4749B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43B4A"/>
                </a:solidFill>
                <a:latin typeface="WenQuanYi Micro Hei"/>
                <a:ea typeface="WenQuanYi Micro Hei"/>
              </a:rPr>
              <a:t>智能制造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从自动化迈向协同制造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43B4A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3B4A"/>
                </a:solidFill>
                <a:latin typeface="WenQuanYi Micro Hei"/>
                <a:ea typeface="WenQuanYi Micro Hei"/>
              </a:rPr>
              <a:t>原料准备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43B4A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3B4A"/>
                </a:solidFill>
                <a:latin typeface="WenQuanYi Micro Hei"/>
                <a:ea typeface="WenQuanYi Micro Hei"/>
              </a:rPr>
              <a:t>协同生产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43B4A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3B4A"/>
                </a:solidFill>
                <a:latin typeface="WenQuanYi Micro Hei"/>
                <a:ea typeface="WenQuanYi Micro Hei"/>
              </a:rPr>
              <a:t>质量检验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1F6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OPEN OFFICE  /  智能制造·转型路线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5825" y="3217545"/>
            <a:ext cx="2057400" cy="951547"/>
          </a:xfrm>
          <a:prstGeom prst="rect">
            <a:avLst/>
          </a:prstGeom>
          <a:solidFill>
            <a:srgbClr val="EAF1F6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4412" y="2523172"/>
            <a:ext cx="334327" cy="694372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77327" y="2806065"/>
            <a:ext cx="334327" cy="41148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4" y="3500437"/>
            <a:ext cx="257175" cy="282892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8762" y="3500437"/>
            <a:ext cx="257175" cy="282892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3500437"/>
            <a:ext cx="257175" cy="282892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03157" y="3500437"/>
            <a:ext cx="257175" cy="282892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34390" y="4426267"/>
            <a:ext cx="2185987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2" name="Oval 11"/>
          <p:cNvSpPr/>
          <p:nvPr/>
        </p:nvSpPr>
        <p:spPr>
          <a:xfrm>
            <a:off x="1040130" y="4297680"/>
            <a:ext cx="205740" cy="2057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54480" y="4297680"/>
            <a:ext cx="205740" cy="2057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68830" y="4297680"/>
            <a:ext cx="205740" cy="2057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83180" y="4297680"/>
            <a:ext cx="205740" cy="2057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243B4A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43B4A"/>
                </a:solidFill>
                <a:latin typeface="WenQuanYi Micro Hei"/>
                <a:ea typeface="WenQuanYi Micro Hei"/>
              </a:rPr>
              <a:t>让每一道工序创造更高价值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34749B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4749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智能制造·转型路线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